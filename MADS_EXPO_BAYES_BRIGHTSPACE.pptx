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2"/>
  </p:notesMasterIdLst>
  <p:sldIdLst>
    <p:sldId id="259" r:id="rId5"/>
    <p:sldId id="266" r:id="rId6"/>
    <p:sldId id="265" r:id="rId7"/>
    <p:sldId id="267" r:id="rId8"/>
    <p:sldId id="310" r:id="rId9"/>
    <p:sldId id="298" r:id="rId10"/>
    <p:sldId id="301" r:id="rId11"/>
    <p:sldId id="303" r:id="rId12"/>
    <p:sldId id="270" r:id="rId13"/>
    <p:sldId id="289" r:id="rId14"/>
    <p:sldId id="287" r:id="rId15"/>
    <p:sldId id="288" r:id="rId16"/>
    <p:sldId id="306" r:id="rId17"/>
    <p:sldId id="272" r:id="rId18"/>
    <p:sldId id="283" r:id="rId19"/>
    <p:sldId id="308" r:id="rId20"/>
    <p:sldId id="309" r:id="rId21"/>
    <p:sldId id="314" r:id="rId22"/>
    <p:sldId id="263" r:id="rId23"/>
    <p:sldId id="317" r:id="rId24"/>
    <p:sldId id="277" r:id="rId25"/>
    <p:sldId id="290" r:id="rId26"/>
    <p:sldId id="292" r:id="rId27"/>
    <p:sldId id="291" r:id="rId28"/>
    <p:sldId id="293" r:id="rId29"/>
    <p:sldId id="318" r:id="rId30"/>
    <p:sldId id="319" r:id="rId3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92B02C-AA88-981F-460A-ADBF4B9B9C46}" name="Eva Koenders" initials="EK" userId="S::Eva.Koenders@han.nl::29cee31a-1510-415d-b42d-f02f8a82490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856"/>
    <a:srgbClr val="E500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AA8D2C-676C-9545-A344-F47706211A9D}" v="5" dt="2025-10-27T09:22:36.015"/>
    <p1510:client id="{E2273E14-B5E8-394D-9D54-1975D8F861AB}" v="24" dt="2025-10-27T09:08:00.248"/>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3" autoAdjust="0"/>
    <p:restoredTop sz="77442"/>
  </p:normalViewPr>
  <p:slideViewPr>
    <p:cSldViewPr snapToGrid="0" snapToObjects="1" showGuides="1">
      <p:cViewPr varScale="1">
        <p:scale>
          <a:sx n="96" d="100"/>
          <a:sy n="96" d="100"/>
        </p:scale>
        <p:origin x="1784"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 Koenders" userId="29cee31a-1510-415d-b42d-f02f8a82490d" providerId="ADAL" clId="{7BC5D852-E2B0-5F5F-88F5-54555251AA1D}"/>
    <pc:docChg chg="addSld delSld modSld">
      <pc:chgData name="Eva Koenders" userId="29cee31a-1510-415d-b42d-f02f8a82490d" providerId="ADAL" clId="{7BC5D852-E2B0-5F5F-88F5-54555251AA1D}" dt="2025-10-27T09:30:59.311" v="79" actId="2696"/>
      <pc:docMkLst>
        <pc:docMk/>
      </pc:docMkLst>
      <pc:sldChg chg="modSp new del mod">
        <pc:chgData name="Eva Koenders" userId="29cee31a-1510-415d-b42d-f02f8a82490d" providerId="ADAL" clId="{7BC5D852-E2B0-5F5F-88F5-54555251AA1D}" dt="2025-10-27T09:30:59.311" v="79" actId="2696"/>
        <pc:sldMkLst>
          <pc:docMk/>
          <pc:sldMk cId="156706450" sldId="320"/>
        </pc:sldMkLst>
        <pc:spChg chg="mod">
          <ac:chgData name="Eva Koenders" userId="29cee31a-1510-415d-b42d-f02f8a82490d" providerId="ADAL" clId="{7BC5D852-E2B0-5F5F-88F5-54555251AA1D}" dt="2025-10-27T09:22:37.620" v="78" actId="20577"/>
          <ac:spMkLst>
            <pc:docMk/>
            <pc:sldMk cId="156706450" sldId="320"/>
            <ac:spMk id="2" creationId="{6FBD2388-BE40-9C05-0CD2-36CA162003DF}"/>
          </ac:spMkLst>
        </pc:spChg>
        <pc:spChg chg="mod">
          <ac:chgData name="Eva Koenders" userId="29cee31a-1510-415d-b42d-f02f8a82490d" providerId="ADAL" clId="{7BC5D852-E2B0-5F5F-88F5-54555251AA1D}" dt="2025-10-27T09:21:45.033" v="12" actId="20577"/>
          <ac:spMkLst>
            <pc:docMk/>
            <pc:sldMk cId="156706450" sldId="320"/>
            <ac:spMk id="4" creationId="{E5DA5D5D-1D6C-2AE7-EA73-23B134603A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Roboto" panose="02000000000000000000" pitchFamily="2" charset="0"/>
              </a:defRPr>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Roboto" panose="02000000000000000000" pitchFamily="2" charset="0"/>
              </a:defRPr>
            </a:lvl1pPr>
          </a:lstStyle>
          <a:p>
            <a:fld id="{16261007-D337-4A97-AF82-811F77BE9512}" type="datetimeFigureOut">
              <a:rPr lang="nl-NL" smtClean="0"/>
              <a:pPr/>
              <a:t>27-10-2025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Roboto" panose="02000000000000000000" pitchFamily="2" charset="0"/>
              </a:defRPr>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Roboto" panose="02000000000000000000" pitchFamily="2" charset="0"/>
              </a:defRPr>
            </a:lvl1pPr>
          </a:lstStyle>
          <a:p>
            <a:fld id="{5EB975E7-4466-4875-9780-79F85FC725BE}" type="slidenum">
              <a:rPr lang="nl-NL" smtClean="0"/>
              <a:pPr/>
              <a:t>‹nr.›</a:t>
            </a:fld>
            <a:endParaRPr lang="nl-NL" dirty="0"/>
          </a:p>
        </p:txBody>
      </p:sp>
    </p:spTree>
    <p:extLst>
      <p:ext uri="{BB962C8B-B14F-4D97-AF65-F5344CB8AC3E}">
        <p14:creationId xmlns:p14="http://schemas.microsoft.com/office/powerpoint/2010/main" val="1399890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Roboto" panose="02000000000000000000" pitchFamily="2" charset="0"/>
        <a:ea typeface="+mn-ea"/>
        <a:cs typeface="+mn-cs"/>
      </a:defRPr>
    </a:lvl1pPr>
    <a:lvl2pPr marL="457200" algn="l" defTabSz="914400" rtl="0" eaLnBrk="1" latinLnBrk="0" hangingPunct="1">
      <a:defRPr sz="1200" kern="1200">
        <a:solidFill>
          <a:schemeClr val="tx1"/>
        </a:solidFill>
        <a:latin typeface="Roboto" panose="02000000000000000000" pitchFamily="2" charset="0"/>
        <a:ea typeface="+mn-ea"/>
        <a:cs typeface="+mn-cs"/>
      </a:defRPr>
    </a:lvl2pPr>
    <a:lvl3pPr marL="914400" algn="l" defTabSz="914400" rtl="0" eaLnBrk="1" latinLnBrk="0" hangingPunct="1">
      <a:defRPr sz="1200" kern="1200">
        <a:solidFill>
          <a:schemeClr val="tx1"/>
        </a:solidFill>
        <a:latin typeface="Roboto" panose="02000000000000000000" pitchFamily="2" charset="0"/>
        <a:ea typeface="+mn-ea"/>
        <a:cs typeface="+mn-cs"/>
      </a:defRPr>
    </a:lvl3pPr>
    <a:lvl4pPr marL="1371600" algn="l" defTabSz="914400" rtl="0" eaLnBrk="1" latinLnBrk="0" hangingPunct="1">
      <a:defRPr sz="1200" kern="1200">
        <a:solidFill>
          <a:schemeClr val="tx1"/>
        </a:solidFill>
        <a:latin typeface="Roboto" panose="02000000000000000000" pitchFamily="2" charset="0"/>
        <a:ea typeface="+mn-ea"/>
        <a:cs typeface="+mn-cs"/>
      </a:defRPr>
    </a:lvl4pPr>
    <a:lvl5pPr marL="1828800" algn="l" defTabSz="914400" rtl="0" eaLnBrk="1" latinLnBrk="0" hangingPunct="1">
      <a:defRPr sz="1200" kern="1200">
        <a:solidFill>
          <a:schemeClr val="tx1"/>
        </a:solidFill>
        <a:latin typeface="Roboto"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1</a:t>
            </a:fld>
            <a:endParaRPr lang="nl-NL" dirty="0"/>
          </a:p>
        </p:txBody>
      </p:sp>
    </p:spTree>
    <p:extLst>
      <p:ext uri="{BB962C8B-B14F-4D97-AF65-F5344CB8AC3E}">
        <p14:creationId xmlns:p14="http://schemas.microsoft.com/office/powerpoint/2010/main" val="245710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2</a:t>
            </a:fld>
            <a:endParaRPr lang="nl-NL" dirty="0"/>
          </a:p>
        </p:txBody>
      </p:sp>
    </p:spTree>
    <p:extLst>
      <p:ext uri="{BB962C8B-B14F-4D97-AF65-F5344CB8AC3E}">
        <p14:creationId xmlns:p14="http://schemas.microsoft.com/office/powerpoint/2010/main" val="2393129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4</a:t>
            </a:fld>
            <a:endParaRPr lang="nl-NL" dirty="0"/>
          </a:p>
        </p:txBody>
      </p:sp>
    </p:spTree>
    <p:extLst>
      <p:ext uri="{BB962C8B-B14F-4D97-AF65-F5344CB8AC3E}">
        <p14:creationId xmlns:p14="http://schemas.microsoft.com/office/powerpoint/2010/main" val="3565909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281C-5206-F041-51F2-F9E0CB2B6DB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6BFAF08-1E03-FD06-D9D4-FCBB0CB7195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2EC5C41-174F-E02E-0202-3E34C0A84E86}"/>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4676B033-A9CF-711B-E60F-2282F658A20F}"/>
              </a:ext>
            </a:extLst>
          </p:cNvPr>
          <p:cNvSpPr>
            <a:spLocks noGrp="1"/>
          </p:cNvSpPr>
          <p:nvPr>
            <p:ph type="sldNum" sz="quarter" idx="5"/>
          </p:nvPr>
        </p:nvSpPr>
        <p:spPr/>
        <p:txBody>
          <a:bodyPr/>
          <a:lstStyle/>
          <a:p>
            <a:fld id="{5EB975E7-4466-4875-9780-79F85FC725BE}" type="slidenum">
              <a:rPr lang="nl-NL" smtClean="0"/>
              <a:pPr/>
              <a:t>5</a:t>
            </a:fld>
            <a:endParaRPr lang="nl-NL" dirty="0"/>
          </a:p>
        </p:txBody>
      </p:sp>
    </p:spTree>
    <p:extLst>
      <p:ext uri="{BB962C8B-B14F-4D97-AF65-F5344CB8AC3E}">
        <p14:creationId xmlns:p14="http://schemas.microsoft.com/office/powerpoint/2010/main" val="615024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6</a:t>
            </a:fld>
            <a:endParaRPr lang="nl-NL" dirty="0"/>
          </a:p>
        </p:txBody>
      </p:sp>
    </p:spTree>
    <p:extLst>
      <p:ext uri="{BB962C8B-B14F-4D97-AF65-F5344CB8AC3E}">
        <p14:creationId xmlns:p14="http://schemas.microsoft.com/office/powerpoint/2010/main" val="1043243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EF8CD-5D36-21E1-3745-08134816F6E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C9158E8-ECBE-5E6F-5BCF-76E4EB2EFC1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AA07287-8BB6-B695-2E0C-34A63A408B1D}"/>
              </a:ext>
            </a:extLst>
          </p:cNvPr>
          <p:cNvSpPr>
            <a:spLocks noGrp="1"/>
          </p:cNvSpPr>
          <p:nvPr>
            <p:ph type="body" idx="1"/>
          </p:nvPr>
        </p:nvSpPr>
        <p:spPr/>
        <p:txBody>
          <a:bodyPr/>
          <a:lstStyle/>
          <a:p>
            <a:pPr marL="0" indent="0">
              <a:buNone/>
            </a:pPr>
            <a:r>
              <a:rPr lang="en-US" i="1" dirty="0"/>
              <a:t>p(disease | positive test) = (0.99)* ((0.99*0.0001) + (0.05*(1-0.0001)))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endParaRPr lang="en-US" dirty="0"/>
          </a:p>
        </p:txBody>
      </p:sp>
      <p:sp>
        <p:nvSpPr>
          <p:cNvPr id="4" name="Tijdelijke aanduiding voor dianummer 3">
            <a:extLst>
              <a:ext uri="{FF2B5EF4-FFF2-40B4-BE49-F238E27FC236}">
                <a16:creationId xmlns:a16="http://schemas.microsoft.com/office/drawing/2014/main" id="{EC0632B4-56F7-1E90-297D-0EA8FC5C0715}"/>
              </a:ext>
            </a:extLst>
          </p:cNvPr>
          <p:cNvSpPr>
            <a:spLocks noGrp="1"/>
          </p:cNvSpPr>
          <p:nvPr>
            <p:ph type="sldNum" sz="quarter" idx="5"/>
          </p:nvPr>
        </p:nvSpPr>
        <p:spPr/>
        <p:txBody>
          <a:bodyPr/>
          <a:lstStyle/>
          <a:p>
            <a:fld id="{5EB975E7-4466-4875-9780-79F85FC725BE}" type="slidenum">
              <a:rPr lang="nl-NL" smtClean="0"/>
              <a:pPr/>
              <a:t>7</a:t>
            </a:fld>
            <a:endParaRPr lang="nl-NL" dirty="0"/>
          </a:p>
        </p:txBody>
      </p:sp>
    </p:spTree>
    <p:extLst>
      <p:ext uri="{BB962C8B-B14F-4D97-AF65-F5344CB8AC3E}">
        <p14:creationId xmlns:p14="http://schemas.microsoft.com/office/powerpoint/2010/main" val="194786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B857-FF7B-9413-283C-CE1F3B70F2E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6F71E7C-A787-91BE-3793-15789DF94B3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09BCCDD-563E-9D88-E7D4-42BE8C013F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endParaRPr lang="en-US" dirty="0"/>
          </a:p>
        </p:txBody>
      </p:sp>
      <p:sp>
        <p:nvSpPr>
          <p:cNvPr id="4" name="Tijdelijke aanduiding voor dianummer 3">
            <a:extLst>
              <a:ext uri="{FF2B5EF4-FFF2-40B4-BE49-F238E27FC236}">
                <a16:creationId xmlns:a16="http://schemas.microsoft.com/office/drawing/2014/main" id="{BA54C3DE-E83E-C648-179C-C54E4301AA92}"/>
              </a:ext>
            </a:extLst>
          </p:cNvPr>
          <p:cNvSpPr>
            <a:spLocks noGrp="1"/>
          </p:cNvSpPr>
          <p:nvPr>
            <p:ph type="sldNum" sz="quarter" idx="5"/>
          </p:nvPr>
        </p:nvSpPr>
        <p:spPr/>
        <p:txBody>
          <a:bodyPr/>
          <a:lstStyle/>
          <a:p>
            <a:fld id="{5EB975E7-4466-4875-9780-79F85FC725BE}" type="slidenum">
              <a:rPr lang="nl-NL" smtClean="0"/>
              <a:pPr/>
              <a:t>8</a:t>
            </a:fld>
            <a:endParaRPr lang="nl-NL" dirty="0"/>
          </a:p>
        </p:txBody>
      </p:sp>
    </p:spTree>
    <p:extLst>
      <p:ext uri="{BB962C8B-B14F-4D97-AF65-F5344CB8AC3E}">
        <p14:creationId xmlns:p14="http://schemas.microsoft.com/office/powerpoint/2010/main" val="317455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BABCF-9945-F239-3A7B-1C56B5EDF65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FB17951-5E34-3ADF-A8C3-23AEE030D5B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808D4A6-C9BA-DA7A-1189-8B11616782C3}"/>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58C3BF94-1055-4BF0-2C80-56B4BE2A6B5F}"/>
              </a:ext>
            </a:extLst>
          </p:cNvPr>
          <p:cNvSpPr>
            <a:spLocks noGrp="1"/>
          </p:cNvSpPr>
          <p:nvPr>
            <p:ph type="sldNum" sz="quarter" idx="5"/>
          </p:nvPr>
        </p:nvSpPr>
        <p:spPr/>
        <p:txBody>
          <a:bodyPr/>
          <a:lstStyle/>
          <a:p>
            <a:fld id="{5EB975E7-4466-4875-9780-79F85FC725BE}" type="slidenum">
              <a:rPr lang="nl-NL" smtClean="0"/>
              <a:pPr/>
              <a:t>9</a:t>
            </a:fld>
            <a:endParaRPr lang="nl-NL" dirty="0"/>
          </a:p>
        </p:txBody>
      </p:sp>
    </p:spTree>
    <p:extLst>
      <p:ext uri="{BB962C8B-B14F-4D97-AF65-F5344CB8AC3E}">
        <p14:creationId xmlns:p14="http://schemas.microsoft.com/office/powerpoint/2010/main" val="1381965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10</a:t>
            </a:fld>
            <a:endParaRPr lang="nl-NL" dirty="0"/>
          </a:p>
        </p:txBody>
      </p:sp>
    </p:spTree>
    <p:extLst>
      <p:ext uri="{BB962C8B-B14F-4D97-AF65-F5344CB8AC3E}">
        <p14:creationId xmlns:p14="http://schemas.microsoft.com/office/powerpoint/2010/main" val="3225744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2044C-A431-0AA8-EF1C-0E94EB420CD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3BEE6F3-22EB-5E95-3D4D-CCA1F6CD9618}"/>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60DC30E-AC52-437A-8CCC-EDFF03836863}"/>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FFF24D0E-A71F-FA6F-452B-D6278D99BE0D}"/>
              </a:ext>
            </a:extLst>
          </p:cNvPr>
          <p:cNvSpPr>
            <a:spLocks noGrp="1"/>
          </p:cNvSpPr>
          <p:nvPr>
            <p:ph type="sldNum" sz="quarter" idx="5"/>
          </p:nvPr>
        </p:nvSpPr>
        <p:spPr/>
        <p:txBody>
          <a:bodyPr/>
          <a:lstStyle/>
          <a:p>
            <a:fld id="{5EB975E7-4466-4875-9780-79F85FC725BE}" type="slidenum">
              <a:rPr lang="nl-NL" smtClean="0"/>
              <a:pPr/>
              <a:t>11</a:t>
            </a:fld>
            <a:endParaRPr lang="nl-NL" dirty="0"/>
          </a:p>
        </p:txBody>
      </p:sp>
    </p:spTree>
    <p:extLst>
      <p:ext uri="{BB962C8B-B14F-4D97-AF65-F5344CB8AC3E}">
        <p14:creationId xmlns:p14="http://schemas.microsoft.com/office/powerpoint/2010/main" val="579226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7DEEB-A073-7DE2-F4F8-74C917151C4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34A96B7-B018-858B-0933-E7830C59F57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3C49E57-9AF6-DF04-E0F1-C732E8EEC9C6}"/>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2F5FFC87-8C72-0E88-0971-C708820C57D7}"/>
              </a:ext>
            </a:extLst>
          </p:cNvPr>
          <p:cNvSpPr>
            <a:spLocks noGrp="1"/>
          </p:cNvSpPr>
          <p:nvPr>
            <p:ph type="sldNum" sz="quarter" idx="5"/>
          </p:nvPr>
        </p:nvSpPr>
        <p:spPr/>
        <p:txBody>
          <a:bodyPr/>
          <a:lstStyle/>
          <a:p>
            <a:fld id="{5EB975E7-4466-4875-9780-79F85FC725BE}" type="slidenum">
              <a:rPr lang="nl-NL" smtClean="0"/>
              <a:pPr/>
              <a:t>12</a:t>
            </a:fld>
            <a:endParaRPr lang="nl-NL" dirty="0"/>
          </a:p>
        </p:txBody>
      </p:sp>
    </p:spTree>
    <p:extLst>
      <p:ext uri="{BB962C8B-B14F-4D97-AF65-F5344CB8AC3E}">
        <p14:creationId xmlns:p14="http://schemas.microsoft.com/office/powerpoint/2010/main" val="3702766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CA111-7E85-8616-E4C2-2307516D2FD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AF1BE48-8B5A-EA01-F923-EB30CE68104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B82E644-0E23-6FB9-8C90-B274AF0139A1}"/>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F4CE8533-7C2B-67EB-67B9-E5FC3D800FA7}"/>
              </a:ext>
            </a:extLst>
          </p:cNvPr>
          <p:cNvSpPr>
            <a:spLocks noGrp="1"/>
          </p:cNvSpPr>
          <p:nvPr>
            <p:ph type="sldNum" sz="quarter" idx="5"/>
          </p:nvPr>
        </p:nvSpPr>
        <p:spPr/>
        <p:txBody>
          <a:bodyPr/>
          <a:lstStyle/>
          <a:p>
            <a:fld id="{5EB975E7-4466-4875-9780-79F85FC725BE}" type="slidenum">
              <a:rPr lang="nl-NL" smtClean="0"/>
              <a:pPr/>
              <a:t>13</a:t>
            </a:fld>
            <a:endParaRPr lang="nl-NL" dirty="0"/>
          </a:p>
        </p:txBody>
      </p:sp>
    </p:spTree>
    <p:extLst>
      <p:ext uri="{BB962C8B-B14F-4D97-AF65-F5344CB8AC3E}">
        <p14:creationId xmlns:p14="http://schemas.microsoft.com/office/powerpoint/2010/main" val="744952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3AA9-2133-9415-FB47-A98034B3739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EB162AE-986F-65CA-7EEC-5DDC8FE6CEF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6918A6F-2A23-B46A-3468-C24916CB24A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A8BDECC2-43CE-B341-4044-58E299699D8B}"/>
              </a:ext>
            </a:extLst>
          </p:cNvPr>
          <p:cNvSpPr>
            <a:spLocks noGrp="1"/>
          </p:cNvSpPr>
          <p:nvPr>
            <p:ph type="sldNum" sz="quarter" idx="5"/>
          </p:nvPr>
        </p:nvSpPr>
        <p:spPr/>
        <p:txBody>
          <a:bodyPr/>
          <a:lstStyle/>
          <a:p>
            <a:fld id="{5EB975E7-4466-4875-9780-79F85FC725BE}" type="slidenum">
              <a:rPr lang="nl-NL" smtClean="0"/>
              <a:pPr/>
              <a:t>14</a:t>
            </a:fld>
            <a:endParaRPr lang="nl-NL" dirty="0"/>
          </a:p>
        </p:txBody>
      </p:sp>
    </p:spTree>
    <p:extLst>
      <p:ext uri="{BB962C8B-B14F-4D97-AF65-F5344CB8AC3E}">
        <p14:creationId xmlns:p14="http://schemas.microsoft.com/office/powerpoint/2010/main" val="960184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F2B2D-3CAC-F745-61B8-BBB8D80E4DD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6899039-02D4-1F6D-4CBB-0FF0DE551B7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8B57F49-EEB3-CCB5-C70C-7B079F2D2FF3}"/>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C41D4A91-D747-5EDF-31E7-A96DFC3DA23E}"/>
              </a:ext>
            </a:extLst>
          </p:cNvPr>
          <p:cNvSpPr>
            <a:spLocks noGrp="1"/>
          </p:cNvSpPr>
          <p:nvPr>
            <p:ph type="sldNum" sz="quarter" idx="5"/>
          </p:nvPr>
        </p:nvSpPr>
        <p:spPr/>
        <p:txBody>
          <a:bodyPr/>
          <a:lstStyle/>
          <a:p>
            <a:fld id="{5EB975E7-4466-4875-9780-79F85FC725BE}" type="slidenum">
              <a:rPr lang="nl-NL" smtClean="0"/>
              <a:pPr/>
              <a:t>15</a:t>
            </a:fld>
            <a:endParaRPr lang="nl-NL" dirty="0"/>
          </a:p>
        </p:txBody>
      </p:sp>
    </p:spTree>
    <p:extLst>
      <p:ext uri="{BB962C8B-B14F-4D97-AF65-F5344CB8AC3E}">
        <p14:creationId xmlns:p14="http://schemas.microsoft.com/office/powerpoint/2010/main" val="336184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48E1-75B5-6601-E58A-FFA369321E1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B8673A9-BD74-AC66-C53F-1D1D0D7A04D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ED1281E-F751-07E3-64FB-8661BE67A1C7}"/>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A75FD474-C099-FCF8-732F-154F3C76A744}"/>
              </a:ext>
            </a:extLst>
          </p:cNvPr>
          <p:cNvSpPr>
            <a:spLocks noGrp="1"/>
          </p:cNvSpPr>
          <p:nvPr>
            <p:ph type="sldNum" sz="quarter" idx="5"/>
          </p:nvPr>
        </p:nvSpPr>
        <p:spPr/>
        <p:txBody>
          <a:bodyPr/>
          <a:lstStyle/>
          <a:p>
            <a:fld id="{5EB975E7-4466-4875-9780-79F85FC725BE}" type="slidenum">
              <a:rPr lang="nl-NL" smtClean="0"/>
              <a:pPr/>
              <a:t>16</a:t>
            </a:fld>
            <a:endParaRPr lang="nl-NL" dirty="0"/>
          </a:p>
        </p:txBody>
      </p:sp>
    </p:spTree>
    <p:extLst>
      <p:ext uri="{BB962C8B-B14F-4D97-AF65-F5344CB8AC3E}">
        <p14:creationId xmlns:p14="http://schemas.microsoft.com/office/powerpoint/2010/main" val="1774557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4D2DC-117E-8E49-64EA-02BAF779502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75DCE0E-F368-2CD0-FD31-40DEF935D6E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ABF06FE-9E04-513E-3126-36AAB61F2B0E}"/>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D0B40059-FDA4-60F3-6549-B2BCF69306BD}"/>
              </a:ext>
            </a:extLst>
          </p:cNvPr>
          <p:cNvSpPr>
            <a:spLocks noGrp="1"/>
          </p:cNvSpPr>
          <p:nvPr>
            <p:ph type="sldNum" sz="quarter" idx="5"/>
          </p:nvPr>
        </p:nvSpPr>
        <p:spPr/>
        <p:txBody>
          <a:bodyPr/>
          <a:lstStyle/>
          <a:p>
            <a:fld id="{5EB975E7-4466-4875-9780-79F85FC725BE}" type="slidenum">
              <a:rPr lang="nl-NL" smtClean="0"/>
              <a:pPr/>
              <a:t>17</a:t>
            </a:fld>
            <a:endParaRPr lang="nl-NL" dirty="0"/>
          </a:p>
        </p:txBody>
      </p:sp>
    </p:spTree>
    <p:extLst>
      <p:ext uri="{BB962C8B-B14F-4D97-AF65-F5344CB8AC3E}">
        <p14:creationId xmlns:p14="http://schemas.microsoft.com/office/powerpoint/2010/main" val="3452957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19</a:t>
            </a:fld>
            <a:endParaRPr lang="nl-NL" dirty="0"/>
          </a:p>
        </p:txBody>
      </p:sp>
    </p:spTree>
    <p:extLst>
      <p:ext uri="{BB962C8B-B14F-4D97-AF65-F5344CB8AC3E}">
        <p14:creationId xmlns:p14="http://schemas.microsoft.com/office/powerpoint/2010/main" val="25939153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5536-64A4-5F2C-E530-C461FD53EB2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14C52A1-FE0A-AF9C-35F5-5D750F9D71A8}"/>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DC9A9D4-2F3F-4479-AFCE-9CC370F5F11A}"/>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76BE0481-1B84-B51B-81BA-9660EC3F63BD}"/>
              </a:ext>
            </a:extLst>
          </p:cNvPr>
          <p:cNvSpPr>
            <a:spLocks noGrp="1"/>
          </p:cNvSpPr>
          <p:nvPr>
            <p:ph type="sldNum" sz="quarter" idx="5"/>
          </p:nvPr>
        </p:nvSpPr>
        <p:spPr/>
        <p:txBody>
          <a:bodyPr/>
          <a:lstStyle/>
          <a:p>
            <a:fld id="{5EB975E7-4466-4875-9780-79F85FC725BE}" type="slidenum">
              <a:rPr lang="nl-NL" smtClean="0"/>
              <a:pPr/>
              <a:t>20</a:t>
            </a:fld>
            <a:endParaRPr lang="nl-NL" dirty="0"/>
          </a:p>
        </p:txBody>
      </p:sp>
    </p:spTree>
    <p:extLst>
      <p:ext uri="{BB962C8B-B14F-4D97-AF65-F5344CB8AC3E}">
        <p14:creationId xmlns:p14="http://schemas.microsoft.com/office/powerpoint/2010/main" val="4196065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C466-EE03-C36B-CF7C-DF176912A39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195AFDE-86ED-3E78-C203-CD27DDD92B8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E39E92E-F90E-1586-B2E3-B18C686F10FF}"/>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109D485-7E3D-7373-7AAE-004E52F3789B}"/>
              </a:ext>
            </a:extLst>
          </p:cNvPr>
          <p:cNvSpPr>
            <a:spLocks noGrp="1"/>
          </p:cNvSpPr>
          <p:nvPr>
            <p:ph type="sldNum" sz="quarter" idx="5"/>
          </p:nvPr>
        </p:nvSpPr>
        <p:spPr/>
        <p:txBody>
          <a:bodyPr/>
          <a:lstStyle/>
          <a:p>
            <a:fld id="{5EB975E7-4466-4875-9780-79F85FC725BE}" type="slidenum">
              <a:rPr lang="nl-NL" smtClean="0"/>
              <a:pPr/>
              <a:t>21</a:t>
            </a:fld>
            <a:endParaRPr lang="nl-NL" dirty="0"/>
          </a:p>
        </p:txBody>
      </p:sp>
    </p:spTree>
    <p:extLst>
      <p:ext uri="{BB962C8B-B14F-4D97-AF65-F5344CB8AC3E}">
        <p14:creationId xmlns:p14="http://schemas.microsoft.com/office/powerpoint/2010/main" val="4150132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8BDDE-6E75-1348-19C6-2913CF5942F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6132F3F-86AB-AB4F-7F98-5F37EF0E57A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0309706-BB57-EE77-A774-7A7409CDBCAB}"/>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FCE1CF40-AA94-45A5-E182-0127BCC1924D}"/>
              </a:ext>
            </a:extLst>
          </p:cNvPr>
          <p:cNvSpPr>
            <a:spLocks noGrp="1"/>
          </p:cNvSpPr>
          <p:nvPr>
            <p:ph type="sldNum" sz="quarter" idx="5"/>
          </p:nvPr>
        </p:nvSpPr>
        <p:spPr/>
        <p:txBody>
          <a:bodyPr/>
          <a:lstStyle/>
          <a:p>
            <a:fld id="{5EB975E7-4466-4875-9780-79F85FC725BE}" type="slidenum">
              <a:rPr lang="nl-NL" smtClean="0"/>
              <a:pPr/>
              <a:t>22</a:t>
            </a:fld>
            <a:endParaRPr lang="nl-NL" dirty="0"/>
          </a:p>
        </p:txBody>
      </p:sp>
    </p:spTree>
    <p:extLst>
      <p:ext uri="{BB962C8B-B14F-4D97-AF65-F5344CB8AC3E}">
        <p14:creationId xmlns:p14="http://schemas.microsoft.com/office/powerpoint/2010/main" val="4148006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B7AC-797C-C598-04CA-B257011E362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D61502B-DAFC-BCBB-8AFC-56FF0C026CE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2DC56F0-94EA-501F-FC2B-76FA4BA24D0B}"/>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E00F702A-F675-1246-3A5A-2BC0D2F6A431}"/>
              </a:ext>
            </a:extLst>
          </p:cNvPr>
          <p:cNvSpPr>
            <a:spLocks noGrp="1"/>
          </p:cNvSpPr>
          <p:nvPr>
            <p:ph type="sldNum" sz="quarter" idx="5"/>
          </p:nvPr>
        </p:nvSpPr>
        <p:spPr/>
        <p:txBody>
          <a:bodyPr/>
          <a:lstStyle/>
          <a:p>
            <a:fld id="{5EB975E7-4466-4875-9780-79F85FC725BE}" type="slidenum">
              <a:rPr lang="nl-NL" smtClean="0"/>
              <a:pPr/>
              <a:t>23</a:t>
            </a:fld>
            <a:endParaRPr lang="nl-NL" dirty="0"/>
          </a:p>
        </p:txBody>
      </p:sp>
    </p:spTree>
    <p:extLst>
      <p:ext uri="{BB962C8B-B14F-4D97-AF65-F5344CB8AC3E}">
        <p14:creationId xmlns:p14="http://schemas.microsoft.com/office/powerpoint/2010/main" val="2607575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D0B4C-C565-89A7-5BC6-05382C3D52F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D1EDD83-BF1E-4207-2D2F-BA9865FC7EF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210AC89-A829-334C-7612-4D54667904BC}"/>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D4329275-872A-F5D2-4908-15D5D244CEF5}"/>
              </a:ext>
            </a:extLst>
          </p:cNvPr>
          <p:cNvSpPr>
            <a:spLocks noGrp="1"/>
          </p:cNvSpPr>
          <p:nvPr>
            <p:ph type="sldNum" sz="quarter" idx="5"/>
          </p:nvPr>
        </p:nvSpPr>
        <p:spPr/>
        <p:txBody>
          <a:bodyPr/>
          <a:lstStyle/>
          <a:p>
            <a:fld id="{5EB975E7-4466-4875-9780-79F85FC725BE}" type="slidenum">
              <a:rPr lang="nl-NL" smtClean="0"/>
              <a:pPr/>
              <a:t>24</a:t>
            </a:fld>
            <a:endParaRPr lang="nl-NL" dirty="0"/>
          </a:p>
        </p:txBody>
      </p:sp>
    </p:spTree>
    <p:extLst>
      <p:ext uri="{BB962C8B-B14F-4D97-AF65-F5344CB8AC3E}">
        <p14:creationId xmlns:p14="http://schemas.microsoft.com/office/powerpoint/2010/main" val="237371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4F33-7C1F-7776-4588-C1F9EB4933F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30469F6-5FAC-3138-B96A-A2669FC8534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367AF6E-7DF3-FE8C-5E33-2B08C1FD9351}"/>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D1AFA011-1FF1-C2C0-2BC1-124ECF945F05}"/>
              </a:ext>
            </a:extLst>
          </p:cNvPr>
          <p:cNvSpPr>
            <a:spLocks noGrp="1"/>
          </p:cNvSpPr>
          <p:nvPr>
            <p:ph type="sldNum" sz="quarter" idx="5"/>
          </p:nvPr>
        </p:nvSpPr>
        <p:spPr/>
        <p:txBody>
          <a:bodyPr/>
          <a:lstStyle/>
          <a:p>
            <a:fld id="{5EB975E7-4466-4875-9780-79F85FC725BE}" type="slidenum">
              <a:rPr lang="nl-NL" smtClean="0"/>
              <a:pPr/>
              <a:t>25</a:t>
            </a:fld>
            <a:endParaRPr lang="nl-NL" dirty="0"/>
          </a:p>
        </p:txBody>
      </p:sp>
    </p:spTree>
    <p:extLst>
      <p:ext uri="{BB962C8B-B14F-4D97-AF65-F5344CB8AC3E}">
        <p14:creationId xmlns:p14="http://schemas.microsoft.com/office/powerpoint/2010/main" val="2650345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70AFD-8479-40D1-4679-507193973F5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45F0AB5-01C7-A1BF-5C77-668D89E9422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26553C5-C6CF-75A5-4AFC-CAC731B350A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26BFBC7D-57CB-7200-0344-4ECA4725C26B}"/>
              </a:ext>
            </a:extLst>
          </p:cNvPr>
          <p:cNvSpPr>
            <a:spLocks noGrp="1"/>
          </p:cNvSpPr>
          <p:nvPr>
            <p:ph type="sldNum" sz="quarter" idx="5"/>
          </p:nvPr>
        </p:nvSpPr>
        <p:spPr/>
        <p:txBody>
          <a:bodyPr/>
          <a:lstStyle/>
          <a:p>
            <a:fld id="{5EB975E7-4466-4875-9780-79F85FC725BE}" type="slidenum">
              <a:rPr lang="nl-NL" smtClean="0"/>
              <a:pPr/>
              <a:t>26</a:t>
            </a:fld>
            <a:endParaRPr lang="nl-NL" dirty="0"/>
          </a:p>
        </p:txBody>
      </p:sp>
    </p:spTree>
    <p:extLst>
      <p:ext uri="{BB962C8B-B14F-4D97-AF65-F5344CB8AC3E}">
        <p14:creationId xmlns:p14="http://schemas.microsoft.com/office/powerpoint/2010/main" val="1696504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215E-1CD0-2E7F-B304-22774054E72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102AC1E-4E87-D186-B245-9A852BCAE3F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341AC49-3025-C117-3FB6-4E49234EC50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5F5B766-ECEF-258B-7E27-94C977A0B94C}"/>
              </a:ext>
            </a:extLst>
          </p:cNvPr>
          <p:cNvSpPr>
            <a:spLocks noGrp="1"/>
          </p:cNvSpPr>
          <p:nvPr>
            <p:ph type="sldNum" sz="quarter" idx="5"/>
          </p:nvPr>
        </p:nvSpPr>
        <p:spPr/>
        <p:txBody>
          <a:bodyPr/>
          <a:lstStyle/>
          <a:p>
            <a:fld id="{5EB975E7-4466-4875-9780-79F85FC725BE}" type="slidenum">
              <a:rPr lang="nl-NL" smtClean="0"/>
              <a:pPr/>
              <a:t>27</a:t>
            </a:fld>
            <a:endParaRPr lang="nl-NL" dirty="0"/>
          </a:p>
        </p:txBody>
      </p:sp>
    </p:spTree>
    <p:extLst>
      <p:ext uri="{BB962C8B-B14F-4D97-AF65-F5344CB8AC3E}">
        <p14:creationId xmlns:p14="http://schemas.microsoft.com/office/powerpoint/2010/main" val="27593247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01D1CB6-6B35-4216-835D-4B6D7DC10AA2}"/>
              </a:ext>
            </a:extLst>
          </p:cNvPr>
          <p:cNvSpPr/>
          <p:nvPr userDrawn="1"/>
        </p:nvSpPr>
        <p:spPr>
          <a:xfrm>
            <a:off x="9227489" y="5111778"/>
            <a:ext cx="2119048" cy="1746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Afbeelding 7">
            <a:extLst>
              <a:ext uri="{FF2B5EF4-FFF2-40B4-BE49-F238E27FC236}">
                <a16:creationId xmlns:a16="http://schemas.microsoft.com/office/drawing/2014/main" id="{8570D387-A9DA-4389-8749-9601C83ADF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90589" y="5111779"/>
            <a:ext cx="2387821" cy="1836000"/>
          </a:xfrm>
          <a:prstGeom prst="rect">
            <a:avLst/>
          </a:prstGeom>
        </p:spPr>
      </p:pic>
      <p:sp>
        <p:nvSpPr>
          <p:cNvPr id="2" name="Titel 1">
            <a:extLst>
              <a:ext uri="{FF2B5EF4-FFF2-40B4-BE49-F238E27FC236}">
                <a16:creationId xmlns:a16="http://schemas.microsoft.com/office/drawing/2014/main" id="{F769774B-F83A-5389-0CE0-44640849908A}"/>
              </a:ext>
            </a:extLst>
          </p:cNvPr>
          <p:cNvSpPr>
            <a:spLocks noGrp="1"/>
          </p:cNvSpPr>
          <p:nvPr>
            <p:ph type="title" hasCustomPrompt="1"/>
          </p:nvPr>
        </p:nvSpPr>
        <p:spPr>
          <a:xfrm>
            <a:off x="893232" y="2214000"/>
            <a:ext cx="10460567" cy="2808000"/>
          </a:xfrm>
        </p:spPr>
        <p:txBody>
          <a:bodyPr tIns="72000" anchor="t">
            <a:normAutofit/>
          </a:bodyPr>
          <a:lstStyle>
            <a:lvl1pPr>
              <a:lnSpc>
                <a:spcPts val="5200"/>
              </a:lnSpc>
              <a:defRPr sz="6200">
                <a:solidFill>
                  <a:schemeClr val="tx1"/>
                </a:solidFill>
              </a:defRPr>
            </a:lvl1pPr>
          </a:lstStyle>
          <a:p>
            <a:r>
              <a:rPr lang="nl-NL" dirty="0"/>
              <a:t>Titel van de presentatie</a:t>
            </a:r>
          </a:p>
        </p:txBody>
      </p:sp>
      <p:sp>
        <p:nvSpPr>
          <p:cNvPr id="4" name="Tijdelijke aanduiding voor tekst 4">
            <a:extLst>
              <a:ext uri="{FF2B5EF4-FFF2-40B4-BE49-F238E27FC236}">
                <a16:creationId xmlns:a16="http://schemas.microsoft.com/office/drawing/2014/main" id="{43D6CBE0-A4AA-B4D9-967A-23073B1CDB6B}"/>
              </a:ext>
            </a:extLst>
          </p:cNvPr>
          <p:cNvSpPr>
            <a:spLocks noGrp="1"/>
          </p:cNvSpPr>
          <p:nvPr>
            <p:ph type="body" sz="quarter" idx="13" hasCustomPrompt="1"/>
          </p:nvPr>
        </p:nvSpPr>
        <p:spPr>
          <a:xfrm>
            <a:off x="893234" y="5095875"/>
            <a:ext cx="8326800" cy="1009650"/>
          </a:xfrm>
        </p:spPr>
        <p:txBody>
          <a:bodyPr/>
          <a:lstStyle>
            <a:lvl1pPr marL="0" indent="0">
              <a:lnSpc>
                <a:spcPts val="2100"/>
              </a:lnSpc>
              <a:buNone/>
              <a:defRPr cap="all" baseline="0">
                <a:solidFill>
                  <a:schemeClr val="tx1"/>
                </a:solidFill>
                <a:latin typeface="+mj-lt"/>
              </a:defRPr>
            </a:lvl1pPr>
          </a:lstStyle>
          <a:p>
            <a:pPr lvl="0"/>
            <a:r>
              <a:rPr lang="nl-NL" dirty="0"/>
              <a:t>VOORBEELD VAN EEN ONDERTITEL</a:t>
            </a:r>
          </a:p>
        </p:txBody>
      </p:sp>
      <p:sp>
        <p:nvSpPr>
          <p:cNvPr id="5" name="Tijdelijke aanduiding voor tekst 8">
            <a:extLst>
              <a:ext uri="{FF2B5EF4-FFF2-40B4-BE49-F238E27FC236}">
                <a16:creationId xmlns:a16="http://schemas.microsoft.com/office/drawing/2014/main" id="{2EBE6325-786D-00A4-C84F-A8948AB45FCB}"/>
              </a:ext>
            </a:extLst>
          </p:cNvPr>
          <p:cNvSpPr>
            <a:spLocks noGrp="1"/>
          </p:cNvSpPr>
          <p:nvPr>
            <p:ph type="body" sz="quarter" idx="14" hasCustomPrompt="1"/>
          </p:nvPr>
        </p:nvSpPr>
        <p:spPr>
          <a:xfrm>
            <a:off x="893763" y="1196975"/>
            <a:ext cx="10458450" cy="588963"/>
          </a:xfrm>
        </p:spPr>
        <p:txBody>
          <a:bodyPr anchor="b">
            <a:normAutofit/>
          </a:bodyPr>
          <a:lstStyle>
            <a:lvl1pPr marL="0" indent="0">
              <a:lnSpc>
                <a:spcPts val="1500"/>
              </a:lnSpc>
              <a:buNone/>
              <a:defRPr sz="1800" cap="all" baseline="0">
                <a:solidFill>
                  <a:schemeClr val="tx2"/>
                </a:solidFill>
                <a:latin typeface="+mj-lt"/>
              </a:defRPr>
            </a:lvl1pPr>
            <a:lvl2pPr marL="180000" indent="0">
              <a:buNone/>
              <a:defRPr>
                <a:solidFill>
                  <a:schemeClr val="tx2"/>
                </a:solidFill>
              </a:defRPr>
            </a:lvl2pPr>
            <a:lvl3pPr marL="360000" indent="0">
              <a:buNone/>
              <a:defRPr>
                <a:solidFill>
                  <a:schemeClr val="tx2"/>
                </a:solidFill>
              </a:defRPr>
            </a:lvl3pPr>
            <a:lvl4pPr marL="540000" indent="0">
              <a:buNone/>
              <a:defRPr>
                <a:solidFill>
                  <a:schemeClr val="tx2"/>
                </a:solidFill>
              </a:defRPr>
            </a:lvl4pPr>
            <a:lvl5pPr marL="720000" indent="0">
              <a:buNone/>
              <a:defRPr>
                <a:solidFill>
                  <a:schemeClr val="tx2"/>
                </a:solidFill>
              </a:defRPr>
            </a:lvl5pPr>
          </a:lstStyle>
          <a:p>
            <a:pPr lvl="0"/>
            <a:r>
              <a:rPr lang="nl-NL" dirty="0"/>
              <a:t>NAAM OPLEIDING/FACULTEIT</a:t>
            </a:r>
          </a:p>
        </p:txBody>
      </p:sp>
    </p:spTree>
    <p:extLst>
      <p:ext uri="{BB962C8B-B14F-4D97-AF65-F5344CB8AC3E}">
        <p14:creationId xmlns:p14="http://schemas.microsoft.com/office/powerpoint/2010/main" val="35850066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Tekst_">
    <p:spTree>
      <p:nvGrpSpPr>
        <p:cNvPr id="1" name=""/>
        <p:cNvGrpSpPr/>
        <p:nvPr/>
      </p:nvGrpSpPr>
      <p:grpSpPr>
        <a:xfrm>
          <a:off x="0" y="0"/>
          <a:ext cx="0" cy="0"/>
          <a:chOff x="0" y="0"/>
          <a:chExt cx="0" cy="0"/>
        </a:xfrm>
      </p:grpSpPr>
      <p:sp>
        <p:nvSpPr>
          <p:cNvPr id="6" name="Tijdelijke aanduiding voor tekst 2"/>
          <p:cNvSpPr>
            <a:spLocks noGrp="1"/>
          </p:cNvSpPr>
          <p:nvPr>
            <p:ph type="body" sz="quarter" idx="11"/>
          </p:nvPr>
        </p:nvSpPr>
        <p:spPr>
          <a:xfrm>
            <a:off x="838200" y="1925638"/>
            <a:ext cx="10515600" cy="424800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1B98C57B-182B-4B1A-8517-6B7CDA9A9E1B}"/>
              </a:ext>
            </a:extLst>
          </p:cNvPr>
          <p:cNvSpPr>
            <a:spLocks noGrp="1"/>
          </p:cNvSpPr>
          <p:nvPr>
            <p:ph type="sldNum" sz="quarter" idx="12"/>
          </p:nvPr>
        </p:nvSpPr>
        <p:spPr/>
        <p:txBody>
          <a:bodyPr/>
          <a:lstStyle/>
          <a:p>
            <a:fld id="{FACE7509-F60A-4509-9491-CD4ED7B54EDD}" type="slidenum">
              <a:rPr lang="nl-NL" smtClean="0"/>
              <a:pPr/>
              <a:t>‹nr.›</a:t>
            </a:fld>
            <a:endParaRPr lang="nl-NL"/>
          </a:p>
        </p:txBody>
      </p:sp>
      <p:sp>
        <p:nvSpPr>
          <p:cNvPr id="4" name="Titel 3">
            <a:extLst>
              <a:ext uri="{FF2B5EF4-FFF2-40B4-BE49-F238E27FC236}">
                <a16:creationId xmlns:a16="http://schemas.microsoft.com/office/drawing/2014/main" id="{C9172B17-8AD4-26A7-6FA3-2ED9E49C9F4A}"/>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263155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Tekst">
    <p:spTree>
      <p:nvGrpSpPr>
        <p:cNvPr id="1" name=""/>
        <p:cNvGrpSpPr/>
        <p:nvPr/>
      </p:nvGrpSpPr>
      <p:grpSpPr>
        <a:xfrm>
          <a:off x="0" y="0"/>
          <a:ext cx="0" cy="0"/>
          <a:chOff x="0" y="0"/>
          <a:chExt cx="0" cy="0"/>
        </a:xfrm>
      </p:grpSpPr>
      <p:sp>
        <p:nvSpPr>
          <p:cNvPr id="7" name="Tijdelijke aanduiding voor tekst 2"/>
          <p:cNvSpPr>
            <a:spLocks noGrp="1"/>
          </p:cNvSpPr>
          <p:nvPr>
            <p:ph type="body" sz="quarter" idx="11"/>
          </p:nvPr>
        </p:nvSpPr>
        <p:spPr>
          <a:xfrm>
            <a:off x="838200" y="1925638"/>
            <a:ext cx="5257800" cy="424800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dirty="0">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1D7D2143-8A99-4F87-AD10-03EFEAABE85B}"/>
              </a:ext>
            </a:extLst>
          </p:cNvPr>
          <p:cNvSpPr>
            <a:spLocks noGrp="1"/>
          </p:cNvSpPr>
          <p:nvPr>
            <p:ph type="sldNum" sz="quarter" idx="12"/>
          </p:nvPr>
        </p:nvSpPr>
        <p:spPr/>
        <p:txBody>
          <a:bodyPr/>
          <a:lstStyle/>
          <a:p>
            <a:fld id="{FACE7509-F60A-4509-9491-CD4ED7B54EDD}" type="slidenum">
              <a:rPr lang="nl-NL" smtClean="0"/>
              <a:pPr/>
              <a:t>‹nr.›</a:t>
            </a:fld>
            <a:endParaRPr lang="nl-NL"/>
          </a:p>
        </p:txBody>
      </p:sp>
      <p:sp>
        <p:nvSpPr>
          <p:cNvPr id="3" name="Titel 2">
            <a:extLst>
              <a:ext uri="{FF2B5EF4-FFF2-40B4-BE49-F238E27FC236}">
                <a16:creationId xmlns:a16="http://schemas.microsoft.com/office/drawing/2014/main" id="{B994DE5A-C2D7-258A-A0FC-F5B5AED62C46}"/>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4674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Tekst en Afbeelding">
    <p:spTree>
      <p:nvGrpSpPr>
        <p:cNvPr id="1" name=""/>
        <p:cNvGrpSpPr/>
        <p:nvPr/>
      </p:nvGrpSpPr>
      <p:grpSpPr>
        <a:xfrm>
          <a:off x="0" y="0"/>
          <a:ext cx="0" cy="0"/>
          <a:chOff x="0" y="0"/>
          <a:chExt cx="0" cy="0"/>
        </a:xfrm>
      </p:grpSpPr>
      <p:sp>
        <p:nvSpPr>
          <p:cNvPr id="6" name="Tijdelijke aanduiding voor afbeelding 5">
            <a:extLst>
              <a:ext uri="{FF2B5EF4-FFF2-40B4-BE49-F238E27FC236}">
                <a16:creationId xmlns:a16="http://schemas.microsoft.com/office/drawing/2014/main" id="{260C8E6A-14DF-4CBC-B795-FDA284EC4712}"/>
              </a:ext>
            </a:extLst>
          </p:cNvPr>
          <p:cNvSpPr>
            <a:spLocks noGrp="1"/>
          </p:cNvSpPr>
          <p:nvPr>
            <p:ph type="pic" sz="quarter" idx="11"/>
          </p:nvPr>
        </p:nvSpPr>
        <p:spPr>
          <a:xfrm>
            <a:off x="6553203" y="1917701"/>
            <a:ext cx="4800600" cy="4248000"/>
          </a:xfrm>
        </p:spPr>
        <p:txBody>
          <a:bodyPr>
            <a:normAutofit/>
          </a:bodyPr>
          <a:lstStyle>
            <a:lvl1pPr marL="0" indent="0">
              <a:buNone/>
              <a:defRPr sz="1275">
                <a:latin typeface="Roboto" panose="02000000000000000000" pitchFamily="2" charset="0"/>
                <a:ea typeface="Roboto" panose="02000000000000000000" pitchFamily="2" charset="0"/>
                <a:cs typeface="Arial" panose="020B0604020202020204" pitchFamily="34" charset="0"/>
              </a:defRPr>
            </a:lvl1pPr>
          </a:lstStyle>
          <a:p>
            <a:r>
              <a:rPr lang="nl-NL"/>
              <a:t>Klik op het pictogram als u een afbeelding wilt toevoegen</a:t>
            </a:r>
            <a:endParaRPr lang="en-GB" dirty="0"/>
          </a:p>
        </p:txBody>
      </p:sp>
      <p:sp>
        <p:nvSpPr>
          <p:cNvPr id="8" name="Tijdelijke aanduiding voor tekst 2"/>
          <p:cNvSpPr>
            <a:spLocks noGrp="1"/>
          </p:cNvSpPr>
          <p:nvPr>
            <p:ph type="body" sz="quarter" idx="12"/>
          </p:nvPr>
        </p:nvSpPr>
        <p:spPr>
          <a:xfrm>
            <a:off x="838200" y="1926000"/>
            <a:ext cx="5257800" cy="424800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dirty="0">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02897271-9D30-452B-AAF1-F0E2E5634182}"/>
              </a:ext>
            </a:extLst>
          </p:cNvPr>
          <p:cNvSpPr>
            <a:spLocks noGrp="1"/>
          </p:cNvSpPr>
          <p:nvPr>
            <p:ph type="sldNum" sz="quarter" idx="13"/>
          </p:nvPr>
        </p:nvSpPr>
        <p:spPr/>
        <p:txBody>
          <a:bodyPr/>
          <a:lstStyle/>
          <a:p>
            <a:fld id="{FACE7509-F60A-4509-9491-CD4ED7B54EDD}" type="slidenum">
              <a:rPr lang="nl-NL" smtClean="0"/>
              <a:pPr/>
              <a:t>‹nr.›</a:t>
            </a:fld>
            <a:endParaRPr lang="nl-NL"/>
          </a:p>
        </p:txBody>
      </p:sp>
      <p:sp>
        <p:nvSpPr>
          <p:cNvPr id="3" name="Titel 2">
            <a:extLst>
              <a:ext uri="{FF2B5EF4-FFF2-40B4-BE49-F238E27FC236}">
                <a16:creationId xmlns:a16="http://schemas.microsoft.com/office/drawing/2014/main" id="{641012E8-1AC2-CEB2-B751-E25CDCB3A642}"/>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3351361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bbele Titel en Tekst">
    <p:spTree>
      <p:nvGrpSpPr>
        <p:cNvPr id="1" name=""/>
        <p:cNvGrpSpPr/>
        <p:nvPr/>
      </p:nvGrpSpPr>
      <p:grpSpPr>
        <a:xfrm>
          <a:off x="0" y="0"/>
          <a:ext cx="0" cy="0"/>
          <a:chOff x="0" y="0"/>
          <a:chExt cx="0" cy="0"/>
        </a:xfrm>
      </p:grpSpPr>
      <p:sp>
        <p:nvSpPr>
          <p:cNvPr id="9" name="Tijdelijke aanduiding voor tekst 4">
            <a:extLst>
              <a:ext uri="{FF2B5EF4-FFF2-40B4-BE49-F238E27FC236}">
                <a16:creationId xmlns:a16="http://schemas.microsoft.com/office/drawing/2014/main" id="{4B8653B3-70AE-4E3E-9A4D-3EAF4B4F4A9E}"/>
              </a:ext>
            </a:extLst>
          </p:cNvPr>
          <p:cNvSpPr>
            <a:spLocks noGrp="1"/>
          </p:cNvSpPr>
          <p:nvPr>
            <p:ph type="body" sz="quarter" idx="15" hasCustomPrompt="1"/>
          </p:nvPr>
        </p:nvSpPr>
        <p:spPr>
          <a:xfrm>
            <a:off x="6553200" y="1778435"/>
            <a:ext cx="4800600" cy="413103"/>
          </a:xfrm>
        </p:spPr>
        <p:txBody>
          <a:bodyPr anchor="ctr">
            <a:noAutofit/>
          </a:bodyPr>
          <a:lstStyle>
            <a:lvl1pPr marL="0" indent="0">
              <a:buNone/>
              <a:defRPr sz="2500" b="1" baseline="0">
                <a:latin typeface="+mn-lt"/>
                <a:ea typeface="Roboto Condensed SemiBold" panose="02000000000000000000" pitchFamily="2" charset="0"/>
              </a:defRPr>
            </a:lvl1pPr>
          </a:lstStyle>
          <a:p>
            <a:pPr lvl="0"/>
            <a:r>
              <a:rPr lang="nl-NL" dirty="0"/>
              <a:t>Klik voor </a:t>
            </a:r>
            <a:r>
              <a:rPr lang="nl-NL" dirty="0" err="1"/>
              <a:t>subkop</a:t>
            </a:r>
            <a:endParaRPr lang="en-GB" dirty="0"/>
          </a:p>
        </p:txBody>
      </p:sp>
      <p:sp>
        <p:nvSpPr>
          <p:cNvPr id="10" name="Tijdelijke aanduiding voor tekst 4">
            <a:extLst>
              <a:ext uri="{FF2B5EF4-FFF2-40B4-BE49-F238E27FC236}">
                <a16:creationId xmlns:a16="http://schemas.microsoft.com/office/drawing/2014/main" id="{60C7571E-BBB1-4DDF-9329-A0C028CAE8FB}"/>
              </a:ext>
            </a:extLst>
          </p:cNvPr>
          <p:cNvSpPr>
            <a:spLocks noGrp="1"/>
          </p:cNvSpPr>
          <p:nvPr>
            <p:ph type="body" sz="quarter" idx="16" hasCustomPrompt="1"/>
          </p:nvPr>
        </p:nvSpPr>
        <p:spPr>
          <a:xfrm>
            <a:off x="838200" y="1778435"/>
            <a:ext cx="4800600" cy="413103"/>
          </a:xfrm>
        </p:spPr>
        <p:txBody>
          <a:bodyPr anchor="ctr">
            <a:noAutofit/>
          </a:bodyPr>
          <a:lstStyle>
            <a:lvl1pPr marL="0" indent="0">
              <a:buNone/>
              <a:defRPr sz="2500" b="1">
                <a:latin typeface="+mn-lt"/>
                <a:ea typeface="Roboto Condensed SemiBold" panose="02000000000000000000" pitchFamily="2" charset="0"/>
              </a:defRPr>
            </a:lvl1pPr>
          </a:lstStyle>
          <a:p>
            <a:pPr lvl="0"/>
            <a:r>
              <a:rPr lang="nl-NL" dirty="0"/>
              <a:t>Klik voor </a:t>
            </a:r>
            <a:r>
              <a:rPr lang="nl-NL" dirty="0" err="1"/>
              <a:t>subkop</a:t>
            </a:r>
            <a:endParaRPr lang="en-GB" dirty="0"/>
          </a:p>
        </p:txBody>
      </p:sp>
      <p:sp>
        <p:nvSpPr>
          <p:cNvPr id="3" name="Tijdelijke aanduiding voor tekst 2"/>
          <p:cNvSpPr>
            <a:spLocks noGrp="1"/>
          </p:cNvSpPr>
          <p:nvPr>
            <p:ph type="body" sz="quarter" idx="18"/>
          </p:nvPr>
        </p:nvSpPr>
        <p:spPr>
          <a:xfrm>
            <a:off x="838200" y="2286000"/>
            <a:ext cx="4800600" cy="3905250"/>
          </a:xfrm>
        </p:spPr>
        <p:txBody>
          <a:bodyPr/>
          <a:lstStyle>
            <a:lvl1pPr>
              <a:defRPr>
                <a:latin typeface="Roboto" panose="02000000000000000000"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2" name="Tijdelijke aanduiding voor tekst 4"/>
          <p:cNvSpPr>
            <a:spLocks noGrp="1"/>
          </p:cNvSpPr>
          <p:nvPr>
            <p:ph type="body" sz="quarter" idx="19"/>
          </p:nvPr>
        </p:nvSpPr>
        <p:spPr>
          <a:xfrm>
            <a:off x="6553200" y="2286000"/>
            <a:ext cx="4800600" cy="390525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dirty="0">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25BC47CD-32CA-4434-A931-60298C186A0B}"/>
              </a:ext>
            </a:extLst>
          </p:cNvPr>
          <p:cNvSpPr>
            <a:spLocks noGrp="1"/>
          </p:cNvSpPr>
          <p:nvPr>
            <p:ph type="sldNum" sz="quarter" idx="20"/>
          </p:nvPr>
        </p:nvSpPr>
        <p:spPr/>
        <p:txBody>
          <a:bodyPr/>
          <a:lstStyle/>
          <a:p>
            <a:fld id="{FACE7509-F60A-4509-9491-CD4ED7B54EDD}" type="slidenum">
              <a:rPr lang="nl-NL" smtClean="0"/>
              <a:pPr/>
              <a:t>‹nr.›</a:t>
            </a:fld>
            <a:endParaRPr lang="nl-NL"/>
          </a:p>
        </p:txBody>
      </p:sp>
      <p:sp>
        <p:nvSpPr>
          <p:cNvPr id="4" name="Titel 3">
            <a:extLst>
              <a:ext uri="{FF2B5EF4-FFF2-40B4-BE49-F238E27FC236}">
                <a16:creationId xmlns:a16="http://schemas.microsoft.com/office/drawing/2014/main" id="{8A87FF08-62BD-7B59-1B53-E0597E4EFF60}"/>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28130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13" name="Rechthoek">
            <a:extLst>
              <a:ext uri="{FF2B5EF4-FFF2-40B4-BE49-F238E27FC236}">
                <a16:creationId xmlns:a16="http://schemas.microsoft.com/office/drawing/2014/main" id="{2F35E840-7D0C-489A-B88C-9B5B6A358F43}"/>
              </a:ext>
            </a:extLst>
          </p:cNvPr>
          <p:cNvSpPr/>
          <p:nvPr/>
        </p:nvSpPr>
        <p:spPr>
          <a:xfrm>
            <a:off x="3149600" y="733425"/>
            <a:ext cx="5892800" cy="5391150"/>
          </a:xfrm>
          <a:prstGeom prst="rect">
            <a:avLst/>
          </a:prstGeom>
          <a:solidFill>
            <a:srgbClr val="0000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400"/>
          </a:p>
        </p:txBody>
      </p:sp>
      <p:sp>
        <p:nvSpPr>
          <p:cNvPr id="20" name="Tijdelijke aanduiding voor tekst 19">
            <a:extLst>
              <a:ext uri="{FF2B5EF4-FFF2-40B4-BE49-F238E27FC236}">
                <a16:creationId xmlns:a16="http://schemas.microsoft.com/office/drawing/2014/main" id="{7E150451-5081-475D-A7BF-2CE6F5C377F5}"/>
              </a:ext>
            </a:extLst>
          </p:cNvPr>
          <p:cNvSpPr>
            <a:spLocks noGrp="1"/>
          </p:cNvSpPr>
          <p:nvPr>
            <p:ph type="body" sz="quarter" idx="11" hasCustomPrompt="1"/>
          </p:nvPr>
        </p:nvSpPr>
        <p:spPr>
          <a:xfrm>
            <a:off x="3640216" y="5429602"/>
            <a:ext cx="4910667" cy="493713"/>
          </a:xfrm>
        </p:spPr>
        <p:txBody>
          <a:bodyPr anchor="b"/>
          <a:lstStyle>
            <a:lvl1pPr marL="0" indent="0">
              <a:spcBef>
                <a:spcPts val="0"/>
              </a:spcBef>
              <a:buNone/>
              <a:defRPr sz="1800" cap="all" baseline="0">
                <a:solidFill>
                  <a:schemeClr val="bg1"/>
                </a:solidFill>
                <a:latin typeface="+mj-lt"/>
                <a:ea typeface="Roboto" panose="02000000000000000000" pitchFamily="2" charset="0"/>
              </a:defRPr>
            </a:lvl1pPr>
          </a:lstStyle>
          <a:p>
            <a:pPr lvl="0"/>
            <a:r>
              <a:rPr lang="nl-NL" dirty="0"/>
              <a:t>NAAM</a:t>
            </a:r>
            <a:endParaRPr lang="en-GB" dirty="0"/>
          </a:p>
        </p:txBody>
      </p:sp>
      <p:pic>
        <p:nvPicPr>
          <p:cNvPr id="6" name="Afbeelding 2">
            <a:extLst>
              <a:ext uri="{FF2B5EF4-FFF2-40B4-BE49-F238E27FC236}">
                <a16:creationId xmlns:a16="http://schemas.microsoft.com/office/drawing/2014/main" id="{FFDA8079-95BD-45E3-8313-ABF6A59ED207}"/>
              </a:ext>
            </a:extLst>
          </p:cNvPr>
          <p:cNvPicPr>
            <a:picLocks noChangeAspect="1"/>
          </p:cNvPicPr>
          <p:nvPr userDrawn="1"/>
        </p:nvPicPr>
        <p:blipFill>
          <a:blip r:embed="rId2"/>
          <a:stretch>
            <a:fillRect/>
          </a:stretch>
        </p:blipFill>
        <p:spPr>
          <a:xfrm>
            <a:off x="3644574" y="601590"/>
            <a:ext cx="355939" cy="297299"/>
          </a:xfrm>
          <a:prstGeom prst="rect">
            <a:avLst/>
          </a:prstGeom>
        </p:spPr>
      </p:pic>
      <p:sp>
        <p:nvSpPr>
          <p:cNvPr id="2" name="Tijdelijke aanduiding voor dianummer 1">
            <a:extLst>
              <a:ext uri="{FF2B5EF4-FFF2-40B4-BE49-F238E27FC236}">
                <a16:creationId xmlns:a16="http://schemas.microsoft.com/office/drawing/2014/main" id="{904E24CA-A573-4CEE-A581-99C9D72CAA2A}"/>
              </a:ext>
            </a:extLst>
          </p:cNvPr>
          <p:cNvSpPr>
            <a:spLocks noGrp="1"/>
          </p:cNvSpPr>
          <p:nvPr>
            <p:ph type="sldNum" sz="quarter" idx="13"/>
          </p:nvPr>
        </p:nvSpPr>
        <p:spPr/>
        <p:txBody>
          <a:bodyPr/>
          <a:lstStyle/>
          <a:p>
            <a:fld id="{FACE7509-F60A-4509-9491-CD4ED7B54EDD}" type="slidenum">
              <a:rPr lang="nl-NL" smtClean="0"/>
              <a:pPr/>
              <a:t>‹nr.›</a:t>
            </a:fld>
            <a:endParaRPr lang="nl-NL"/>
          </a:p>
        </p:txBody>
      </p:sp>
      <p:sp>
        <p:nvSpPr>
          <p:cNvPr id="4" name="Titel 1">
            <a:extLst>
              <a:ext uri="{FF2B5EF4-FFF2-40B4-BE49-F238E27FC236}">
                <a16:creationId xmlns:a16="http://schemas.microsoft.com/office/drawing/2014/main" id="{36179686-86BA-8BF8-83CB-99A461D05CB6}"/>
              </a:ext>
            </a:extLst>
          </p:cNvPr>
          <p:cNvSpPr>
            <a:spLocks noGrp="1"/>
          </p:cNvSpPr>
          <p:nvPr>
            <p:ph type="title" hasCustomPrompt="1"/>
          </p:nvPr>
        </p:nvSpPr>
        <p:spPr>
          <a:xfrm>
            <a:off x="3640216" y="1722120"/>
            <a:ext cx="4911568" cy="3514726"/>
          </a:xfrm>
        </p:spPr>
        <p:txBody>
          <a:bodyPr anchor="t">
            <a:normAutofit/>
          </a:bodyPr>
          <a:lstStyle>
            <a:lvl1pPr>
              <a:lnSpc>
                <a:spcPts val="2400"/>
              </a:lnSpc>
              <a:defRPr sz="3000">
                <a:solidFill>
                  <a:schemeClr val="bg1"/>
                </a:solidFill>
              </a:defRPr>
            </a:lvl1pPr>
          </a:lstStyle>
          <a:p>
            <a:r>
              <a:rPr lang="nl-NL" dirty="0"/>
              <a:t>‘QUOTE’</a:t>
            </a:r>
          </a:p>
        </p:txBody>
      </p:sp>
    </p:spTree>
    <p:extLst>
      <p:ext uri="{BB962C8B-B14F-4D97-AF65-F5344CB8AC3E}">
        <p14:creationId xmlns:p14="http://schemas.microsoft.com/office/powerpoint/2010/main" val="2967552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6BC46703-C372-4CCF-BBDB-349EF159E7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GB" dirty="0"/>
          </a:p>
        </p:txBody>
      </p:sp>
      <p:pic>
        <p:nvPicPr>
          <p:cNvPr id="6" name="Afbeelding 5">
            <a:extLst>
              <a:ext uri="{FF2B5EF4-FFF2-40B4-BE49-F238E27FC236}">
                <a16:creationId xmlns:a16="http://schemas.microsoft.com/office/drawing/2014/main" id="{D2936B9B-9586-48DE-B845-C54BC129D8BB}"/>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999687" y="6227764"/>
            <a:ext cx="1359194" cy="588915"/>
          </a:xfrm>
          <a:prstGeom prst="rect">
            <a:avLst/>
          </a:prstGeom>
        </p:spPr>
      </p:pic>
      <p:sp>
        <p:nvSpPr>
          <p:cNvPr id="7" name="Tijdelijke aanduiding voor dianummer 5">
            <a:extLst>
              <a:ext uri="{FF2B5EF4-FFF2-40B4-BE49-F238E27FC236}">
                <a16:creationId xmlns:a16="http://schemas.microsoft.com/office/drawing/2014/main" id="{AD4D3619-56D9-4271-9849-15E3BE0631EF}"/>
              </a:ext>
            </a:extLst>
          </p:cNvPr>
          <p:cNvSpPr>
            <a:spLocks noGrp="1"/>
          </p:cNvSpPr>
          <p:nvPr>
            <p:ph type="sldNum" sz="quarter" idx="4"/>
          </p:nvPr>
        </p:nvSpPr>
        <p:spPr>
          <a:xfrm>
            <a:off x="838200" y="6342598"/>
            <a:ext cx="1107478" cy="365125"/>
          </a:xfrm>
          <a:prstGeom prst="rect">
            <a:avLst/>
          </a:prstGeom>
        </p:spPr>
        <p:txBody>
          <a:bodyPr vert="horz" lIns="91440" tIns="45720" rIns="91440" bIns="45720" rtlCol="0" anchor="ctr"/>
          <a:lstStyle>
            <a:lvl1pPr algn="l">
              <a:defRPr sz="1200">
                <a:solidFill>
                  <a:schemeClr val="tx1"/>
                </a:solidFill>
              </a:defRPr>
            </a:lvl1pPr>
          </a:lstStyle>
          <a:p>
            <a:fld id="{FACE7509-F60A-4509-9491-CD4ED7B54EDD}" type="slidenum">
              <a:rPr lang="nl-NL" smtClean="0"/>
              <a:pPr/>
              <a:t>‹nr.›</a:t>
            </a:fld>
            <a:endParaRPr lang="nl-NL"/>
          </a:p>
        </p:txBody>
      </p:sp>
      <p:sp>
        <p:nvSpPr>
          <p:cNvPr id="5" name="Tijdelijke aanduiding voor titel 1">
            <a:extLst>
              <a:ext uri="{FF2B5EF4-FFF2-40B4-BE49-F238E27FC236}">
                <a16:creationId xmlns:a16="http://schemas.microsoft.com/office/drawing/2014/main" id="{D52231E0-D1FD-C94B-B7B4-2D459BE8204F}"/>
              </a:ext>
            </a:extLst>
          </p:cNvPr>
          <p:cNvSpPr>
            <a:spLocks noGrp="1"/>
          </p:cNvSpPr>
          <p:nvPr>
            <p:ph type="title"/>
          </p:nvPr>
        </p:nvSpPr>
        <p:spPr>
          <a:xfrm>
            <a:off x="838200" y="365129"/>
            <a:ext cx="10515600" cy="1325563"/>
          </a:xfrm>
          <a:prstGeom prst="rect">
            <a:avLst/>
          </a:prstGeom>
        </p:spPr>
        <p:txBody>
          <a:bodyPr vert="horz" lIns="91440" tIns="45720" rIns="91440" bIns="45720" rtlCol="0" anchor="b">
            <a:normAutofit/>
          </a:bodyPr>
          <a:lstStyle/>
          <a:p>
            <a:r>
              <a:rPr lang="nl-NL" dirty="0"/>
              <a:t>KLIK OM STIJL TE BEWERKEN</a:t>
            </a:r>
            <a:endParaRPr lang="en-GB" dirty="0"/>
          </a:p>
        </p:txBody>
      </p:sp>
    </p:spTree>
    <p:extLst>
      <p:ext uri="{BB962C8B-B14F-4D97-AF65-F5344CB8AC3E}">
        <p14:creationId xmlns:p14="http://schemas.microsoft.com/office/powerpoint/2010/main" val="1496374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lvl1pPr algn="l" defTabSz="514337" rtl="0" eaLnBrk="1" latinLnBrk="0" hangingPunct="1">
        <a:lnSpc>
          <a:spcPts val="2600"/>
        </a:lnSpc>
        <a:spcBef>
          <a:spcPct val="0"/>
        </a:spcBef>
        <a:buNone/>
        <a:defRPr lang="nl-NL" sz="3200" b="1" kern="1200" cap="all" baseline="0" dirty="0">
          <a:solidFill>
            <a:schemeClr val="tx2"/>
          </a:solidFill>
          <a:latin typeface="Roboto Condensed SemiBold" panose="02000000000000000000" pitchFamily="2" charset="0"/>
          <a:ea typeface="Roboto Condensed SemiBold" panose="02000000000000000000" pitchFamily="2" charset="0"/>
          <a:cs typeface="Arial" panose="020B0604020202020204" pitchFamily="34" charset="0"/>
          <a:sym typeface="Avenir Next Condensed Demi Bold"/>
        </a:defRPr>
      </a:lvl1pPr>
    </p:titleStyle>
    <p:bodyStyle>
      <a:lvl1pPr marL="18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1pPr>
      <a:lvl2pPr marL="36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2pPr>
      <a:lvl3pPr marL="54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3pPr>
      <a:lvl4pPr marL="72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4pPr>
      <a:lvl5pPr marL="900000" indent="-180000" algn="l" defTabSz="514337" rtl="0" eaLnBrk="1" latinLnBrk="0" hangingPunct="1">
        <a:lnSpc>
          <a:spcPct val="110000"/>
        </a:lnSpc>
        <a:spcBef>
          <a:spcPts val="0"/>
        </a:spcBef>
        <a:buFont typeface="Arial" panose="020B0604020202020204" pitchFamily="34" charset="0"/>
        <a:buChar char="•"/>
        <a:defRPr lang="en-GB"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5pPr>
      <a:lvl6pPr marL="1414427"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0.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24.png"/><Relationship Id="rId5" Type="http://schemas.openxmlformats.org/officeDocument/2006/relationships/image" Target="../media/image44.png"/><Relationship Id="rId10" Type="http://schemas.openxmlformats.org/officeDocument/2006/relationships/image" Target="../media/image23.png"/><Relationship Id="rId4" Type="http://schemas.openxmlformats.org/officeDocument/2006/relationships/image" Target="../media/image43.png"/><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209DA-FB4D-9FDC-BDAA-15F103A88DB2}"/>
              </a:ext>
            </a:extLst>
          </p:cNvPr>
          <p:cNvSpPr>
            <a:spLocks noGrp="1"/>
          </p:cNvSpPr>
          <p:nvPr>
            <p:ph type="title"/>
          </p:nvPr>
        </p:nvSpPr>
        <p:spPr/>
        <p:txBody>
          <a:bodyPr/>
          <a:lstStyle/>
          <a:p>
            <a:r>
              <a:rPr lang="en-US" noProof="0" dirty="0"/>
              <a:t>Bayes inference</a:t>
            </a:r>
          </a:p>
        </p:txBody>
      </p:sp>
      <p:sp>
        <p:nvSpPr>
          <p:cNvPr id="3" name="Tijdelijke aanduiding voor tekst 2">
            <a:extLst>
              <a:ext uri="{FF2B5EF4-FFF2-40B4-BE49-F238E27FC236}">
                <a16:creationId xmlns:a16="http://schemas.microsoft.com/office/drawing/2014/main" id="{83528271-5C9E-75B9-D312-B5C3529C0C11}"/>
              </a:ext>
            </a:extLst>
          </p:cNvPr>
          <p:cNvSpPr>
            <a:spLocks noGrp="1"/>
          </p:cNvSpPr>
          <p:nvPr>
            <p:ph type="body" sz="quarter" idx="13"/>
          </p:nvPr>
        </p:nvSpPr>
        <p:spPr/>
        <p:txBody>
          <a:bodyPr/>
          <a:lstStyle/>
          <a:p>
            <a:r>
              <a:rPr lang="en-US" noProof="0" dirty="0"/>
              <a:t>11 November 2025</a:t>
            </a:r>
          </a:p>
        </p:txBody>
      </p:sp>
      <p:sp>
        <p:nvSpPr>
          <p:cNvPr id="4" name="Tijdelijke aanduiding voor tekst 3">
            <a:extLst>
              <a:ext uri="{FF2B5EF4-FFF2-40B4-BE49-F238E27FC236}">
                <a16:creationId xmlns:a16="http://schemas.microsoft.com/office/drawing/2014/main" id="{382B343C-4AF3-5F22-B57B-AAED7B60C86E}"/>
              </a:ext>
            </a:extLst>
          </p:cNvPr>
          <p:cNvSpPr>
            <a:spLocks noGrp="1"/>
          </p:cNvSpPr>
          <p:nvPr>
            <p:ph type="body" sz="quarter" idx="14"/>
          </p:nvPr>
        </p:nvSpPr>
        <p:spPr/>
        <p:txBody>
          <a:bodyPr/>
          <a:lstStyle/>
          <a:p>
            <a:r>
              <a:rPr lang="en-US" noProof="0" dirty="0"/>
              <a:t>Master applied data science</a:t>
            </a:r>
          </a:p>
        </p:txBody>
      </p:sp>
    </p:spTree>
    <p:extLst>
      <p:ext uri="{BB962C8B-B14F-4D97-AF65-F5344CB8AC3E}">
        <p14:creationId xmlns:p14="http://schemas.microsoft.com/office/powerpoint/2010/main" val="3073293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C843747-C488-4F75-5378-D45B9EBDFBE3}"/>
              </a:ext>
            </a:extLst>
          </p:cNvPr>
          <p:cNvSpPr>
            <a:spLocks noGrp="1"/>
          </p:cNvSpPr>
          <p:nvPr>
            <p:ph type="body" sz="quarter" idx="11"/>
          </p:nvPr>
        </p:nvSpPr>
        <p:spPr/>
        <p:txBody>
          <a:bodyPr>
            <a:normAutofit/>
          </a:bodyPr>
          <a:lstStyle/>
          <a:p>
            <a:r>
              <a:rPr lang="en-US" noProof="0" dirty="0"/>
              <a:t>The student can explain the Frequentist and Bayesian approach to statistics and knows their main differences and application fields</a:t>
            </a:r>
          </a:p>
          <a:p>
            <a:endParaRPr lang="en-US" noProof="0" dirty="0"/>
          </a:p>
          <a:p>
            <a:r>
              <a:rPr lang="en-US" noProof="0" dirty="0"/>
              <a:t>The student can explain what the naïve Bayesian technique entails and how it can be used to make predictions on data.</a:t>
            </a:r>
          </a:p>
        </p:txBody>
      </p:sp>
      <p:sp>
        <p:nvSpPr>
          <p:cNvPr id="3" name="Tijdelijke aanduiding voor dianummer 2">
            <a:extLst>
              <a:ext uri="{FF2B5EF4-FFF2-40B4-BE49-F238E27FC236}">
                <a16:creationId xmlns:a16="http://schemas.microsoft.com/office/drawing/2014/main" id="{DAB02838-E1BC-5AE0-FC6B-FC9998500C91}"/>
              </a:ext>
            </a:extLst>
          </p:cNvPr>
          <p:cNvSpPr>
            <a:spLocks noGrp="1"/>
          </p:cNvSpPr>
          <p:nvPr>
            <p:ph type="sldNum" sz="quarter" idx="12"/>
          </p:nvPr>
        </p:nvSpPr>
        <p:spPr/>
        <p:txBody>
          <a:bodyPr/>
          <a:lstStyle/>
          <a:p>
            <a:fld id="{FACE7509-F60A-4509-9491-CD4ED7B54EDD}" type="slidenum">
              <a:rPr lang="en-US" noProof="0" smtClean="0"/>
              <a:pPr/>
              <a:t>2</a:t>
            </a:fld>
            <a:endParaRPr lang="en-US" noProof="0" dirty="0"/>
          </a:p>
        </p:txBody>
      </p:sp>
      <p:sp>
        <p:nvSpPr>
          <p:cNvPr id="4" name="Titel 3">
            <a:extLst>
              <a:ext uri="{FF2B5EF4-FFF2-40B4-BE49-F238E27FC236}">
                <a16:creationId xmlns:a16="http://schemas.microsoft.com/office/drawing/2014/main" id="{81E7A574-A4C9-933D-FDA8-837E86E87710}"/>
              </a:ext>
            </a:extLst>
          </p:cNvPr>
          <p:cNvSpPr>
            <a:spLocks noGrp="1"/>
          </p:cNvSpPr>
          <p:nvPr>
            <p:ph type="title"/>
          </p:nvPr>
        </p:nvSpPr>
        <p:spPr/>
        <p:txBody>
          <a:bodyPr/>
          <a:lstStyle/>
          <a:p>
            <a:r>
              <a:rPr lang="en-US" noProof="0" dirty="0"/>
              <a:t>Learning goals</a:t>
            </a:r>
          </a:p>
        </p:txBody>
      </p:sp>
    </p:spTree>
    <p:extLst>
      <p:ext uri="{BB962C8B-B14F-4D97-AF65-F5344CB8AC3E}">
        <p14:creationId xmlns:p14="http://schemas.microsoft.com/office/powerpoint/2010/main" val="247207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jdelijke aanduiding voor tekst 6">
            <a:extLst>
              <a:ext uri="{FF2B5EF4-FFF2-40B4-BE49-F238E27FC236}">
                <a16:creationId xmlns:a16="http://schemas.microsoft.com/office/drawing/2014/main" id="{FA2371C7-37F2-B606-1006-BEA1B3F2C61B}"/>
              </a:ext>
            </a:extLst>
          </p:cNvPr>
          <p:cNvSpPr>
            <a:spLocks noGrp="1"/>
          </p:cNvSpPr>
          <p:nvPr>
            <p:ph type="body" sz="quarter" idx="11"/>
          </p:nvPr>
        </p:nvSpPr>
        <p:spPr/>
        <p:txBody>
          <a:bodyPr/>
          <a:lstStyle/>
          <a:p>
            <a:pPr marL="457200" indent="-457200">
              <a:buFont typeface="+mj-lt"/>
              <a:buAutoNum type="arabicPeriod"/>
            </a:pPr>
            <a:r>
              <a:rPr lang="en-US" noProof="0" dirty="0"/>
              <a:t>The Bayesian approach to statistics</a:t>
            </a:r>
            <a:br>
              <a:rPr lang="en-US" noProof="0" dirty="0"/>
            </a:br>
            <a:endParaRPr lang="en-US" noProof="0" dirty="0"/>
          </a:p>
          <a:p>
            <a:pPr marL="457200" indent="-457200">
              <a:buFont typeface="+mj-lt"/>
              <a:buAutoNum type="arabicPeriod"/>
            </a:pPr>
            <a:r>
              <a:rPr lang="en-US" noProof="0" dirty="0"/>
              <a:t>Bayes Theorem</a:t>
            </a:r>
          </a:p>
          <a:p>
            <a:pPr marL="457200" indent="-457200">
              <a:buFont typeface="+mj-lt"/>
              <a:buAutoNum type="arabicPeriod"/>
            </a:pPr>
            <a:endParaRPr lang="en-US" noProof="0" dirty="0"/>
          </a:p>
          <a:p>
            <a:pPr marL="457200" indent="-457200">
              <a:buFont typeface="+mj-lt"/>
              <a:buAutoNum type="arabicPeriod"/>
            </a:pPr>
            <a:r>
              <a:rPr lang="en-US" dirty="0"/>
              <a:t>Choosing a prior probability distribution</a:t>
            </a:r>
          </a:p>
          <a:p>
            <a:pPr marL="457200" indent="-457200">
              <a:buFont typeface="+mj-lt"/>
              <a:buAutoNum type="arabicPeriod"/>
            </a:pPr>
            <a:endParaRPr lang="en-US" dirty="0"/>
          </a:p>
          <a:p>
            <a:pPr marL="457200" indent="-457200">
              <a:buFont typeface="+mj-lt"/>
              <a:buAutoNum type="arabicPeriod"/>
            </a:pPr>
            <a:r>
              <a:rPr lang="en-US" dirty="0"/>
              <a:t>Frequentist vs. Bayesian approach to statistics</a:t>
            </a:r>
          </a:p>
          <a:p>
            <a:pPr marL="457200" indent="-457200">
              <a:buFont typeface="+mj-lt"/>
              <a:buAutoNum type="arabicPeriod"/>
            </a:pPr>
            <a:endParaRPr lang="en-US" dirty="0"/>
          </a:p>
          <a:p>
            <a:pPr marL="457200" indent="-457200">
              <a:buFont typeface="+mj-lt"/>
              <a:buAutoNum type="arabicPeriod"/>
            </a:pPr>
            <a:r>
              <a:rPr lang="en-US" dirty="0"/>
              <a:t>Naïve Bayes Classifiers</a:t>
            </a:r>
          </a:p>
          <a:p>
            <a:pPr marL="457200" indent="-457200">
              <a:buFont typeface="+mj-lt"/>
              <a:buAutoNum type="arabicPeriod"/>
            </a:pPr>
            <a:endParaRPr lang="en-US" dirty="0"/>
          </a:p>
          <a:p>
            <a:pPr marL="457200" indent="-457200">
              <a:buFont typeface="+mj-lt"/>
              <a:buAutoNum type="arabicPeriod"/>
            </a:pPr>
            <a:r>
              <a:rPr lang="en-US" dirty="0"/>
              <a:t>Assignment</a:t>
            </a:r>
          </a:p>
        </p:txBody>
      </p:sp>
      <p:sp>
        <p:nvSpPr>
          <p:cNvPr id="2" name="Tijdelijke aanduiding voor dianummer 1">
            <a:extLst>
              <a:ext uri="{FF2B5EF4-FFF2-40B4-BE49-F238E27FC236}">
                <a16:creationId xmlns:a16="http://schemas.microsoft.com/office/drawing/2014/main" id="{372A916A-6A26-4385-ABCA-6A37499E3DAF}"/>
              </a:ext>
            </a:extLst>
          </p:cNvPr>
          <p:cNvSpPr>
            <a:spLocks noGrp="1"/>
          </p:cNvSpPr>
          <p:nvPr>
            <p:ph type="sldNum" sz="quarter" idx="12"/>
          </p:nvPr>
        </p:nvSpPr>
        <p:spPr>
          <a:xfrm>
            <a:off x="838200" y="6342598"/>
            <a:ext cx="1107478" cy="365125"/>
          </a:xfrm>
        </p:spPr>
        <p:txBody>
          <a:bodyPr/>
          <a:lstStyle/>
          <a:p>
            <a:fld id="{FACE7509-F60A-4509-9491-CD4ED7B54EDD}" type="slidenum">
              <a:rPr lang="en-US" noProof="0" smtClean="0"/>
              <a:pPr/>
              <a:t>3</a:t>
            </a:fld>
            <a:endParaRPr lang="en-US" noProof="0" dirty="0"/>
          </a:p>
        </p:txBody>
      </p:sp>
      <p:sp>
        <p:nvSpPr>
          <p:cNvPr id="6" name="Titel 5">
            <a:extLst>
              <a:ext uri="{FF2B5EF4-FFF2-40B4-BE49-F238E27FC236}">
                <a16:creationId xmlns:a16="http://schemas.microsoft.com/office/drawing/2014/main" id="{6729E911-10DA-C203-A0DE-AB4C1493566A}"/>
              </a:ext>
            </a:extLst>
          </p:cNvPr>
          <p:cNvSpPr>
            <a:spLocks noGrp="1"/>
          </p:cNvSpPr>
          <p:nvPr>
            <p:ph type="title"/>
          </p:nvPr>
        </p:nvSpPr>
        <p:spPr/>
        <p:txBody>
          <a:bodyPr/>
          <a:lstStyle/>
          <a:p>
            <a:r>
              <a:rPr lang="en-US" noProof="0" dirty="0"/>
              <a:t>Content</a:t>
            </a:r>
          </a:p>
        </p:txBody>
      </p:sp>
    </p:spTree>
    <p:extLst>
      <p:ext uri="{BB962C8B-B14F-4D97-AF65-F5344CB8AC3E}">
        <p14:creationId xmlns:p14="http://schemas.microsoft.com/office/powerpoint/2010/main" val="4229732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0A43E-B8C7-6F6E-CBCB-B4882AA2A619}"/>
            </a:ext>
          </a:extLst>
        </p:cNvPr>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8BD622D1-09BD-CFDA-8808-B8438BCF206D}"/>
              </a:ext>
            </a:extLst>
          </p:cNvPr>
          <p:cNvSpPr>
            <a:spLocks noGrp="1"/>
          </p:cNvSpPr>
          <p:nvPr>
            <p:ph type="sldNum" sz="quarter" idx="12"/>
          </p:nvPr>
        </p:nvSpPr>
        <p:spPr>
          <a:xfrm>
            <a:off x="838200" y="6342598"/>
            <a:ext cx="1107478" cy="365125"/>
          </a:xfrm>
        </p:spPr>
        <p:txBody>
          <a:bodyPr/>
          <a:lstStyle/>
          <a:p>
            <a:fld id="{FACE7509-F60A-4509-9491-CD4ED7B54EDD}" type="slidenum">
              <a:rPr lang="en-US" noProof="0" smtClean="0"/>
              <a:pPr/>
              <a:t>4</a:t>
            </a:fld>
            <a:endParaRPr lang="en-US" noProof="0" dirty="0"/>
          </a:p>
        </p:txBody>
      </p:sp>
      <p:pic>
        <p:nvPicPr>
          <p:cNvPr id="3" name="Picture 4">
            <a:extLst>
              <a:ext uri="{FF2B5EF4-FFF2-40B4-BE49-F238E27FC236}">
                <a16:creationId xmlns:a16="http://schemas.microsoft.com/office/drawing/2014/main" id="{12E6F74B-2A64-D8E2-D447-2017165F7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7055" y="1297718"/>
            <a:ext cx="7577890" cy="426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173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6C619-88C2-F6C3-F12B-7C9C1436338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B6CFB1B-F845-4FE0-0A80-F58C9448B832}"/>
              </a:ext>
            </a:extLst>
          </p:cNvPr>
          <p:cNvSpPr>
            <a:spLocks noGrp="1"/>
          </p:cNvSpPr>
          <p:nvPr>
            <p:ph type="body" sz="quarter" idx="11"/>
          </p:nvPr>
        </p:nvSpPr>
        <p:spPr/>
        <p:txBody>
          <a:bodyPr/>
          <a:lstStyle/>
          <a:p>
            <a:r>
              <a:rPr lang="en-US" dirty="0"/>
              <a:t>Probability is viewed as a </a:t>
            </a:r>
            <a:r>
              <a:rPr lang="en-US" b="1" dirty="0"/>
              <a:t>subjective</a:t>
            </a:r>
            <a:r>
              <a:rPr lang="en-US" dirty="0"/>
              <a:t> experience of uncertainty; include </a:t>
            </a:r>
            <a:r>
              <a:rPr lang="en-US" b="1" dirty="0"/>
              <a:t>prior knowledge </a:t>
            </a:r>
            <a:r>
              <a:rPr lang="en-US" dirty="0"/>
              <a:t>in our judgements.</a:t>
            </a:r>
          </a:p>
          <a:p>
            <a:endParaRPr lang="en-US" dirty="0"/>
          </a:p>
          <a:p>
            <a:r>
              <a:rPr lang="en-US" dirty="0"/>
              <a:t>Parameters are viewed as </a:t>
            </a:r>
            <a:r>
              <a:rPr lang="en-US" b="1" dirty="0"/>
              <a:t>probability distributions </a:t>
            </a:r>
            <a:r>
              <a:rPr lang="en-US" dirty="0"/>
              <a:t>that capture our uncertainty about their true value.</a:t>
            </a:r>
          </a:p>
          <a:p>
            <a:endParaRPr lang="en-US" dirty="0"/>
          </a:p>
          <a:p>
            <a:r>
              <a:rPr lang="en-US" b="1" dirty="0"/>
              <a:t>Continuously updating </a:t>
            </a:r>
            <a:r>
              <a:rPr lang="en-US" dirty="0"/>
              <a:t>what we believe about the world as </a:t>
            </a:r>
            <a:r>
              <a:rPr lang="en-US" b="1" dirty="0"/>
              <a:t>new information </a:t>
            </a:r>
            <a:r>
              <a:rPr lang="en-US" dirty="0"/>
              <a:t>comes in brings us closer to the truth.</a:t>
            </a:r>
          </a:p>
          <a:p>
            <a:endParaRPr lang="en-US" dirty="0"/>
          </a:p>
          <a:p>
            <a:r>
              <a:rPr lang="en-US" b="1" dirty="0"/>
              <a:t>Credibility intervals </a:t>
            </a:r>
            <a:r>
              <a:rPr lang="en-US" dirty="0"/>
              <a:t>reflect how uncertain our believes are.</a:t>
            </a:r>
          </a:p>
          <a:p>
            <a:endParaRPr lang="en-US" dirty="0"/>
          </a:p>
          <a:p>
            <a:r>
              <a:rPr lang="en-US" dirty="0"/>
              <a:t>Bayesian theorem allows for </a:t>
            </a:r>
            <a:r>
              <a:rPr lang="en-US" b="1" dirty="0"/>
              <a:t>direct calculation of </a:t>
            </a:r>
            <a:r>
              <a:rPr lang="en-US" dirty="0"/>
              <a:t>the </a:t>
            </a:r>
            <a:r>
              <a:rPr lang="en-US" b="1" dirty="0"/>
              <a:t>probability </a:t>
            </a:r>
            <a:r>
              <a:rPr lang="en-US" dirty="0"/>
              <a:t>of our believes.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882CEDEC-912C-21E6-6F2A-85E642B2696D}"/>
              </a:ext>
            </a:extLst>
          </p:cNvPr>
          <p:cNvSpPr>
            <a:spLocks noGrp="1"/>
          </p:cNvSpPr>
          <p:nvPr>
            <p:ph type="sldNum" sz="quarter" idx="12"/>
          </p:nvPr>
        </p:nvSpPr>
        <p:spPr/>
        <p:txBody>
          <a:bodyPr/>
          <a:lstStyle/>
          <a:p>
            <a:fld id="{FACE7509-F60A-4509-9491-CD4ED7B54EDD}" type="slidenum">
              <a:rPr lang="nl-NL" smtClean="0"/>
              <a:pPr/>
              <a:t>5</a:t>
            </a:fld>
            <a:endParaRPr lang="nl-NL"/>
          </a:p>
        </p:txBody>
      </p:sp>
      <p:sp>
        <p:nvSpPr>
          <p:cNvPr id="4" name="Titel 3">
            <a:extLst>
              <a:ext uri="{FF2B5EF4-FFF2-40B4-BE49-F238E27FC236}">
                <a16:creationId xmlns:a16="http://schemas.microsoft.com/office/drawing/2014/main" id="{AAEDD55A-5220-C241-2B47-19D16BEFC0A1}"/>
              </a:ext>
            </a:extLst>
          </p:cNvPr>
          <p:cNvSpPr>
            <a:spLocks noGrp="1"/>
          </p:cNvSpPr>
          <p:nvPr>
            <p:ph type="title"/>
          </p:nvPr>
        </p:nvSpPr>
        <p:spPr/>
        <p:txBody>
          <a:bodyPr/>
          <a:lstStyle/>
          <a:p>
            <a:r>
              <a:rPr lang="en-US" dirty="0"/>
              <a:t>1. The Bayesian approach to statistics </a:t>
            </a:r>
          </a:p>
        </p:txBody>
      </p:sp>
    </p:spTree>
    <p:extLst>
      <p:ext uri="{BB962C8B-B14F-4D97-AF65-F5344CB8AC3E}">
        <p14:creationId xmlns:p14="http://schemas.microsoft.com/office/powerpoint/2010/main" val="908604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31F4-50B6-37BA-68B4-DF84526F383D}"/>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FDF15FB-40A2-BC57-0455-C32CE8356C87}"/>
              </a:ext>
            </a:extLst>
          </p:cNvPr>
          <p:cNvSpPr>
            <a:spLocks noGrp="1"/>
          </p:cNvSpPr>
          <p:nvPr>
            <p:ph type="body" sz="quarter" idx="11"/>
          </p:nvPr>
        </p:nvSpPr>
        <p:spPr/>
        <p:txBody>
          <a:bodyPr>
            <a:normAutofit/>
          </a:bodyPr>
          <a:lstStyle/>
          <a:p>
            <a:pPr marL="0" indent="0">
              <a:buNone/>
            </a:pPr>
            <a:r>
              <a:rPr lang="en-US" dirty="0"/>
              <a:t>Suppose a doctor is testing for a rare disease. The disease has a prevalence of 0.01% (1 in 10.000) in the population, and the test has a sensitivity of 99% and specificity of 95%. How likely is the patient to have the disease if the test comes back positive?</a:t>
            </a:r>
          </a:p>
          <a:p>
            <a:pPr marL="0" indent="0">
              <a:buNone/>
            </a:pPr>
            <a:endParaRPr lang="en-US" dirty="0"/>
          </a:p>
          <a:p>
            <a:pPr marL="0" indent="0">
              <a:buNone/>
            </a:pPr>
            <a:endParaRPr lang="en-US" dirty="0"/>
          </a:p>
          <a:p>
            <a:r>
              <a:rPr lang="en-US" dirty="0"/>
              <a:t>P(Disease) = 0.0001</a:t>
            </a:r>
          </a:p>
          <a:p>
            <a:r>
              <a:rPr lang="en-US" dirty="0"/>
              <a:t>(Positive Test | Disease) = 0.99</a:t>
            </a:r>
          </a:p>
          <a:p>
            <a:r>
              <a:rPr lang="en-US" dirty="0"/>
              <a:t>(Negative Test | No disease) = 0.95</a:t>
            </a:r>
          </a:p>
          <a:p>
            <a:pPr marL="0" indent="0">
              <a:buNone/>
            </a:pPr>
            <a:endParaRPr lang="en-US" dirty="0"/>
          </a:p>
          <a:p>
            <a:r>
              <a:rPr lang="en-US" dirty="0">
                <a:solidFill>
                  <a:schemeClr val="tx2"/>
                </a:solidFill>
              </a:rPr>
              <a:t>P(disease | positive test)???</a:t>
            </a:r>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53C342A1-C4A8-4950-CCB7-0AAAF095CB3E}"/>
              </a:ext>
            </a:extLst>
          </p:cNvPr>
          <p:cNvSpPr>
            <a:spLocks noGrp="1"/>
          </p:cNvSpPr>
          <p:nvPr>
            <p:ph type="sldNum" sz="quarter" idx="12"/>
          </p:nvPr>
        </p:nvSpPr>
        <p:spPr/>
        <p:txBody>
          <a:bodyPr/>
          <a:lstStyle/>
          <a:p>
            <a:fld id="{FACE7509-F60A-4509-9491-CD4ED7B54EDD}" type="slidenum">
              <a:rPr lang="nl-NL" smtClean="0"/>
              <a:pPr/>
              <a:t>6</a:t>
            </a:fld>
            <a:endParaRPr lang="nl-NL"/>
          </a:p>
        </p:txBody>
      </p:sp>
      <p:sp>
        <p:nvSpPr>
          <p:cNvPr id="4" name="Titel 3">
            <a:extLst>
              <a:ext uri="{FF2B5EF4-FFF2-40B4-BE49-F238E27FC236}">
                <a16:creationId xmlns:a16="http://schemas.microsoft.com/office/drawing/2014/main" id="{4DED69CB-174A-1F25-7511-5502FB7F54CC}"/>
              </a:ext>
            </a:extLst>
          </p:cNvPr>
          <p:cNvSpPr>
            <a:spLocks noGrp="1"/>
          </p:cNvSpPr>
          <p:nvPr>
            <p:ph type="title"/>
          </p:nvPr>
        </p:nvSpPr>
        <p:spPr/>
        <p:txBody>
          <a:bodyPr/>
          <a:lstStyle/>
          <a:p>
            <a:r>
              <a:rPr lang="en-US" dirty="0"/>
              <a:t>1. The Bayesian approach to statistics </a:t>
            </a:r>
          </a:p>
        </p:txBody>
      </p:sp>
      <p:pic>
        <p:nvPicPr>
          <p:cNvPr id="1026" name="Picture 2" descr="How to interpret your lab test results | Parkview Health">
            <a:extLst>
              <a:ext uri="{FF2B5EF4-FFF2-40B4-BE49-F238E27FC236}">
                <a16:creationId xmlns:a16="http://schemas.microsoft.com/office/drawing/2014/main" id="{0CB5DB51-B995-FD79-A892-45F63C102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5277" y="3299976"/>
            <a:ext cx="3594100" cy="22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059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41DB1-C133-10C5-81EA-9AC079A02B1E}"/>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05D1EE2-021A-A935-49E8-885DA3014C46}"/>
              </a:ext>
            </a:extLst>
          </p:cNvPr>
          <p:cNvSpPr>
            <a:spLocks noGrp="1"/>
          </p:cNvSpPr>
          <p:nvPr>
            <p:ph type="body" sz="quarter" idx="11"/>
          </p:nvPr>
        </p:nvSpPr>
        <p:spPr>
          <a:xfrm>
            <a:off x="838200" y="1925638"/>
            <a:ext cx="10841182" cy="4248000"/>
          </a:xfrm>
        </p:spPr>
        <p:txBody>
          <a:bodyPr>
            <a:normAutofit/>
          </a:bodyPr>
          <a:lstStyle/>
          <a:p>
            <a:pPr marL="0" indent="0">
              <a:buNone/>
            </a:pPr>
            <a:r>
              <a:rPr lang="en-US" dirty="0"/>
              <a:t>Now the doctor gets back the test results and sees according to the positive results the probability the patient has the disease is approximately 0.2%. This is very confusing, the test has high specificity and sensitivity, why would I even test?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pPr marL="0" indent="0">
              <a:buNone/>
            </a:pPr>
            <a:endParaRPr lang="en-US" dirty="0"/>
          </a:p>
          <a:p>
            <a:endParaRPr lang="en-US" dirty="0"/>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6469E1A0-0910-403C-4B7C-2771A73653E6}"/>
              </a:ext>
            </a:extLst>
          </p:cNvPr>
          <p:cNvSpPr>
            <a:spLocks noGrp="1"/>
          </p:cNvSpPr>
          <p:nvPr>
            <p:ph type="sldNum" sz="quarter" idx="12"/>
          </p:nvPr>
        </p:nvSpPr>
        <p:spPr/>
        <p:txBody>
          <a:bodyPr/>
          <a:lstStyle/>
          <a:p>
            <a:fld id="{FACE7509-F60A-4509-9491-CD4ED7B54EDD}" type="slidenum">
              <a:rPr lang="nl-NL" smtClean="0"/>
              <a:pPr/>
              <a:t>7</a:t>
            </a:fld>
            <a:endParaRPr lang="nl-NL"/>
          </a:p>
        </p:txBody>
      </p:sp>
      <p:sp>
        <p:nvSpPr>
          <p:cNvPr id="4" name="Titel 3">
            <a:extLst>
              <a:ext uri="{FF2B5EF4-FFF2-40B4-BE49-F238E27FC236}">
                <a16:creationId xmlns:a16="http://schemas.microsoft.com/office/drawing/2014/main" id="{7B6F9812-B8B7-7054-9323-AA2AD8E2E048}"/>
              </a:ext>
            </a:extLst>
          </p:cNvPr>
          <p:cNvSpPr>
            <a:spLocks noGrp="1"/>
          </p:cNvSpPr>
          <p:nvPr>
            <p:ph type="title"/>
          </p:nvPr>
        </p:nvSpPr>
        <p:spPr/>
        <p:txBody>
          <a:bodyPr/>
          <a:lstStyle/>
          <a:p>
            <a:r>
              <a:rPr lang="en-US" dirty="0"/>
              <a:t>1. The Bayesian approach to statistics </a:t>
            </a:r>
          </a:p>
        </p:txBody>
      </p:sp>
      <p:pic>
        <p:nvPicPr>
          <p:cNvPr id="7" name="Graphic 6" descr="Mitella met effen opvulling">
            <a:extLst>
              <a:ext uri="{FF2B5EF4-FFF2-40B4-BE49-F238E27FC236}">
                <a16:creationId xmlns:a16="http://schemas.microsoft.com/office/drawing/2014/main" id="{37038292-45A3-FD89-5076-349831E693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26951" y="3428914"/>
            <a:ext cx="1856760" cy="1856760"/>
          </a:xfrm>
          <a:prstGeom prst="rect">
            <a:avLst/>
          </a:prstGeom>
        </p:spPr>
      </p:pic>
      <p:pic>
        <p:nvPicPr>
          <p:cNvPr id="11" name="Graphic 10" descr="Groep mensen met effen opvulling">
            <a:extLst>
              <a:ext uri="{FF2B5EF4-FFF2-40B4-BE49-F238E27FC236}">
                <a16:creationId xmlns:a16="http://schemas.microsoft.com/office/drawing/2014/main" id="{341D0750-A138-7A53-5A82-4535399D6B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7407" y="3206703"/>
            <a:ext cx="2366987" cy="2366987"/>
          </a:xfrm>
          <a:prstGeom prst="rect">
            <a:avLst/>
          </a:prstGeom>
        </p:spPr>
      </p:pic>
      <p:sp>
        <p:nvSpPr>
          <p:cNvPr id="16" name="Pijl links 15">
            <a:extLst>
              <a:ext uri="{FF2B5EF4-FFF2-40B4-BE49-F238E27FC236}">
                <a16:creationId xmlns:a16="http://schemas.microsoft.com/office/drawing/2014/main" id="{3030C450-4C0E-A307-694C-254D0467B432}"/>
              </a:ext>
            </a:extLst>
          </p:cNvPr>
          <p:cNvSpPr/>
          <p:nvPr/>
        </p:nvSpPr>
        <p:spPr>
          <a:xfrm>
            <a:off x="4701539" y="3941936"/>
            <a:ext cx="2922271" cy="44826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E50856"/>
              </a:highlight>
            </a:endParaRPr>
          </a:p>
        </p:txBody>
      </p:sp>
      <p:sp>
        <p:nvSpPr>
          <p:cNvPr id="18" name="Tekstvak 17">
            <a:extLst>
              <a:ext uri="{FF2B5EF4-FFF2-40B4-BE49-F238E27FC236}">
                <a16:creationId xmlns:a16="http://schemas.microsoft.com/office/drawing/2014/main" id="{28F149C9-66CB-E878-27F4-BBCCB2497204}"/>
              </a:ext>
            </a:extLst>
          </p:cNvPr>
          <p:cNvSpPr txBox="1"/>
          <p:nvPr/>
        </p:nvSpPr>
        <p:spPr>
          <a:xfrm>
            <a:off x="4717535" y="4358587"/>
            <a:ext cx="2756930" cy="923330"/>
          </a:xfrm>
          <a:prstGeom prst="rect">
            <a:avLst/>
          </a:prstGeom>
          <a:noFill/>
        </p:spPr>
        <p:txBody>
          <a:bodyPr wrap="square" rtlCol="0">
            <a:spAutoFit/>
          </a:bodyPr>
          <a:lstStyle/>
          <a:p>
            <a:r>
              <a:rPr lang="en-US" dirty="0"/>
              <a:t>Extrapolate what is true in de data (population) to the individual.</a:t>
            </a:r>
          </a:p>
        </p:txBody>
      </p:sp>
      <p:sp>
        <p:nvSpPr>
          <p:cNvPr id="19" name="Tekstvak 18">
            <a:extLst>
              <a:ext uri="{FF2B5EF4-FFF2-40B4-BE49-F238E27FC236}">
                <a16:creationId xmlns:a16="http://schemas.microsoft.com/office/drawing/2014/main" id="{6316761A-77C7-E03E-2033-132DA5141EB0}"/>
              </a:ext>
            </a:extLst>
          </p:cNvPr>
          <p:cNvSpPr txBox="1"/>
          <p:nvPr/>
        </p:nvSpPr>
        <p:spPr>
          <a:xfrm>
            <a:off x="5354025" y="3639797"/>
            <a:ext cx="2756930" cy="369332"/>
          </a:xfrm>
          <a:prstGeom prst="rect">
            <a:avLst/>
          </a:prstGeom>
          <a:noFill/>
        </p:spPr>
        <p:txBody>
          <a:bodyPr wrap="square" rtlCol="0">
            <a:spAutoFit/>
          </a:bodyPr>
          <a:lstStyle/>
          <a:p>
            <a:r>
              <a:rPr lang="en-US" b="1" dirty="0"/>
              <a:t>Frequentist</a:t>
            </a:r>
          </a:p>
        </p:txBody>
      </p:sp>
    </p:spTree>
    <p:extLst>
      <p:ext uri="{BB962C8B-B14F-4D97-AF65-F5344CB8AC3E}">
        <p14:creationId xmlns:p14="http://schemas.microsoft.com/office/powerpoint/2010/main" val="1027624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8AC68-CC14-232C-9BF0-26A7187B2FCF}"/>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B1C24C0-972E-CDC1-87CC-8C95106B5F4A}"/>
              </a:ext>
            </a:extLst>
          </p:cNvPr>
          <p:cNvSpPr>
            <a:spLocks noGrp="1"/>
          </p:cNvSpPr>
          <p:nvPr>
            <p:ph type="body" sz="quarter" idx="11"/>
          </p:nvPr>
        </p:nvSpPr>
        <p:spPr>
          <a:xfrm>
            <a:off x="838200" y="1925638"/>
            <a:ext cx="10841182" cy="4248000"/>
          </a:xfrm>
        </p:spPr>
        <p:txBody>
          <a:bodyPr>
            <a:normAutofit/>
          </a:bodyPr>
          <a:lstStyle/>
          <a:p>
            <a:pPr marL="0" indent="0">
              <a:buNone/>
            </a:pPr>
            <a:r>
              <a:rPr lang="en-US" dirty="0"/>
              <a:t>Due to other symptoms the doctor believes the probability that the patient has the disease (prior to testing) is closer to 30%. How can this previous knowledge be incorporated in the estimate?</a:t>
            </a:r>
          </a:p>
        </p:txBody>
      </p:sp>
      <p:sp>
        <p:nvSpPr>
          <p:cNvPr id="3" name="Tijdelijke aanduiding voor dianummer 2">
            <a:extLst>
              <a:ext uri="{FF2B5EF4-FFF2-40B4-BE49-F238E27FC236}">
                <a16:creationId xmlns:a16="http://schemas.microsoft.com/office/drawing/2014/main" id="{9E2D743D-F9BA-4FF7-122C-7FDC12D48D91}"/>
              </a:ext>
            </a:extLst>
          </p:cNvPr>
          <p:cNvSpPr>
            <a:spLocks noGrp="1"/>
          </p:cNvSpPr>
          <p:nvPr>
            <p:ph type="sldNum" sz="quarter" idx="12"/>
          </p:nvPr>
        </p:nvSpPr>
        <p:spPr/>
        <p:txBody>
          <a:bodyPr/>
          <a:lstStyle/>
          <a:p>
            <a:fld id="{FACE7509-F60A-4509-9491-CD4ED7B54EDD}" type="slidenum">
              <a:rPr lang="nl-NL" smtClean="0"/>
              <a:pPr/>
              <a:t>8</a:t>
            </a:fld>
            <a:endParaRPr lang="nl-NL"/>
          </a:p>
        </p:txBody>
      </p:sp>
      <p:sp>
        <p:nvSpPr>
          <p:cNvPr id="4" name="Titel 3">
            <a:extLst>
              <a:ext uri="{FF2B5EF4-FFF2-40B4-BE49-F238E27FC236}">
                <a16:creationId xmlns:a16="http://schemas.microsoft.com/office/drawing/2014/main" id="{B2CF5DE6-FC0E-6F14-148E-5F0BB35826F1}"/>
              </a:ext>
            </a:extLst>
          </p:cNvPr>
          <p:cNvSpPr>
            <a:spLocks noGrp="1"/>
          </p:cNvSpPr>
          <p:nvPr>
            <p:ph type="title"/>
          </p:nvPr>
        </p:nvSpPr>
        <p:spPr/>
        <p:txBody>
          <a:bodyPr/>
          <a:lstStyle/>
          <a:p>
            <a:r>
              <a:rPr lang="en-US" dirty="0"/>
              <a:t>1. The Bayesian approach to statistics </a:t>
            </a:r>
          </a:p>
        </p:txBody>
      </p:sp>
      <p:pic>
        <p:nvPicPr>
          <p:cNvPr id="7" name="Graphic 6" descr="Mitella met effen opvulling">
            <a:extLst>
              <a:ext uri="{FF2B5EF4-FFF2-40B4-BE49-F238E27FC236}">
                <a16:creationId xmlns:a16="http://schemas.microsoft.com/office/drawing/2014/main" id="{140AB745-8099-AA2D-46E3-848DBCE398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26951" y="3428914"/>
            <a:ext cx="1856760" cy="1856760"/>
          </a:xfrm>
          <a:prstGeom prst="rect">
            <a:avLst/>
          </a:prstGeom>
        </p:spPr>
      </p:pic>
      <p:pic>
        <p:nvPicPr>
          <p:cNvPr id="11" name="Graphic 10" descr="Groep mensen met effen opvulling">
            <a:extLst>
              <a:ext uri="{FF2B5EF4-FFF2-40B4-BE49-F238E27FC236}">
                <a16:creationId xmlns:a16="http://schemas.microsoft.com/office/drawing/2014/main" id="{059351D3-F556-E137-AE80-7448B75FE1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7407" y="3206703"/>
            <a:ext cx="2366987" cy="2366987"/>
          </a:xfrm>
          <a:prstGeom prst="rect">
            <a:avLst/>
          </a:prstGeom>
        </p:spPr>
      </p:pic>
      <p:sp>
        <p:nvSpPr>
          <p:cNvPr id="16" name="Pijl links 15">
            <a:extLst>
              <a:ext uri="{FF2B5EF4-FFF2-40B4-BE49-F238E27FC236}">
                <a16:creationId xmlns:a16="http://schemas.microsoft.com/office/drawing/2014/main" id="{957DA301-CD31-0448-6374-8B4CCC7550B5}"/>
              </a:ext>
            </a:extLst>
          </p:cNvPr>
          <p:cNvSpPr/>
          <p:nvPr/>
        </p:nvSpPr>
        <p:spPr>
          <a:xfrm rot="10800000">
            <a:off x="4701539" y="3941936"/>
            <a:ext cx="2922271" cy="44826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E50856"/>
              </a:highlight>
            </a:endParaRPr>
          </a:p>
        </p:txBody>
      </p:sp>
      <p:sp>
        <p:nvSpPr>
          <p:cNvPr id="18" name="Tekstvak 17">
            <a:extLst>
              <a:ext uri="{FF2B5EF4-FFF2-40B4-BE49-F238E27FC236}">
                <a16:creationId xmlns:a16="http://schemas.microsoft.com/office/drawing/2014/main" id="{CB45EC6B-6EFE-FCB1-71A8-69E0C9641ECC}"/>
              </a:ext>
            </a:extLst>
          </p:cNvPr>
          <p:cNvSpPr txBox="1"/>
          <p:nvPr/>
        </p:nvSpPr>
        <p:spPr>
          <a:xfrm>
            <a:off x="4935680" y="4392660"/>
            <a:ext cx="2756930" cy="923330"/>
          </a:xfrm>
          <a:prstGeom prst="rect">
            <a:avLst/>
          </a:prstGeom>
          <a:noFill/>
        </p:spPr>
        <p:txBody>
          <a:bodyPr wrap="square" rtlCol="0">
            <a:spAutoFit/>
          </a:bodyPr>
          <a:lstStyle/>
          <a:p>
            <a:r>
              <a:rPr lang="en-US" dirty="0"/>
              <a:t>Look at the individual and to update what you believe about the data.</a:t>
            </a:r>
          </a:p>
        </p:txBody>
      </p:sp>
      <p:sp>
        <p:nvSpPr>
          <p:cNvPr id="19" name="Tekstvak 18">
            <a:extLst>
              <a:ext uri="{FF2B5EF4-FFF2-40B4-BE49-F238E27FC236}">
                <a16:creationId xmlns:a16="http://schemas.microsoft.com/office/drawing/2014/main" id="{7B073113-0199-96B4-F356-24B6D3D06C9D}"/>
              </a:ext>
            </a:extLst>
          </p:cNvPr>
          <p:cNvSpPr txBox="1"/>
          <p:nvPr/>
        </p:nvSpPr>
        <p:spPr>
          <a:xfrm>
            <a:off x="5491185" y="3639797"/>
            <a:ext cx="2756930" cy="369332"/>
          </a:xfrm>
          <a:prstGeom prst="rect">
            <a:avLst/>
          </a:prstGeom>
          <a:noFill/>
        </p:spPr>
        <p:txBody>
          <a:bodyPr wrap="square" rtlCol="0">
            <a:spAutoFit/>
          </a:bodyPr>
          <a:lstStyle/>
          <a:p>
            <a:r>
              <a:rPr lang="en-US" b="1" dirty="0"/>
              <a:t>Bayesian</a:t>
            </a:r>
          </a:p>
        </p:txBody>
      </p:sp>
    </p:spTree>
    <p:extLst>
      <p:ext uri="{BB962C8B-B14F-4D97-AF65-F5344CB8AC3E}">
        <p14:creationId xmlns:p14="http://schemas.microsoft.com/office/powerpoint/2010/main" val="1753724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311F-60C4-32D5-2E5D-41CB2F612601}"/>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4C8F13F-447D-F521-3FC2-0CF66F7B6D07}"/>
              </a:ext>
            </a:extLst>
          </p:cNvPr>
          <p:cNvSpPr>
            <a:spLocks noGrp="1"/>
          </p:cNvSpPr>
          <p:nvPr>
            <p:ph type="body" sz="quarter" idx="11"/>
          </p:nvPr>
        </p:nvSpPr>
        <p:spPr/>
        <p:txBody>
          <a:bodyPr/>
          <a:lstStyle/>
          <a:p>
            <a:pPr marL="0" indent="0">
              <a:buNone/>
            </a:pPr>
            <a:r>
              <a:rPr lang="en-US" dirty="0"/>
              <a:t>Bayes theorem provides a method to update probabilities based on experience and data.</a:t>
            </a:r>
          </a:p>
          <a:p>
            <a:pPr marL="0" indent="0">
              <a:buNone/>
            </a:pPr>
            <a:endParaRPr lang="en-US" dirty="0"/>
          </a:p>
          <a:p>
            <a:pPr marL="0" indent="0">
              <a:buNone/>
            </a:pPr>
            <a:r>
              <a:rPr lang="en-US" dirty="0"/>
              <a:t>It essentially answers the question: Given our current believes (prior) and the data (evidence) how do we update our believes (posterior)?</a:t>
            </a:r>
          </a:p>
        </p:txBody>
      </p:sp>
      <p:sp>
        <p:nvSpPr>
          <p:cNvPr id="3" name="Tijdelijke aanduiding voor dianummer 2">
            <a:extLst>
              <a:ext uri="{FF2B5EF4-FFF2-40B4-BE49-F238E27FC236}">
                <a16:creationId xmlns:a16="http://schemas.microsoft.com/office/drawing/2014/main" id="{6F82B53C-162F-6312-4DFD-56EEF6359A14}"/>
              </a:ext>
            </a:extLst>
          </p:cNvPr>
          <p:cNvSpPr>
            <a:spLocks noGrp="1"/>
          </p:cNvSpPr>
          <p:nvPr>
            <p:ph type="sldNum" sz="quarter" idx="12"/>
          </p:nvPr>
        </p:nvSpPr>
        <p:spPr/>
        <p:txBody>
          <a:bodyPr/>
          <a:lstStyle/>
          <a:p>
            <a:fld id="{FACE7509-F60A-4509-9491-CD4ED7B54EDD}" type="slidenum">
              <a:rPr lang="nl-NL" smtClean="0"/>
              <a:pPr/>
              <a:t>9</a:t>
            </a:fld>
            <a:endParaRPr lang="nl-NL"/>
          </a:p>
        </p:txBody>
      </p:sp>
      <p:sp>
        <p:nvSpPr>
          <p:cNvPr id="4" name="Titel 3">
            <a:extLst>
              <a:ext uri="{FF2B5EF4-FFF2-40B4-BE49-F238E27FC236}">
                <a16:creationId xmlns:a16="http://schemas.microsoft.com/office/drawing/2014/main" id="{B1D66D6D-4039-0EF2-FFE1-C10E29226577}"/>
              </a:ext>
            </a:extLst>
          </p:cNvPr>
          <p:cNvSpPr>
            <a:spLocks noGrp="1"/>
          </p:cNvSpPr>
          <p:nvPr>
            <p:ph type="title"/>
          </p:nvPr>
        </p:nvSpPr>
        <p:spPr/>
        <p:txBody>
          <a:bodyPr/>
          <a:lstStyle/>
          <a:p>
            <a:r>
              <a:rPr lang="en-US" dirty="0"/>
              <a:t>2. Bayes Theorem</a:t>
            </a:r>
          </a:p>
        </p:txBody>
      </p:sp>
      <p:grpSp>
        <p:nvGrpSpPr>
          <p:cNvPr id="20" name="Groep 19">
            <a:extLst>
              <a:ext uri="{FF2B5EF4-FFF2-40B4-BE49-F238E27FC236}">
                <a16:creationId xmlns:a16="http://schemas.microsoft.com/office/drawing/2014/main" id="{AE388CD1-F289-E989-E4B5-C7F626E3918C}"/>
              </a:ext>
            </a:extLst>
          </p:cNvPr>
          <p:cNvGrpSpPr/>
          <p:nvPr/>
        </p:nvGrpSpPr>
        <p:grpSpPr>
          <a:xfrm>
            <a:off x="801598" y="4049638"/>
            <a:ext cx="10552202" cy="1767997"/>
            <a:chOff x="1400019" y="2173942"/>
            <a:chExt cx="10707125" cy="1767997"/>
          </a:xfrm>
        </p:grpSpPr>
        <p:grpSp>
          <p:nvGrpSpPr>
            <p:cNvPr id="18" name="Groep 17">
              <a:extLst>
                <a:ext uri="{FF2B5EF4-FFF2-40B4-BE49-F238E27FC236}">
                  <a16:creationId xmlns:a16="http://schemas.microsoft.com/office/drawing/2014/main" id="{7D6AF1C4-82CB-8B84-A7D3-76F42CAD5F07}"/>
                </a:ext>
              </a:extLst>
            </p:cNvPr>
            <p:cNvGrpSpPr/>
            <p:nvPr/>
          </p:nvGrpSpPr>
          <p:grpSpPr>
            <a:xfrm>
              <a:off x="1400019" y="2173942"/>
              <a:ext cx="10707125" cy="1767997"/>
              <a:chOff x="1400019" y="2173942"/>
              <a:chExt cx="10707125" cy="1767997"/>
            </a:xfrm>
          </p:grpSpPr>
          <p:sp>
            <p:nvSpPr>
              <p:cNvPr id="5" name="Tekstvak 4">
                <a:extLst>
                  <a:ext uri="{FF2B5EF4-FFF2-40B4-BE49-F238E27FC236}">
                    <a16:creationId xmlns:a16="http://schemas.microsoft.com/office/drawing/2014/main" id="{D1253E14-FEB7-7B92-4613-AE7F96E28E01}"/>
                  </a:ext>
                </a:extLst>
              </p:cNvPr>
              <p:cNvSpPr txBox="1"/>
              <p:nvPr/>
            </p:nvSpPr>
            <p:spPr>
              <a:xfrm>
                <a:off x="4610592" y="2173942"/>
                <a:ext cx="4447646" cy="369332"/>
              </a:xfrm>
              <a:prstGeom prst="rect">
                <a:avLst/>
              </a:prstGeom>
              <a:noFill/>
            </p:spPr>
            <p:txBody>
              <a:bodyPr wrap="square" rtlCol="0">
                <a:spAutoFit/>
              </a:bodyPr>
              <a:lstStyle/>
              <a:p>
                <a:r>
                  <a:rPr lang="en-US" dirty="0">
                    <a:solidFill>
                      <a:srgbClr val="FF0000"/>
                    </a:solidFill>
                  </a:rPr>
                  <a:t>Conditional probability of B given A.</a:t>
                </a:r>
              </a:p>
            </p:txBody>
          </p:sp>
          <p:sp>
            <p:nvSpPr>
              <p:cNvPr id="6" name="Tekstvak 5">
                <a:extLst>
                  <a:ext uri="{FF2B5EF4-FFF2-40B4-BE49-F238E27FC236}">
                    <a16:creationId xmlns:a16="http://schemas.microsoft.com/office/drawing/2014/main" id="{EBF0F970-3340-6958-D325-8CCB5B13365E}"/>
                  </a:ext>
                </a:extLst>
              </p:cNvPr>
              <p:cNvSpPr txBox="1"/>
              <p:nvPr/>
            </p:nvSpPr>
            <p:spPr>
              <a:xfrm>
                <a:off x="1400019" y="3010756"/>
                <a:ext cx="3210573" cy="646331"/>
              </a:xfrm>
              <a:prstGeom prst="rect">
                <a:avLst/>
              </a:prstGeom>
              <a:noFill/>
            </p:spPr>
            <p:txBody>
              <a:bodyPr wrap="square" rtlCol="0">
                <a:spAutoFit/>
              </a:bodyPr>
              <a:lstStyle/>
              <a:p>
                <a:r>
                  <a:rPr lang="en-US" dirty="0">
                    <a:solidFill>
                      <a:srgbClr val="00B0F0"/>
                    </a:solidFill>
                  </a:rPr>
                  <a:t>Conditional probability of A given B</a:t>
                </a:r>
              </a:p>
            </p:txBody>
          </p:sp>
          <p:sp>
            <p:nvSpPr>
              <p:cNvPr id="7" name="Tekstvak 6">
                <a:extLst>
                  <a:ext uri="{FF2B5EF4-FFF2-40B4-BE49-F238E27FC236}">
                    <a16:creationId xmlns:a16="http://schemas.microsoft.com/office/drawing/2014/main" id="{2F82249A-61C1-1E18-80D5-031E5608F8CF}"/>
                  </a:ext>
                </a:extLst>
              </p:cNvPr>
              <p:cNvSpPr txBox="1"/>
              <p:nvPr/>
            </p:nvSpPr>
            <p:spPr>
              <a:xfrm>
                <a:off x="8610601" y="3295608"/>
                <a:ext cx="3496543" cy="646331"/>
              </a:xfrm>
              <a:prstGeom prst="rect">
                <a:avLst/>
              </a:prstGeom>
              <a:noFill/>
            </p:spPr>
            <p:txBody>
              <a:bodyPr wrap="square" rtlCol="0">
                <a:spAutoFit/>
              </a:bodyPr>
              <a:lstStyle/>
              <a:p>
                <a:r>
                  <a:rPr lang="en-US" dirty="0">
                    <a:solidFill>
                      <a:srgbClr val="00B050"/>
                    </a:solidFill>
                  </a:rPr>
                  <a:t>Marginal probability of the disease and the positive test</a:t>
                </a:r>
              </a:p>
            </p:txBody>
          </p:sp>
          <p:cxnSp>
            <p:nvCxnSpPr>
              <p:cNvPr id="9" name="Rechte verbindingslijn met pijl 8">
                <a:extLst>
                  <a:ext uri="{FF2B5EF4-FFF2-40B4-BE49-F238E27FC236}">
                    <a16:creationId xmlns:a16="http://schemas.microsoft.com/office/drawing/2014/main" id="{09B182A0-D895-8964-DA2A-F60D93A6DB2A}"/>
                  </a:ext>
                </a:extLst>
              </p:cNvPr>
              <p:cNvCxnSpPr>
                <a:cxnSpLocks/>
              </p:cNvCxnSpPr>
              <p:nvPr/>
            </p:nvCxnSpPr>
            <p:spPr>
              <a:xfrm>
                <a:off x="4257234" y="3480274"/>
                <a:ext cx="461472" cy="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Rechte verbindingslijn met pijl 11">
                <a:extLst>
                  <a:ext uri="{FF2B5EF4-FFF2-40B4-BE49-F238E27FC236}">
                    <a16:creationId xmlns:a16="http://schemas.microsoft.com/office/drawing/2014/main" id="{AAA0DB5C-DD5A-02A8-2D4D-B90CF3414CA5}"/>
                  </a:ext>
                </a:extLst>
              </p:cNvPr>
              <p:cNvCxnSpPr>
                <a:cxnSpLocks/>
              </p:cNvCxnSpPr>
              <p:nvPr/>
            </p:nvCxnSpPr>
            <p:spPr>
              <a:xfrm>
                <a:off x="6771117" y="2608346"/>
                <a:ext cx="0" cy="2570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Rechte verbindingslijn met pijl 13">
                <a:extLst>
                  <a:ext uri="{FF2B5EF4-FFF2-40B4-BE49-F238E27FC236}">
                    <a16:creationId xmlns:a16="http://schemas.microsoft.com/office/drawing/2014/main" id="{F8019DC0-C2F6-CE2F-0B3E-D197716BE95D}"/>
                  </a:ext>
                </a:extLst>
              </p:cNvPr>
              <p:cNvCxnSpPr>
                <a:cxnSpLocks/>
              </p:cNvCxnSpPr>
              <p:nvPr/>
            </p:nvCxnSpPr>
            <p:spPr>
              <a:xfrm flipH="1">
                <a:off x="7773115" y="3480274"/>
                <a:ext cx="837486" cy="18466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Rechte verbindingslijn met pijl 15">
                <a:extLst>
                  <a:ext uri="{FF2B5EF4-FFF2-40B4-BE49-F238E27FC236}">
                    <a16:creationId xmlns:a16="http://schemas.microsoft.com/office/drawing/2014/main" id="{1B536552-CBE1-F7BE-8806-0F1AD632D1C1}"/>
                  </a:ext>
                </a:extLst>
              </p:cNvPr>
              <p:cNvCxnSpPr>
                <a:cxnSpLocks/>
              </p:cNvCxnSpPr>
              <p:nvPr/>
            </p:nvCxnSpPr>
            <p:spPr>
              <a:xfrm flipH="1" flipV="1">
                <a:off x="8103555" y="3295608"/>
                <a:ext cx="507046" cy="17681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 name="Tekstvak 18">
                  <a:extLst>
                    <a:ext uri="{FF2B5EF4-FFF2-40B4-BE49-F238E27FC236}">
                      <a16:creationId xmlns:a16="http://schemas.microsoft.com/office/drawing/2014/main" id="{50D0F0C1-F905-B6F2-96D6-3A44C097F0A1}"/>
                    </a:ext>
                  </a:extLst>
                </p:cNvPr>
                <p:cNvSpPr txBox="1"/>
                <p:nvPr/>
              </p:nvSpPr>
              <p:spPr>
                <a:xfrm>
                  <a:off x="4718706" y="2720086"/>
                  <a:ext cx="3339270" cy="1170320"/>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a:solidFill>
                              <a:srgbClr val="00B0F0"/>
                            </a:solidFill>
                            <a:latin typeface="Cambria Math" panose="02040503050406030204" pitchFamily="18" charset="0"/>
                          </a:rPr>
                          <m:t>𝑝</m:t>
                        </m:r>
                        <m:d>
                          <m:dPr>
                            <m:ctrlPr>
                              <a:rPr lang="nl-NL" sz="2500" i="1">
                                <a:solidFill>
                                  <a:srgbClr val="00B0F0"/>
                                </a:solidFill>
                                <a:latin typeface="Cambria Math" panose="02040503050406030204" pitchFamily="18" charset="0"/>
                              </a:rPr>
                            </m:ctrlPr>
                          </m:dPr>
                          <m:e>
                            <m:r>
                              <a:rPr lang="nl-NL" sz="2500" i="1">
                                <a:solidFill>
                                  <a:srgbClr val="00B0F0"/>
                                </a:solidFill>
                                <a:latin typeface="Cambria Math" panose="02040503050406030204" pitchFamily="18" charset="0"/>
                              </a:rPr>
                              <m:t>𝐴</m:t>
                            </m:r>
                          </m:e>
                          <m:e>
                            <m:r>
                              <a:rPr lang="nl-NL" sz="2500" i="1">
                                <a:solidFill>
                                  <a:srgbClr val="00B0F0"/>
                                </a:solidFill>
                                <a:latin typeface="Cambria Math" panose="02040503050406030204" pitchFamily="18" charset="0"/>
                              </a:rPr>
                              <m:t>𝐵</m:t>
                            </m:r>
                          </m:e>
                        </m:d>
                        <m:r>
                          <a:rPr lang="nl-NL" sz="2500" i="1">
                            <a:latin typeface="Cambria Math" panose="02040503050406030204" pitchFamily="18" charset="0"/>
                          </a:rPr>
                          <m:t>=</m:t>
                        </m:r>
                        <m:f>
                          <m:fPr>
                            <m:ctrlPr>
                              <a:rPr lang="nl-NL" sz="2500" i="1">
                                <a:latin typeface="Cambria Math" panose="02040503050406030204" pitchFamily="18" charset="0"/>
                              </a:rPr>
                            </m:ctrlPr>
                          </m:fPr>
                          <m:num>
                            <m:r>
                              <a:rPr lang="nl-NL" sz="2500" i="1">
                                <a:solidFill>
                                  <a:srgbClr val="FF0000"/>
                                </a:solidFill>
                                <a:latin typeface="Cambria Math" panose="02040503050406030204" pitchFamily="18" charset="0"/>
                              </a:rPr>
                              <m:t>𝑝</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𝐵</m:t>
                            </m:r>
                            <m:r>
                              <a:rPr lang="nl-NL" sz="2500" i="1">
                                <a:solidFill>
                                  <a:srgbClr val="FF0000"/>
                                </a:solidFill>
                                <a:latin typeface="Cambria Math" panose="02040503050406030204" pitchFamily="18" charset="0"/>
                              </a:rPr>
                              <m:t>|</m:t>
                            </m:r>
                            <m:r>
                              <a:rPr lang="nl-NL" sz="2500" i="1">
                                <a:solidFill>
                                  <a:srgbClr val="FF0000"/>
                                </a:solidFill>
                                <a:latin typeface="Cambria Math" panose="02040503050406030204" pitchFamily="18" charset="0"/>
                              </a:rPr>
                              <m:t>𝐴</m:t>
                            </m:r>
                            <m:r>
                              <a:rPr lang="nl-NL" sz="2500" i="1">
                                <a:solidFill>
                                  <a:srgbClr val="FF0000"/>
                                </a:solidFill>
                                <a:latin typeface="Cambria Math" panose="02040503050406030204" pitchFamily="18" charset="0"/>
                              </a:rPr>
                              <m:t>)</m:t>
                            </m:r>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𝐴</m:t>
                            </m:r>
                            <m:r>
                              <a:rPr lang="nl-NL" sz="2500" i="1">
                                <a:solidFill>
                                  <a:srgbClr val="00B050"/>
                                </a:solidFill>
                                <a:latin typeface="Cambria Math" panose="02040503050406030204" pitchFamily="18" charset="0"/>
                              </a:rPr>
                              <m:t>)</m:t>
                            </m:r>
                          </m:num>
                          <m:den>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𝐵</m:t>
                            </m:r>
                            <m:r>
                              <a:rPr lang="nl-NL" sz="2500" i="1">
                                <a:solidFill>
                                  <a:srgbClr val="00B050"/>
                                </a:solidFill>
                                <a:latin typeface="Cambria Math" panose="02040503050406030204" pitchFamily="18" charset="0"/>
                              </a:rPr>
                              <m:t>)</m:t>
                            </m:r>
                          </m:den>
                        </m:f>
                      </m:oMath>
                    </m:oMathPara>
                  </a14:m>
                  <a:endParaRPr lang="en-US" sz="2500" dirty="0"/>
                </a:p>
              </p:txBody>
            </p:sp>
          </mc:Choice>
          <mc:Fallback xmlns="">
            <p:sp>
              <p:nvSpPr>
                <p:cNvPr id="19" name="Tekstvak 18">
                  <a:extLst>
                    <a:ext uri="{FF2B5EF4-FFF2-40B4-BE49-F238E27FC236}">
                      <a16:creationId xmlns:a16="http://schemas.microsoft.com/office/drawing/2014/main" id="{50D0F0C1-F905-B6F2-96D6-3A44C097F0A1}"/>
                    </a:ext>
                  </a:extLst>
                </p:cNvPr>
                <p:cNvSpPr txBox="1">
                  <a:spLocks noRot="1" noChangeAspect="1" noMove="1" noResize="1" noEditPoints="1" noAdjustHandles="1" noChangeArrowheads="1" noChangeShapeType="1" noTextEdit="1"/>
                </p:cNvSpPr>
                <p:nvPr/>
              </p:nvSpPr>
              <p:spPr>
                <a:xfrm>
                  <a:off x="4718706" y="2720086"/>
                  <a:ext cx="3339270" cy="1170320"/>
                </a:xfrm>
                <a:prstGeom prst="rect">
                  <a:avLst/>
                </a:prstGeom>
                <a:blipFill>
                  <a:blip r:embed="rId3"/>
                  <a:stretch>
                    <a:fillRect b="-8602"/>
                  </a:stretch>
                </a:blipFill>
              </p:spPr>
              <p:txBody>
                <a:bodyPr/>
                <a:lstStyle/>
                <a:p>
                  <a:r>
                    <a:rPr lang="en-US">
                      <a:noFill/>
                    </a:rPr>
                    <a:t> </a:t>
                  </a:r>
                </a:p>
              </p:txBody>
            </p:sp>
          </mc:Fallback>
        </mc:AlternateContent>
      </p:grpSp>
    </p:spTree>
    <p:extLst>
      <p:ext uri="{BB962C8B-B14F-4D97-AF65-F5344CB8AC3E}">
        <p14:creationId xmlns:p14="http://schemas.microsoft.com/office/powerpoint/2010/main" val="165924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3BD1CC62-48BD-39F9-ABDF-AF8E2FAEA2B6}"/>
              </a:ext>
            </a:extLst>
          </p:cNvPr>
          <p:cNvSpPr>
            <a:spLocks noGrp="1"/>
          </p:cNvSpPr>
          <p:nvPr>
            <p:ph type="sldNum" sz="quarter" idx="12"/>
          </p:nvPr>
        </p:nvSpPr>
        <p:spPr/>
        <p:txBody>
          <a:bodyPr/>
          <a:lstStyle/>
          <a:p>
            <a:fld id="{FACE7509-F60A-4509-9491-CD4ED7B54EDD}" type="slidenum">
              <a:rPr lang="nl-NL" smtClean="0"/>
              <a:pPr/>
              <a:t>10</a:t>
            </a:fld>
            <a:endParaRPr lang="nl-NL"/>
          </a:p>
        </p:txBody>
      </p:sp>
      <p:sp>
        <p:nvSpPr>
          <p:cNvPr id="4" name="Titel 3">
            <a:extLst>
              <a:ext uri="{FF2B5EF4-FFF2-40B4-BE49-F238E27FC236}">
                <a16:creationId xmlns:a16="http://schemas.microsoft.com/office/drawing/2014/main" id="{68D256A8-247E-72B9-B5CC-5247280EF280}"/>
              </a:ext>
            </a:extLst>
          </p:cNvPr>
          <p:cNvSpPr>
            <a:spLocks noGrp="1"/>
          </p:cNvSpPr>
          <p:nvPr>
            <p:ph type="title"/>
          </p:nvPr>
        </p:nvSpPr>
        <p:spPr/>
        <p:txBody>
          <a:bodyPr/>
          <a:lstStyle/>
          <a:p>
            <a:r>
              <a:rPr lang="en-US" dirty="0"/>
              <a:t>2. Bayes Theorem</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9B799E7C-4040-2D84-846F-86E7B0498199}"/>
                  </a:ext>
                </a:extLst>
              </p:cNvPr>
              <p:cNvSpPr txBox="1"/>
              <p:nvPr/>
            </p:nvSpPr>
            <p:spPr>
              <a:xfrm>
                <a:off x="838200" y="3314208"/>
                <a:ext cx="5796810" cy="1170320"/>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d>
                        <m:dPr>
                          <m:ctrlPr>
                            <a:rPr lang="nl-NL" sz="2500" i="1">
                              <a:solidFill>
                                <a:schemeClr val="tx1"/>
                              </a:solidFill>
                              <a:latin typeface="Cambria Math" panose="02040503050406030204" pitchFamily="18" charset="0"/>
                            </a:rPr>
                          </m:ctrlPr>
                        </m:dPr>
                        <m:e>
                          <m:r>
                            <a:rPr lang="nl-NL" sz="2500" i="1">
                              <a:solidFill>
                                <a:schemeClr val="tx1"/>
                              </a:solidFill>
                              <a:latin typeface="Cambria Math" panose="02040503050406030204" pitchFamily="18" charset="0"/>
                            </a:rPr>
                            <m:t>𝐴</m:t>
                          </m:r>
                        </m:e>
                        <m:e>
                          <m:r>
                            <a:rPr lang="nl-NL" sz="2500" i="1">
                              <a:solidFill>
                                <a:schemeClr val="tx1"/>
                              </a:solidFill>
                              <a:latin typeface="Cambria Math" panose="02040503050406030204" pitchFamily="18" charset="0"/>
                            </a:rPr>
                            <m:t>𝐵</m:t>
                          </m:r>
                        </m:e>
                      </m:d>
                      <m:r>
                        <a:rPr lang="nl-NL" sz="2500" i="1">
                          <a:solidFill>
                            <a:schemeClr val="tx1"/>
                          </a:solidFill>
                          <a:latin typeface="Cambria Math" panose="02040503050406030204" pitchFamily="18" charset="0"/>
                        </a:rPr>
                        <m:t>=</m:t>
                      </m:r>
                      <m:f>
                        <m:fPr>
                          <m:ctrlPr>
                            <a:rPr lang="nl-NL" sz="2500" i="1">
                              <a:solidFill>
                                <a:schemeClr val="tx1"/>
                              </a:solidFill>
                              <a:latin typeface="Cambria Math" panose="02040503050406030204" pitchFamily="18" charset="0"/>
                            </a:rPr>
                          </m:ctrlPr>
                        </m:fPr>
                        <m:num>
                          <m:r>
                            <a:rPr lang="nl-NL" sz="2500" i="1" smtClean="0">
                              <a:solidFill>
                                <a:schemeClr val="tx1"/>
                              </a:solidFill>
                              <a:latin typeface="Cambria Math" panose="02040503050406030204" pitchFamily="18" charset="0"/>
                            </a:rPr>
                            <m:t>𝑝</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𝐵</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𝐴</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𝑝</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𝐴</m:t>
                          </m:r>
                          <m:r>
                            <a:rPr lang="nl-NL" sz="2500" i="1" smtClean="0">
                              <a:solidFill>
                                <a:schemeClr val="tx1"/>
                              </a:solidFill>
                              <a:latin typeface="Cambria Math" panose="02040503050406030204" pitchFamily="18" charset="0"/>
                            </a:rPr>
                            <m:t>)</m:t>
                          </m:r>
                        </m:num>
                        <m:den>
                          <m:r>
                            <a:rPr lang="nl-NL" sz="2500" i="1">
                              <a:solidFill>
                                <a:schemeClr val="tx1"/>
                              </a:solidFill>
                              <a:latin typeface="Cambria Math" panose="02040503050406030204" pitchFamily="18" charset="0"/>
                            </a:rPr>
                            <m:t>𝑝</m:t>
                          </m:r>
                          <m:r>
                            <a:rPr lang="nl-NL" sz="2500" i="1">
                              <a:solidFill>
                                <a:schemeClr val="tx1"/>
                              </a:solidFill>
                              <a:latin typeface="Cambria Math" panose="02040503050406030204" pitchFamily="18" charset="0"/>
                            </a:rPr>
                            <m:t>(</m:t>
                          </m:r>
                          <m:r>
                            <a:rPr lang="nl-NL" sz="2500" i="1">
                              <a:solidFill>
                                <a:schemeClr val="tx1"/>
                              </a:solidFill>
                              <a:latin typeface="Cambria Math" panose="02040503050406030204" pitchFamily="18" charset="0"/>
                            </a:rPr>
                            <m:t>𝐵</m:t>
                          </m:r>
                          <m:r>
                            <a:rPr lang="nl-NL" sz="2500" i="1">
                              <a:solidFill>
                                <a:schemeClr val="tx1"/>
                              </a:solidFill>
                              <a:latin typeface="Cambria Math" panose="02040503050406030204" pitchFamily="18" charset="0"/>
                            </a:rPr>
                            <m:t>)</m:t>
                          </m:r>
                        </m:den>
                      </m:f>
                      <m:r>
                        <a:rPr lang="nl-NL" sz="2500" b="0" i="1" smtClean="0">
                          <a:solidFill>
                            <a:schemeClr val="tx1"/>
                          </a:solidFill>
                          <a:latin typeface="Cambria Math" panose="02040503050406030204" pitchFamily="18" charset="0"/>
                        </a:rPr>
                        <m:t>=</m:t>
                      </m:r>
                      <m:f>
                        <m:fPr>
                          <m:ctrlPr>
                            <a:rPr lang="nl-NL" sz="2500" i="1">
                              <a:solidFill>
                                <a:schemeClr val="tx1"/>
                              </a:solidFill>
                              <a:latin typeface="Cambria Math" panose="02040503050406030204" pitchFamily="18" charset="0"/>
                            </a:rPr>
                          </m:ctrlPr>
                        </m:fPr>
                        <m:num>
                          <m:r>
                            <a:rPr lang="nl-NL" sz="2500" i="1" smtClean="0">
                              <a:solidFill>
                                <a:srgbClr val="00B050"/>
                              </a:solidFill>
                              <a:latin typeface="Cambria Math" panose="02040503050406030204" pitchFamily="18" charset="0"/>
                            </a:rPr>
                            <m:t>𝑝</m:t>
                          </m:r>
                          <m:r>
                            <a:rPr lang="nl-NL" sz="2500" i="1" smtClean="0">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𝐴</m:t>
                          </m:r>
                          <m:r>
                            <a:rPr lang="nl-NL" sz="2500" b="0" i="1" smtClean="0">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𝐵</m:t>
                          </m:r>
                          <m:r>
                            <a:rPr lang="nl-NL" sz="2500" b="0" i="1" smtClean="0">
                              <a:solidFill>
                                <a:srgbClr val="00B050"/>
                              </a:solidFill>
                              <a:latin typeface="Cambria Math" panose="02040503050406030204" pitchFamily="18" charset="0"/>
                            </a:rPr>
                            <m:t>)</m:t>
                          </m:r>
                        </m:num>
                        <m:den>
                          <m:r>
                            <a:rPr lang="nl-NL" sz="2500" i="1" smtClean="0">
                              <a:solidFill>
                                <a:srgbClr val="92D050"/>
                              </a:solidFill>
                              <a:latin typeface="Cambria Math" panose="02040503050406030204" pitchFamily="18" charset="0"/>
                            </a:rPr>
                            <m:t>𝑝</m:t>
                          </m:r>
                          <m:r>
                            <a:rPr lang="nl-NL" sz="2500" i="1" smtClean="0">
                              <a:solidFill>
                                <a:srgbClr val="92D050"/>
                              </a:solidFill>
                              <a:latin typeface="Cambria Math" panose="02040503050406030204" pitchFamily="18" charset="0"/>
                            </a:rPr>
                            <m:t>(</m:t>
                          </m:r>
                          <m:r>
                            <a:rPr lang="nl-NL" sz="2500" i="1" smtClean="0">
                              <a:solidFill>
                                <a:srgbClr val="92D050"/>
                              </a:solidFill>
                              <a:latin typeface="Cambria Math" panose="02040503050406030204" pitchFamily="18" charset="0"/>
                            </a:rPr>
                            <m:t>𝐵</m:t>
                          </m:r>
                          <m:r>
                            <a:rPr lang="nl-NL" sz="2500" b="0" i="1" smtClean="0">
                              <a:solidFill>
                                <a:srgbClr val="92D050"/>
                              </a:solidFill>
                              <a:latin typeface="Cambria Math" panose="02040503050406030204" pitchFamily="18" charset="0"/>
                            </a:rPr>
                            <m:t>)</m:t>
                          </m:r>
                        </m:den>
                      </m:f>
                    </m:oMath>
                  </m:oMathPara>
                </a14:m>
                <a:endParaRPr lang="en-US" sz="2500" dirty="0">
                  <a:solidFill>
                    <a:schemeClr val="tx1"/>
                  </a:solidFill>
                </a:endParaRPr>
              </a:p>
            </p:txBody>
          </p:sp>
        </mc:Choice>
        <mc:Fallback xmlns="">
          <p:sp>
            <p:nvSpPr>
              <p:cNvPr id="7" name="Tekstvak 6">
                <a:extLst>
                  <a:ext uri="{FF2B5EF4-FFF2-40B4-BE49-F238E27FC236}">
                    <a16:creationId xmlns:a16="http://schemas.microsoft.com/office/drawing/2014/main" id="{9B799E7C-4040-2D84-846F-86E7B0498199}"/>
                  </a:ext>
                </a:extLst>
              </p:cNvPr>
              <p:cNvSpPr txBox="1">
                <a:spLocks noRot="1" noChangeAspect="1" noMove="1" noResize="1" noEditPoints="1" noAdjustHandles="1" noChangeArrowheads="1" noChangeShapeType="1" noTextEdit="1"/>
              </p:cNvSpPr>
              <p:nvPr/>
            </p:nvSpPr>
            <p:spPr>
              <a:xfrm>
                <a:off x="838200" y="3314208"/>
                <a:ext cx="5796810" cy="1170320"/>
              </a:xfrm>
              <a:prstGeom prst="rect">
                <a:avLst/>
              </a:prstGeom>
              <a:blipFill>
                <a:blip r:embed="rId3"/>
                <a:stretch>
                  <a:fillRect b="-7527"/>
                </a:stretch>
              </a:blipFill>
            </p:spPr>
            <p:txBody>
              <a:bodyPr/>
              <a:lstStyle/>
              <a:p>
                <a:r>
                  <a:rPr lang="en-US">
                    <a:noFill/>
                  </a:rPr>
                  <a:t> </a:t>
                </a:r>
              </a:p>
            </p:txBody>
          </p:sp>
        </mc:Fallback>
      </mc:AlternateContent>
      <p:sp>
        <p:nvSpPr>
          <p:cNvPr id="15" name="Tijdelijke aanduiding voor tekst 1">
            <a:extLst>
              <a:ext uri="{FF2B5EF4-FFF2-40B4-BE49-F238E27FC236}">
                <a16:creationId xmlns:a16="http://schemas.microsoft.com/office/drawing/2014/main" id="{36ED79BB-2EB2-AD82-24EE-70AB277BE433}"/>
              </a:ext>
            </a:extLst>
          </p:cNvPr>
          <p:cNvSpPr>
            <a:spLocks noGrp="1"/>
          </p:cNvSpPr>
          <p:nvPr>
            <p:ph type="body" sz="quarter" idx="11"/>
          </p:nvPr>
        </p:nvSpPr>
        <p:spPr>
          <a:xfrm>
            <a:off x="838200" y="1925638"/>
            <a:ext cx="10421679" cy="700821"/>
          </a:xfrm>
        </p:spPr>
        <p:txBody>
          <a:bodyPr>
            <a:normAutofit/>
          </a:bodyPr>
          <a:lstStyle/>
          <a:p>
            <a:pPr marL="0" indent="0">
              <a:buNone/>
            </a:pPr>
            <a:r>
              <a:rPr lang="en-US" sz="1800" dirty="0"/>
              <a:t>Conditional probability of event A given event B is the joint probability of event A and B divided by the probability of event B (normalizing).</a:t>
            </a:r>
          </a:p>
          <a:p>
            <a:endParaRPr lang="en-US" sz="1800" dirty="0"/>
          </a:p>
        </p:txBody>
      </p:sp>
      <p:sp>
        <p:nvSpPr>
          <p:cNvPr id="16" name="Ovaal 15">
            <a:extLst>
              <a:ext uri="{FF2B5EF4-FFF2-40B4-BE49-F238E27FC236}">
                <a16:creationId xmlns:a16="http://schemas.microsoft.com/office/drawing/2014/main" id="{82C18AD1-5161-C770-C472-C215ADCE0C47}"/>
              </a:ext>
            </a:extLst>
          </p:cNvPr>
          <p:cNvSpPr/>
          <p:nvPr/>
        </p:nvSpPr>
        <p:spPr>
          <a:xfrm>
            <a:off x="7685312" y="35107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7" name="Ovaal 16">
            <a:extLst>
              <a:ext uri="{FF2B5EF4-FFF2-40B4-BE49-F238E27FC236}">
                <a16:creationId xmlns:a16="http://schemas.microsoft.com/office/drawing/2014/main" id="{A5D64597-5D50-98E1-4A7D-CF1A3365DBFE}"/>
              </a:ext>
            </a:extLst>
          </p:cNvPr>
          <p:cNvSpPr/>
          <p:nvPr/>
        </p:nvSpPr>
        <p:spPr>
          <a:xfrm>
            <a:off x="8954196" y="35107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 name="Tekstvak 1">
            <a:extLst>
              <a:ext uri="{FF2B5EF4-FFF2-40B4-BE49-F238E27FC236}">
                <a16:creationId xmlns:a16="http://schemas.microsoft.com/office/drawing/2014/main" id="{C36E803A-EE72-E363-E7D1-A4176AF136D2}"/>
              </a:ext>
            </a:extLst>
          </p:cNvPr>
          <p:cNvSpPr txBox="1"/>
          <p:nvPr/>
        </p:nvSpPr>
        <p:spPr>
          <a:xfrm>
            <a:off x="8763000" y="365129"/>
            <a:ext cx="2876550" cy="369332"/>
          </a:xfrm>
          <a:prstGeom prst="rect">
            <a:avLst/>
          </a:prstGeom>
          <a:solidFill>
            <a:schemeClr val="accent4"/>
          </a:solidFill>
        </p:spPr>
        <p:txBody>
          <a:bodyPr wrap="square" rtlCol="0">
            <a:spAutoFit/>
          </a:bodyPr>
          <a:lstStyle/>
          <a:p>
            <a:pPr algn="ctr"/>
            <a:r>
              <a:rPr lang="en-US" dirty="0"/>
              <a:t>Intermezzo: probability</a:t>
            </a:r>
          </a:p>
        </p:txBody>
      </p:sp>
    </p:spTree>
    <p:extLst>
      <p:ext uri="{BB962C8B-B14F-4D97-AF65-F5344CB8AC3E}">
        <p14:creationId xmlns:p14="http://schemas.microsoft.com/office/powerpoint/2010/main" val="886321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BD70-4F55-5491-E229-BEADFF5414F4}"/>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2AE75FE5-F84E-3985-0D4D-0287C2141973}"/>
              </a:ext>
            </a:extLst>
          </p:cNvPr>
          <p:cNvSpPr>
            <a:spLocks noGrp="1"/>
          </p:cNvSpPr>
          <p:nvPr>
            <p:ph type="sldNum" sz="quarter" idx="12"/>
          </p:nvPr>
        </p:nvSpPr>
        <p:spPr/>
        <p:txBody>
          <a:bodyPr/>
          <a:lstStyle/>
          <a:p>
            <a:fld id="{FACE7509-F60A-4509-9491-CD4ED7B54EDD}" type="slidenum">
              <a:rPr lang="nl-NL" smtClean="0"/>
              <a:pPr/>
              <a:t>11</a:t>
            </a:fld>
            <a:endParaRPr lang="nl-NL"/>
          </a:p>
        </p:txBody>
      </p:sp>
      <p:sp>
        <p:nvSpPr>
          <p:cNvPr id="4" name="Titel 3">
            <a:extLst>
              <a:ext uri="{FF2B5EF4-FFF2-40B4-BE49-F238E27FC236}">
                <a16:creationId xmlns:a16="http://schemas.microsoft.com/office/drawing/2014/main" id="{188846BB-E768-E379-6F82-FA80F4C85F15}"/>
              </a:ext>
            </a:extLst>
          </p:cNvPr>
          <p:cNvSpPr>
            <a:spLocks noGrp="1"/>
          </p:cNvSpPr>
          <p:nvPr>
            <p:ph type="title"/>
          </p:nvPr>
        </p:nvSpPr>
        <p:spPr/>
        <p:txBody>
          <a:bodyPr/>
          <a:lstStyle/>
          <a:p>
            <a:r>
              <a:rPr lang="en-US" dirty="0"/>
              <a:t>2. Bayes theorem</a:t>
            </a:r>
          </a:p>
        </p:txBody>
      </p:sp>
      <p:sp>
        <p:nvSpPr>
          <p:cNvPr id="10" name="Ovaal 9">
            <a:extLst>
              <a:ext uri="{FF2B5EF4-FFF2-40B4-BE49-F238E27FC236}">
                <a16:creationId xmlns:a16="http://schemas.microsoft.com/office/drawing/2014/main" id="{54F09EF0-A868-4B50-3275-3519BC0CA5C0}"/>
              </a:ext>
            </a:extLst>
          </p:cNvPr>
          <p:cNvSpPr/>
          <p:nvPr/>
        </p:nvSpPr>
        <p:spPr>
          <a:xfrm>
            <a:off x="8085491" y="39679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 name="Ovaal 10">
            <a:extLst>
              <a:ext uri="{FF2B5EF4-FFF2-40B4-BE49-F238E27FC236}">
                <a16:creationId xmlns:a16="http://schemas.microsoft.com/office/drawing/2014/main" id="{63DA4C54-D4CC-00BF-C847-161C31184BB4}"/>
              </a:ext>
            </a:extLst>
          </p:cNvPr>
          <p:cNvSpPr/>
          <p:nvPr/>
        </p:nvSpPr>
        <p:spPr>
          <a:xfrm>
            <a:off x="10051060" y="39679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5" name="Tekstvak 14">
            <a:extLst>
              <a:ext uri="{FF2B5EF4-FFF2-40B4-BE49-F238E27FC236}">
                <a16:creationId xmlns:a16="http://schemas.microsoft.com/office/drawing/2014/main" id="{33C63239-283A-4CEE-0862-37DA192E3FFB}"/>
              </a:ext>
            </a:extLst>
          </p:cNvPr>
          <p:cNvSpPr txBox="1"/>
          <p:nvPr/>
        </p:nvSpPr>
        <p:spPr>
          <a:xfrm>
            <a:off x="838200" y="1964112"/>
            <a:ext cx="10208617" cy="1477328"/>
          </a:xfrm>
          <a:prstGeom prst="rect">
            <a:avLst/>
          </a:prstGeom>
          <a:noFill/>
        </p:spPr>
        <p:txBody>
          <a:bodyPr wrap="square" rtlCol="0">
            <a:spAutoFit/>
          </a:bodyPr>
          <a:lstStyle/>
          <a:p>
            <a:r>
              <a:rPr lang="en-US" dirty="0"/>
              <a:t>Conditional probability: The probability of A if B is True.</a:t>
            </a:r>
          </a:p>
          <a:p>
            <a:endParaRPr lang="en-US" dirty="0"/>
          </a:p>
          <a:p>
            <a:r>
              <a:rPr lang="en-US" dirty="0"/>
              <a:t>Suppose p(A) = 0.5 and p(B) is 0.7, what is p(A|B)?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23" name="Ovaal 22">
            <a:extLst>
              <a:ext uri="{FF2B5EF4-FFF2-40B4-BE49-F238E27FC236}">
                <a16:creationId xmlns:a16="http://schemas.microsoft.com/office/drawing/2014/main" id="{7EA293B0-BFE0-B17A-463E-22FD67760B72}"/>
              </a:ext>
            </a:extLst>
          </p:cNvPr>
          <p:cNvSpPr/>
          <p:nvPr/>
        </p:nvSpPr>
        <p:spPr>
          <a:xfrm>
            <a:off x="4612503" y="39679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4" name="Ovaal 23">
            <a:extLst>
              <a:ext uri="{FF2B5EF4-FFF2-40B4-BE49-F238E27FC236}">
                <a16:creationId xmlns:a16="http://schemas.microsoft.com/office/drawing/2014/main" id="{819052C5-75DB-5996-F367-86343148B878}"/>
              </a:ext>
            </a:extLst>
          </p:cNvPr>
          <p:cNvSpPr/>
          <p:nvPr/>
        </p:nvSpPr>
        <p:spPr>
          <a:xfrm>
            <a:off x="5881387" y="39679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5" name="Ovaal 24">
            <a:extLst>
              <a:ext uri="{FF2B5EF4-FFF2-40B4-BE49-F238E27FC236}">
                <a16:creationId xmlns:a16="http://schemas.microsoft.com/office/drawing/2014/main" id="{2C8A994F-AD9A-7F11-838F-EB56527CC8E9}"/>
              </a:ext>
            </a:extLst>
          </p:cNvPr>
          <p:cNvSpPr/>
          <p:nvPr/>
        </p:nvSpPr>
        <p:spPr>
          <a:xfrm>
            <a:off x="1041260" y="39679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6" name="Ovaal 25">
            <a:extLst>
              <a:ext uri="{FF2B5EF4-FFF2-40B4-BE49-F238E27FC236}">
                <a16:creationId xmlns:a16="http://schemas.microsoft.com/office/drawing/2014/main" id="{FF2FF5F5-45FE-B2A6-DE91-422C6F9A3E4A}"/>
              </a:ext>
            </a:extLst>
          </p:cNvPr>
          <p:cNvSpPr/>
          <p:nvPr/>
        </p:nvSpPr>
        <p:spPr>
          <a:xfrm>
            <a:off x="1893764" y="39679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9" name="Tekstvak 28">
            <a:extLst>
              <a:ext uri="{FF2B5EF4-FFF2-40B4-BE49-F238E27FC236}">
                <a16:creationId xmlns:a16="http://schemas.microsoft.com/office/drawing/2014/main" id="{37E068FA-3198-592A-8E38-FA46E9F9D57E}"/>
              </a:ext>
            </a:extLst>
          </p:cNvPr>
          <p:cNvSpPr txBox="1"/>
          <p:nvPr/>
        </p:nvSpPr>
        <p:spPr>
          <a:xfrm>
            <a:off x="1412278" y="5735104"/>
            <a:ext cx="1679265" cy="369332"/>
          </a:xfrm>
          <a:prstGeom prst="rect">
            <a:avLst/>
          </a:prstGeom>
          <a:noFill/>
        </p:spPr>
        <p:txBody>
          <a:bodyPr wrap="square" rtlCol="0">
            <a:spAutoFit/>
          </a:bodyPr>
          <a:lstStyle/>
          <a:p>
            <a:r>
              <a:rPr lang="en-US" dirty="0"/>
              <a:t>p(A ∩ B) = 0.5</a:t>
            </a:r>
          </a:p>
        </p:txBody>
      </p:sp>
      <p:sp>
        <p:nvSpPr>
          <p:cNvPr id="32" name="Tekstvak 31">
            <a:extLst>
              <a:ext uri="{FF2B5EF4-FFF2-40B4-BE49-F238E27FC236}">
                <a16:creationId xmlns:a16="http://schemas.microsoft.com/office/drawing/2014/main" id="{540D9998-40A7-26D2-7661-FF87E43CAE1D}"/>
              </a:ext>
            </a:extLst>
          </p:cNvPr>
          <p:cNvSpPr txBox="1"/>
          <p:nvPr/>
        </p:nvSpPr>
        <p:spPr>
          <a:xfrm>
            <a:off x="5223710" y="5767393"/>
            <a:ext cx="1873776" cy="369332"/>
          </a:xfrm>
          <a:prstGeom prst="rect">
            <a:avLst/>
          </a:prstGeom>
          <a:noFill/>
        </p:spPr>
        <p:txBody>
          <a:bodyPr wrap="square" rtlCol="0">
            <a:spAutoFit/>
          </a:bodyPr>
          <a:lstStyle/>
          <a:p>
            <a:r>
              <a:rPr lang="en-US" dirty="0"/>
              <a:t>p(A ∩ B)  = 0.25</a:t>
            </a:r>
          </a:p>
        </p:txBody>
      </p:sp>
      <p:sp>
        <p:nvSpPr>
          <p:cNvPr id="33" name="Tekstvak 32">
            <a:extLst>
              <a:ext uri="{FF2B5EF4-FFF2-40B4-BE49-F238E27FC236}">
                <a16:creationId xmlns:a16="http://schemas.microsoft.com/office/drawing/2014/main" id="{6CDF491F-9122-1346-F91F-28866EB44EE2}"/>
              </a:ext>
            </a:extLst>
          </p:cNvPr>
          <p:cNvSpPr txBox="1"/>
          <p:nvPr/>
        </p:nvSpPr>
        <p:spPr>
          <a:xfrm>
            <a:off x="9211427" y="5729204"/>
            <a:ext cx="1679265" cy="369332"/>
          </a:xfrm>
          <a:prstGeom prst="rect">
            <a:avLst/>
          </a:prstGeom>
          <a:noFill/>
        </p:spPr>
        <p:txBody>
          <a:bodyPr wrap="square" rtlCol="0">
            <a:spAutoFit/>
          </a:bodyPr>
          <a:lstStyle/>
          <a:p>
            <a:r>
              <a:rPr lang="en-US" dirty="0"/>
              <a:t>p(A ∩ B) = 0</a:t>
            </a:r>
          </a:p>
        </p:txBody>
      </p:sp>
      <mc:AlternateContent xmlns:mc="http://schemas.openxmlformats.org/markup-compatibility/2006" xmlns:a14="http://schemas.microsoft.com/office/drawing/2010/main">
        <mc:Choice Requires="a14">
          <p:sp>
            <p:nvSpPr>
              <p:cNvPr id="37" name="Tekstvak 36">
                <a:extLst>
                  <a:ext uri="{FF2B5EF4-FFF2-40B4-BE49-F238E27FC236}">
                    <a16:creationId xmlns:a16="http://schemas.microsoft.com/office/drawing/2014/main" id="{700D0BCA-5653-2A06-DC16-75373A80D2D8}"/>
                  </a:ext>
                </a:extLst>
              </p:cNvPr>
              <p:cNvSpPr txBox="1"/>
              <p:nvPr/>
            </p:nvSpPr>
            <p:spPr>
              <a:xfrm>
                <a:off x="8014530" y="1326697"/>
                <a:ext cx="3339270" cy="1183401"/>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d>
                        <m:dPr>
                          <m:ctrlPr>
                            <a:rPr lang="nl-NL" sz="2500" i="1">
                              <a:solidFill>
                                <a:schemeClr val="tx1"/>
                              </a:solidFill>
                              <a:latin typeface="Cambria Math" panose="02040503050406030204" pitchFamily="18" charset="0"/>
                            </a:rPr>
                          </m:ctrlPr>
                        </m:dPr>
                        <m:e>
                          <m:r>
                            <a:rPr lang="nl-NL" sz="2500" i="1">
                              <a:solidFill>
                                <a:schemeClr val="tx1"/>
                              </a:solidFill>
                              <a:latin typeface="Cambria Math" panose="02040503050406030204" pitchFamily="18" charset="0"/>
                            </a:rPr>
                            <m:t>𝐴</m:t>
                          </m:r>
                        </m:e>
                        <m:e>
                          <m:r>
                            <a:rPr lang="nl-NL" sz="2500" i="1">
                              <a:solidFill>
                                <a:schemeClr val="tx1"/>
                              </a:solidFill>
                              <a:latin typeface="Cambria Math" panose="02040503050406030204" pitchFamily="18" charset="0"/>
                            </a:rPr>
                            <m:t>𝐵</m:t>
                          </m:r>
                        </m:e>
                      </m:d>
                      <m:r>
                        <a:rPr lang="nl-NL" sz="2500" i="1">
                          <a:solidFill>
                            <a:schemeClr val="tx1"/>
                          </a:solidFill>
                          <a:latin typeface="Cambria Math" panose="02040503050406030204" pitchFamily="18" charset="0"/>
                        </a:rPr>
                        <m:t>=</m:t>
                      </m:r>
                      <m:f>
                        <m:fPr>
                          <m:ctrlPr>
                            <a:rPr lang="nl-NL" sz="2500" i="1">
                              <a:solidFill>
                                <a:schemeClr val="tx1"/>
                              </a:solidFill>
                              <a:latin typeface="Cambria Math" panose="02040503050406030204" pitchFamily="18" charset="0"/>
                            </a:rPr>
                          </m:ctrlPr>
                        </m:fPr>
                        <m:num>
                          <m:r>
                            <a:rPr lang="nl-NL" sz="2500" i="1" smtClean="0">
                              <a:solidFill>
                                <a:srgbClr val="00B050"/>
                              </a:solidFill>
                              <a:latin typeface="Cambria Math" panose="02040503050406030204" pitchFamily="18" charset="0"/>
                            </a:rPr>
                            <m:t>𝑝</m:t>
                          </m:r>
                          <m:r>
                            <a:rPr lang="nl-NL" sz="2500" i="1" smtClean="0">
                              <a:solidFill>
                                <a:srgbClr val="00B050"/>
                              </a:solidFill>
                              <a:latin typeface="Cambria Math" panose="02040503050406030204" pitchFamily="18" charset="0"/>
                            </a:rPr>
                            <m:t>(</m:t>
                          </m:r>
                          <m:r>
                            <m:rPr>
                              <m:nor/>
                            </m:rPr>
                            <a:rPr lang="nl-NL" sz="2500" b="0" i="0" smtClean="0">
                              <a:solidFill>
                                <a:srgbClr val="00B050"/>
                              </a:solidFill>
                              <a:latin typeface="Cambria Math" panose="02040503050406030204" pitchFamily="18" charset="0"/>
                            </a:rPr>
                            <m:t>A</m:t>
                          </m:r>
                          <m:r>
                            <m:rPr>
                              <m:nor/>
                            </m:rPr>
                            <a:rPr lang="nl-NL" sz="2500" b="0" i="0" smtClean="0">
                              <a:solidFill>
                                <a:srgbClr val="00B050"/>
                              </a:solidFill>
                              <a:latin typeface="Cambria Math" panose="02040503050406030204" pitchFamily="18" charset="0"/>
                            </a:rPr>
                            <m:t> </m:t>
                          </m:r>
                          <m:r>
                            <m:rPr>
                              <m:nor/>
                            </m:rPr>
                            <a:rPr lang="en-US" sz="2800" dirty="0">
                              <a:solidFill>
                                <a:srgbClr val="00B050"/>
                              </a:solidFill>
                            </a:rPr>
                            <m:t>∩</m:t>
                          </m:r>
                          <m:r>
                            <m:rPr>
                              <m:nor/>
                            </m:rPr>
                            <a:rPr lang="nl-NL" sz="2800" b="0" i="0" dirty="0" smtClean="0">
                              <a:solidFill>
                                <a:srgbClr val="00B050"/>
                              </a:solidFill>
                            </a:rPr>
                            <m:t> </m:t>
                          </m:r>
                          <m:r>
                            <a:rPr lang="nl-NL" sz="2500" i="1">
                              <a:solidFill>
                                <a:srgbClr val="00B050"/>
                              </a:solidFill>
                              <a:latin typeface="Cambria Math" panose="02040503050406030204" pitchFamily="18" charset="0"/>
                            </a:rPr>
                            <m:t>𝐵</m:t>
                          </m:r>
                          <m:r>
                            <a:rPr lang="nl-NL" sz="2500" i="1" smtClean="0">
                              <a:solidFill>
                                <a:srgbClr val="00B050"/>
                              </a:solidFill>
                              <a:latin typeface="Cambria Math" panose="02040503050406030204" pitchFamily="18" charset="0"/>
                            </a:rPr>
                            <m:t>)</m:t>
                          </m:r>
                        </m:num>
                        <m:den>
                          <m:r>
                            <a:rPr lang="nl-NL" sz="2500" i="1" smtClean="0">
                              <a:solidFill>
                                <a:srgbClr val="92D050"/>
                              </a:solidFill>
                              <a:latin typeface="Cambria Math" panose="02040503050406030204" pitchFamily="18" charset="0"/>
                            </a:rPr>
                            <m:t>𝑝</m:t>
                          </m:r>
                          <m:r>
                            <a:rPr lang="nl-NL" sz="2500" i="1" smtClean="0">
                              <a:solidFill>
                                <a:srgbClr val="92D050"/>
                              </a:solidFill>
                              <a:latin typeface="Cambria Math" panose="02040503050406030204" pitchFamily="18" charset="0"/>
                            </a:rPr>
                            <m:t>(</m:t>
                          </m:r>
                          <m:r>
                            <a:rPr lang="nl-NL" sz="2500" b="0" i="1" smtClean="0">
                              <a:solidFill>
                                <a:srgbClr val="92D050"/>
                              </a:solidFill>
                              <a:latin typeface="Cambria Math" panose="02040503050406030204" pitchFamily="18" charset="0"/>
                            </a:rPr>
                            <m:t>𝐵</m:t>
                          </m:r>
                          <m:r>
                            <a:rPr lang="nl-NL" sz="2500" b="0" i="1" smtClean="0">
                              <a:solidFill>
                                <a:srgbClr val="92D050"/>
                              </a:solidFill>
                              <a:latin typeface="Cambria Math" panose="02040503050406030204" pitchFamily="18" charset="0"/>
                            </a:rPr>
                            <m:t>)</m:t>
                          </m:r>
                        </m:den>
                      </m:f>
                    </m:oMath>
                  </m:oMathPara>
                </a14:m>
                <a:endParaRPr lang="en-US" sz="2500" dirty="0">
                  <a:solidFill>
                    <a:schemeClr val="tx1"/>
                  </a:solidFill>
                </a:endParaRPr>
              </a:p>
            </p:txBody>
          </p:sp>
        </mc:Choice>
        <mc:Fallback xmlns="">
          <p:sp>
            <p:nvSpPr>
              <p:cNvPr id="37" name="Tekstvak 36">
                <a:extLst>
                  <a:ext uri="{FF2B5EF4-FFF2-40B4-BE49-F238E27FC236}">
                    <a16:creationId xmlns:a16="http://schemas.microsoft.com/office/drawing/2014/main" id="{700D0BCA-5653-2A06-DC16-75373A80D2D8}"/>
                  </a:ext>
                </a:extLst>
              </p:cNvPr>
              <p:cNvSpPr txBox="1">
                <a:spLocks noRot="1" noChangeAspect="1" noMove="1" noResize="1" noEditPoints="1" noAdjustHandles="1" noChangeArrowheads="1" noChangeShapeType="1" noTextEdit="1"/>
              </p:cNvSpPr>
              <p:nvPr/>
            </p:nvSpPr>
            <p:spPr>
              <a:xfrm>
                <a:off x="8014530" y="1326697"/>
                <a:ext cx="3339270" cy="1183401"/>
              </a:xfrm>
              <a:prstGeom prst="rect">
                <a:avLst/>
              </a:prstGeom>
              <a:blipFill>
                <a:blip r:embed="rId3"/>
                <a:stretch>
                  <a:fillRect b="-7447"/>
                </a:stretch>
              </a:blipFill>
            </p:spPr>
            <p:txBody>
              <a:bodyPr/>
              <a:lstStyle/>
              <a:p>
                <a:r>
                  <a:rPr lang="en-US">
                    <a:noFill/>
                  </a:rPr>
                  <a:t> </a:t>
                </a:r>
              </a:p>
            </p:txBody>
          </p:sp>
        </mc:Fallback>
      </mc:AlternateContent>
      <p:sp>
        <p:nvSpPr>
          <p:cNvPr id="39" name="Tekstvak 38">
            <a:extLst>
              <a:ext uri="{FF2B5EF4-FFF2-40B4-BE49-F238E27FC236}">
                <a16:creationId xmlns:a16="http://schemas.microsoft.com/office/drawing/2014/main" id="{852721F8-A15F-C1B8-6990-BE047DE48009}"/>
              </a:ext>
            </a:extLst>
          </p:cNvPr>
          <p:cNvSpPr txBox="1"/>
          <p:nvPr/>
        </p:nvSpPr>
        <p:spPr>
          <a:xfrm>
            <a:off x="9377665" y="1042800"/>
            <a:ext cx="1881800" cy="369332"/>
          </a:xfrm>
          <a:prstGeom prst="rect">
            <a:avLst/>
          </a:prstGeom>
          <a:noFill/>
        </p:spPr>
        <p:txBody>
          <a:bodyPr wrap="square" rtlCol="0">
            <a:spAutoFit/>
          </a:bodyPr>
          <a:lstStyle/>
          <a:p>
            <a:r>
              <a:rPr lang="en-US" dirty="0">
                <a:solidFill>
                  <a:srgbClr val="00B050"/>
                </a:solidFill>
              </a:rPr>
              <a:t>Joint probability</a:t>
            </a:r>
          </a:p>
        </p:txBody>
      </p:sp>
      <p:sp>
        <p:nvSpPr>
          <p:cNvPr id="41" name="Tekstvak 40">
            <a:extLst>
              <a:ext uri="{FF2B5EF4-FFF2-40B4-BE49-F238E27FC236}">
                <a16:creationId xmlns:a16="http://schemas.microsoft.com/office/drawing/2014/main" id="{2595A27A-7568-D6C0-7492-C638F1903C70}"/>
              </a:ext>
            </a:extLst>
          </p:cNvPr>
          <p:cNvSpPr txBox="1"/>
          <p:nvPr/>
        </p:nvSpPr>
        <p:spPr>
          <a:xfrm>
            <a:off x="9330666" y="2596177"/>
            <a:ext cx="2425402" cy="369332"/>
          </a:xfrm>
          <a:prstGeom prst="rect">
            <a:avLst/>
          </a:prstGeom>
          <a:noFill/>
        </p:spPr>
        <p:txBody>
          <a:bodyPr wrap="square" rtlCol="0">
            <a:spAutoFit/>
          </a:bodyPr>
          <a:lstStyle/>
          <a:p>
            <a:r>
              <a:rPr lang="en-US" dirty="0">
                <a:solidFill>
                  <a:srgbClr val="92D050"/>
                </a:solidFill>
              </a:rPr>
              <a:t>Marginal probability</a:t>
            </a:r>
          </a:p>
        </p:txBody>
      </p:sp>
      <p:sp>
        <p:nvSpPr>
          <p:cNvPr id="46" name="Tekstvak 45">
            <a:extLst>
              <a:ext uri="{FF2B5EF4-FFF2-40B4-BE49-F238E27FC236}">
                <a16:creationId xmlns:a16="http://schemas.microsoft.com/office/drawing/2014/main" id="{9296875B-54DB-34BD-993B-F67DD6523902}"/>
              </a:ext>
            </a:extLst>
          </p:cNvPr>
          <p:cNvSpPr txBox="1"/>
          <p:nvPr/>
        </p:nvSpPr>
        <p:spPr>
          <a:xfrm>
            <a:off x="6898484" y="1747264"/>
            <a:ext cx="1589778" cy="646331"/>
          </a:xfrm>
          <a:prstGeom prst="rect">
            <a:avLst/>
          </a:prstGeom>
          <a:noFill/>
        </p:spPr>
        <p:txBody>
          <a:bodyPr wrap="square" rtlCol="0">
            <a:spAutoFit/>
          </a:bodyPr>
          <a:lstStyle/>
          <a:p>
            <a:r>
              <a:rPr lang="en-US" dirty="0"/>
              <a:t>Conditional probability</a:t>
            </a:r>
          </a:p>
        </p:txBody>
      </p:sp>
      <p:sp>
        <p:nvSpPr>
          <p:cNvPr id="2" name="Tekstvak 1">
            <a:extLst>
              <a:ext uri="{FF2B5EF4-FFF2-40B4-BE49-F238E27FC236}">
                <a16:creationId xmlns:a16="http://schemas.microsoft.com/office/drawing/2014/main" id="{9162B8FC-3D18-3097-4006-67BAE8D62150}"/>
              </a:ext>
            </a:extLst>
          </p:cNvPr>
          <p:cNvSpPr txBox="1"/>
          <p:nvPr/>
        </p:nvSpPr>
        <p:spPr>
          <a:xfrm>
            <a:off x="8763000" y="365129"/>
            <a:ext cx="2876550" cy="369332"/>
          </a:xfrm>
          <a:prstGeom prst="rect">
            <a:avLst/>
          </a:prstGeom>
          <a:solidFill>
            <a:schemeClr val="accent4"/>
          </a:solidFill>
        </p:spPr>
        <p:txBody>
          <a:bodyPr wrap="square" rtlCol="0">
            <a:spAutoFit/>
          </a:bodyPr>
          <a:lstStyle/>
          <a:p>
            <a:pPr algn="ctr"/>
            <a:r>
              <a:rPr lang="en-US" dirty="0"/>
              <a:t>Intermezzo: probability</a:t>
            </a:r>
          </a:p>
        </p:txBody>
      </p:sp>
    </p:spTree>
    <p:extLst>
      <p:ext uri="{BB962C8B-B14F-4D97-AF65-F5344CB8AC3E}">
        <p14:creationId xmlns:p14="http://schemas.microsoft.com/office/powerpoint/2010/main" val="236557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94121-A341-FB8E-999A-163D559B7F11}"/>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558F6E8B-DC67-EFD7-01A2-456A1F37857F}"/>
              </a:ext>
            </a:extLst>
          </p:cNvPr>
          <p:cNvSpPr>
            <a:spLocks noGrp="1"/>
          </p:cNvSpPr>
          <p:nvPr>
            <p:ph type="sldNum" sz="quarter" idx="12"/>
          </p:nvPr>
        </p:nvSpPr>
        <p:spPr/>
        <p:txBody>
          <a:bodyPr/>
          <a:lstStyle/>
          <a:p>
            <a:fld id="{FACE7509-F60A-4509-9491-CD4ED7B54EDD}" type="slidenum">
              <a:rPr lang="nl-NL" smtClean="0"/>
              <a:pPr/>
              <a:t>12</a:t>
            </a:fld>
            <a:endParaRPr lang="nl-NL"/>
          </a:p>
        </p:txBody>
      </p:sp>
      <p:sp>
        <p:nvSpPr>
          <p:cNvPr id="4" name="Titel 3">
            <a:extLst>
              <a:ext uri="{FF2B5EF4-FFF2-40B4-BE49-F238E27FC236}">
                <a16:creationId xmlns:a16="http://schemas.microsoft.com/office/drawing/2014/main" id="{F231EAE7-4774-2EAE-7F2B-FC046DA8EF6F}"/>
              </a:ext>
            </a:extLst>
          </p:cNvPr>
          <p:cNvSpPr>
            <a:spLocks noGrp="1"/>
          </p:cNvSpPr>
          <p:nvPr>
            <p:ph type="title"/>
          </p:nvPr>
        </p:nvSpPr>
        <p:spPr/>
        <p:txBody>
          <a:bodyPr/>
          <a:lstStyle/>
          <a:p>
            <a:r>
              <a:rPr lang="en-US" dirty="0"/>
              <a:t>2. Bayesian Theorem</a:t>
            </a:r>
          </a:p>
        </p:txBody>
      </p:sp>
      <p:sp>
        <p:nvSpPr>
          <p:cNvPr id="15" name="Tekstvak 14">
            <a:extLst>
              <a:ext uri="{FF2B5EF4-FFF2-40B4-BE49-F238E27FC236}">
                <a16:creationId xmlns:a16="http://schemas.microsoft.com/office/drawing/2014/main" id="{59F6FA3B-877A-BFBA-304A-9C8E6890CACD}"/>
              </a:ext>
            </a:extLst>
          </p:cNvPr>
          <p:cNvSpPr txBox="1"/>
          <p:nvPr/>
        </p:nvSpPr>
        <p:spPr>
          <a:xfrm>
            <a:off x="696278" y="1972140"/>
            <a:ext cx="10208617" cy="5078313"/>
          </a:xfrm>
          <a:prstGeom prst="rect">
            <a:avLst/>
          </a:prstGeom>
          <a:noFill/>
        </p:spPr>
        <p:txBody>
          <a:bodyPr wrap="square" rtlCol="0">
            <a:spAutoFit/>
          </a:bodyPr>
          <a:lstStyle/>
          <a:p>
            <a:r>
              <a:rPr lang="en-US" dirty="0"/>
              <a:t>Marginal: The probability of B summed over all possible values of A.</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Suppose B and A are binary, what is p(B)?</a:t>
            </a:r>
          </a:p>
          <a:p>
            <a:pPr marL="285750" indent="-285750">
              <a:buFont typeface="Arial" panose="020B0604020202020204" pitchFamily="34" charset="0"/>
              <a:buChar char="•"/>
            </a:pPr>
            <a:r>
              <a:rPr lang="en-US" dirty="0"/>
              <a:t>p(B|A=1) = 0.4</a:t>
            </a:r>
          </a:p>
          <a:p>
            <a:pPr marL="285750" indent="-285750">
              <a:buFont typeface="Arial" panose="020B0604020202020204" pitchFamily="34" charset="0"/>
              <a:buChar char="•"/>
            </a:pPr>
            <a:r>
              <a:rPr lang="en-US" dirty="0"/>
              <a:t>p(B|A=0) = 0.3</a:t>
            </a:r>
          </a:p>
          <a:p>
            <a:pPr marL="285750" indent="-285750">
              <a:buFont typeface="Arial" panose="020B0604020202020204" pitchFamily="34" charset="0"/>
              <a:buChar char="•"/>
            </a:pPr>
            <a:r>
              <a:rPr lang="en-US" dirty="0"/>
              <a:t>p(A) = 0.5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endParaRPr lang="en-US" dirty="0"/>
          </a:p>
        </p:txBody>
      </p:sp>
      <mc:AlternateContent xmlns:mc="http://schemas.openxmlformats.org/markup-compatibility/2006" xmlns:a14="http://schemas.microsoft.com/office/drawing/2010/main">
        <mc:Choice Requires="a14">
          <p:sp>
            <p:nvSpPr>
              <p:cNvPr id="37" name="Tekstvak 36">
                <a:extLst>
                  <a:ext uri="{FF2B5EF4-FFF2-40B4-BE49-F238E27FC236}">
                    <a16:creationId xmlns:a16="http://schemas.microsoft.com/office/drawing/2014/main" id="{A04BBFA9-BA05-BA0E-2B58-0F970A0302D1}"/>
                  </a:ext>
                </a:extLst>
              </p:cNvPr>
              <p:cNvSpPr txBox="1"/>
              <p:nvPr/>
            </p:nvSpPr>
            <p:spPr>
              <a:xfrm>
                <a:off x="841897" y="2516343"/>
                <a:ext cx="3339270" cy="1309589"/>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𝐵</m:t>
                      </m:r>
                      <m:r>
                        <a:rPr lang="nl-NL" sz="2500" b="0" i="1" smtClean="0">
                          <a:solidFill>
                            <a:schemeClr val="tx1"/>
                          </a:solidFill>
                          <a:latin typeface="Cambria Math" panose="02040503050406030204" pitchFamily="18" charset="0"/>
                        </a:rPr>
                        <m:t>)=</m:t>
                      </m:r>
                      <m:nary>
                        <m:naryPr>
                          <m:chr m:val="∑"/>
                          <m:supHide m:val="on"/>
                          <m:ctrlPr>
                            <a:rPr lang="nl-NL" sz="2500" i="1" smtClean="0">
                              <a:solidFill>
                                <a:schemeClr val="tx1"/>
                              </a:solidFill>
                              <a:latin typeface="Cambria Math" panose="02040503050406030204" pitchFamily="18" charset="0"/>
                            </a:rPr>
                          </m:ctrlPr>
                        </m:naryPr>
                        <m:sub>
                          <m:r>
                            <m:rPr>
                              <m:brk m:alnAt="7"/>
                            </m:rPr>
                            <a:rPr lang="nl-NL" sz="2500" b="0" i="1" smtClean="0">
                              <a:solidFill>
                                <a:schemeClr val="tx1"/>
                              </a:solidFill>
                              <a:latin typeface="Cambria Math" panose="02040503050406030204" pitchFamily="18" charset="0"/>
                            </a:rPr>
                            <m:t>𝐴</m:t>
                          </m:r>
                        </m:sub>
                        <m:sup/>
                        <m:e>
                          <m:r>
                            <a:rPr lang="nl-NL" sz="2500" b="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𝐵</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𝐴</m:t>
                          </m:r>
                          <m:r>
                            <a:rPr lang="nl-NL" sz="2500" b="0" i="1" smtClean="0">
                              <a:solidFill>
                                <a:schemeClr val="tx1"/>
                              </a:solidFill>
                              <a:latin typeface="Cambria Math" panose="02040503050406030204" pitchFamily="18" charset="0"/>
                            </a:rPr>
                            <m:t>)</m:t>
                          </m:r>
                        </m:e>
                      </m:nary>
                    </m:oMath>
                  </m:oMathPara>
                </a14:m>
                <a:endParaRPr lang="en-US" sz="2500" dirty="0">
                  <a:solidFill>
                    <a:schemeClr val="tx1"/>
                  </a:solidFill>
                </a:endParaRPr>
              </a:p>
            </p:txBody>
          </p:sp>
        </mc:Choice>
        <mc:Fallback xmlns="">
          <p:sp>
            <p:nvSpPr>
              <p:cNvPr id="37" name="Tekstvak 36">
                <a:extLst>
                  <a:ext uri="{FF2B5EF4-FFF2-40B4-BE49-F238E27FC236}">
                    <a16:creationId xmlns:a16="http://schemas.microsoft.com/office/drawing/2014/main" id="{A04BBFA9-BA05-BA0E-2B58-0F970A0302D1}"/>
                  </a:ext>
                </a:extLst>
              </p:cNvPr>
              <p:cNvSpPr txBox="1">
                <a:spLocks noRot="1" noChangeAspect="1" noMove="1" noResize="1" noEditPoints="1" noAdjustHandles="1" noChangeArrowheads="1" noChangeShapeType="1" noTextEdit="1"/>
              </p:cNvSpPr>
              <p:nvPr/>
            </p:nvSpPr>
            <p:spPr>
              <a:xfrm>
                <a:off x="841897" y="2516343"/>
                <a:ext cx="3339270" cy="1309589"/>
              </a:xfrm>
              <a:prstGeom prst="rect">
                <a:avLst/>
              </a:prstGeom>
              <a:blipFill>
                <a:blip r:embed="rId3"/>
                <a:stretch>
                  <a:fillRect t="-82692" b="-141346"/>
                </a:stretch>
              </a:blipFill>
            </p:spPr>
            <p:txBody>
              <a:bodyPr/>
              <a:lstStyle/>
              <a:p>
                <a:r>
                  <a:rPr lang="en-US">
                    <a:noFill/>
                  </a:rPr>
                  <a:t> </a:t>
                </a:r>
              </a:p>
            </p:txBody>
          </p:sp>
        </mc:Fallback>
      </mc:AlternateContent>
      <p:sp>
        <p:nvSpPr>
          <p:cNvPr id="5" name="Ovaal 4">
            <a:extLst>
              <a:ext uri="{FF2B5EF4-FFF2-40B4-BE49-F238E27FC236}">
                <a16:creationId xmlns:a16="http://schemas.microsoft.com/office/drawing/2014/main" id="{674E1CD7-C8B6-8C06-3876-ADE0AF1AE977}"/>
              </a:ext>
            </a:extLst>
          </p:cNvPr>
          <p:cNvSpPr/>
          <p:nvPr/>
        </p:nvSpPr>
        <p:spPr>
          <a:xfrm>
            <a:off x="8100151" y="4230948"/>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Ovaal 5">
            <a:extLst>
              <a:ext uri="{FF2B5EF4-FFF2-40B4-BE49-F238E27FC236}">
                <a16:creationId xmlns:a16="http://schemas.microsoft.com/office/drawing/2014/main" id="{E98E2DD3-C110-7E5A-82B9-E308B4FE304B}"/>
              </a:ext>
            </a:extLst>
          </p:cNvPr>
          <p:cNvSpPr/>
          <p:nvPr/>
        </p:nvSpPr>
        <p:spPr>
          <a:xfrm>
            <a:off x="8952655" y="4230948"/>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55702D6F-796F-2711-1B00-C35757242A1F}"/>
                  </a:ext>
                </a:extLst>
              </p:cNvPr>
              <p:cNvSpPr txBox="1"/>
              <p:nvPr/>
            </p:nvSpPr>
            <p:spPr>
              <a:xfrm>
                <a:off x="3981859" y="2520734"/>
                <a:ext cx="4417460" cy="1300805"/>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𝐵</m:t>
                      </m:r>
                      <m:r>
                        <a:rPr lang="nl-NL" sz="2500" b="0" i="1" smtClean="0">
                          <a:solidFill>
                            <a:schemeClr val="tx1"/>
                          </a:solidFill>
                          <a:latin typeface="Cambria Math" panose="02040503050406030204" pitchFamily="18" charset="0"/>
                        </a:rPr>
                        <m:t>)=</m:t>
                      </m:r>
                      <m:nary>
                        <m:naryPr>
                          <m:chr m:val="∑"/>
                          <m:supHide m:val="on"/>
                          <m:ctrlPr>
                            <a:rPr lang="nl-NL" sz="2500" i="1" smtClean="0">
                              <a:solidFill>
                                <a:schemeClr val="tx1"/>
                              </a:solidFill>
                              <a:latin typeface="Cambria Math" panose="02040503050406030204" pitchFamily="18" charset="0"/>
                            </a:rPr>
                          </m:ctrlPr>
                        </m:naryPr>
                        <m:sub>
                          <m:r>
                            <m:rPr>
                              <m:brk m:alnAt="7"/>
                            </m:rPr>
                            <a:rPr lang="nl-NL" sz="2500" b="0" i="1" smtClean="0">
                              <a:solidFill>
                                <a:schemeClr val="tx1"/>
                              </a:solidFill>
                              <a:latin typeface="Cambria Math" panose="02040503050406030204" pitchFamily="18" charset="0"/>
                            </a:rPr>
                            <m:t>𝐴</m:t>
                          </m:r>
                        </m:sub>
                        <m:sup/>
                        <m:e>
                          <m:r>
                            <a:rPr lang="nl-NL" sz="2500" b="0" i="1" smtClean="0">
                              <a:solidFill>
                                <a:schemeClr val="tx1"/>
                              </a:solidFill>
                              <a:latin typeface="Cambria Math" panose="02040503050406030204" pitchFamily="18" charset="0"/>
                            </a:rPr>
                            <m:t>𝑝</m:t>
                          </m:r>
                          <m:d>
                            <m:dPr>
                              <m:ctrlPr>
                                <a:rPr lang="nl-NL" sz="2500" b="0" i="1" smtClean="0">
                                  <a:solidFill>
                                    <a:schemeClr val="tx1"/>
                                  </a:solidFill>
                                  <a:latin typeface="Cambria Math" panose="02040503050406030204" pitchFamily="18" charset="0"/>
                                </a:rPr>
                              </m:ctrlPr>
                            </m:dPr>
                            <m:e>
                              <m:r>
                                <a:rPr lang="nl-NL" sz="2500" b="0" i="1" smtClean="0">
                                  <a:solidFill>
                                    <a:schemeClr val="tx1"/>
                                  </a:solidFill>
                                  <a:latin typeface="Cambria Math" panose="02040503050406030204" pitchFamily="18" charset="0"/>
                                </a:rPr>
                                <m:t>𝐵</m:t>
                              </m:r>
                            </m:e>
                            <m:e>
                              <m:r>
                                <a:rPr lang="nl-NL" sz="2500" b="0" i="1" smtClean="0">
                                  <a:solidFill>
                                    <a:schemeClr val="tx1"/>
                                  </a:solidFill>
                                  <a:latin typeface="Cambria Math" panose="02040503050406030204" pitchFamily="18" charset="0"/>
                                </a:rPr>
                                <m:t>𝐴</m:t>
                              </m:r>
                            </m:e>
                          </m:d>
                          <m:r>
                            <a:rPr lang="nl-NL" sz="2500" b="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𝐴</m:t>
                          </m:r>
                          <m:r>
                            <a:rPr lang="nl-NL" sz="2500" b="0" i="1" smtClean="0">
                              <a:solidFill>
                                <a:schemeClr val="tx1"/>
                              </a:solidFill>
                              <a:latin typeface="Cambria Math" panose="02040503050406030204" pitchFamily="18" charset="0"/>
                            </a:rPr>
                            <m:t>)</m:t>
                          </m:r>
                        </m:e>
                      </m:nary>
                    </m:oMath>
                  </m:oMathPara>
                </a14:m>
                <a:endParaRPr lang="en-US" sz="2500" dirty="0">
                  <a:solidFill>
                    <a:schemeClr val="tx1"/>
                  </a:solidFill>
                </a:endParaRPr>
              </a:p>
            </p:txBody>
          </p:sp>
        </mc:Choice>
        <mc:Fallback xmlns="">
          <p:sp>
            <p:nvSpPr>
              <p:cNvPr id="9" name="Tekstvak 8">
                <a:extLst>
                  <a:ext uri="{FF2B5EF4-FFF2-40B4-BE49-F238E27FC236}">
                    <a16:creationId xmlns:a16="http://schemas.microsoft.com/office/drawing/2014/main" id="{55702D6F-796F-2711-1B00-C35757242A1F}"/>
                  </a:ext>
                </a:extLst>
              </p:cNvPr>
              <p:cNvSpPr txBox="1">
                <a:spLocks noRot="1" noChangeAspect="1" noMove="1" noResize="1" noEditPoints="1" noAdjustHandles="1" noChangeArrowheads="1" noChangeShapeType="1" noTextEdit="1"/>
              </p:cNvSpPr>
              <p:nvPr/>
            </p:nvSpPr>
            <p:spPr>
              <a:xfrm>
                <a:off x="3981859" y="2520734"/>
                <a:ext cx="4417460" cy="1300805"/>
              </a:xfrm>
              <a:prstGeom prst="rect">
                <a:avLst/>
              </a:prstGeom>
              <a:blipFill>
                <a:blip r:embed="rId4"/>
                <a:stretch>
                  <a:fillRect t="-83495" b="-144660"/>
                </a:stretch>
              </a:blipFill>
            </p:spPr>
            <p:txBody>
              <a:bodyPr/>
              <a:lstStyle/>
              <a:p>
                <a:r>
                  <a:rPr lang="en-US">
                    <a:noFill/>
                  </a:rPr>
                  <a:t> </a:t>
                </a:r>
              </a:p>
            </p:txBody>
          </p:sp>
        </mc:Fallback>
      </mc:AlternateContent>
      <p:sp>
        <p:nvSpPr>
          <p:cNvPr id="2" name="Tekstvak 1">
            <a:extLst>
              <a:ext uri="{FF2B5EF4-FFF2-40B4-BE49-F238E27FC236}">
                <a16:creationId xmlns:a16="http://schemas.microsoft.com/office/drawing/2014/main" id="{548FB2E3-9295-B270-E595-60C66A782F4D}"/>
              </a:ext>
            </a:extLst>
          </p:cNvPr>
          <p:cNvSpPr txBox="1"/>
          <p:nvPr/>
        </p:nvSpPr>
        <p:spPr>
          <a:xfrm>
            <a:off x="8763000" y="365129"/>
            <a:ext cx="2876550" cy="369332"/>
          </a:xfrm>
          <a:prstGeom prst="rect">
            <a:avLst/>
          </a:prstGeom>
          <a:solidFill>
            <a:schemeClr val="accent4"/>
          </a:solidFill>
        </p:spPr>
        <p:txBody>
          <a:bodyPr wrap="square" rtlCol="0">
            <a:spAutoFit/>
          </a:bodyPr>
          <a:lstStyle/>
          <a:p>
            <a:pPr algn="ctr"/>
            <a:r>
              <a:rPr lang="en-US" dirty="0"/>
              <a:t>Intermezzo: probability</a:t>
            </a:r>
          </a:p>
        </p:txBody>
      </p:sp>
    </p:spTree>
    <p:extLst>
      <p:ext uri="{BB962C8B-B14F-4D97-AF65-F5344CB8AC3E}">
        <p14:creationId xmlns:p14="http://schemas.microsoft.com/office/powerpoint/2010/main" val="4241346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C5B6F-E295-C676-8DEC-B492E7ADD388}"/>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C695F24-6901-CF97-4918-E53900F48B58}"/>
              </a:ext>
            </a:extLst>
          </p:cNvPr>
          <p:cNvSpPr>
            <a:spLocks noGrp="1"/>
          </p:cNvSpPr>
          <p:nvPr>
            <p:ph type="body" sz="quarter" idx="11"/>
          </p:nvPr>
        </p:nvSpPr>
        <p:spPr/>
        <p:txBody>
          <a:bodyPr/>
          <a:lstStyle/>
          <a:p>
            <a:pPr marL="0" indent="0">
              <a:buNone/>
            </a:pPr>
            <a:r>
              <a:rPr lang="en-US" dirty="0"/>
              <a:t>Due to other symptoms the doctor beliefs the probability that the patient has the disease (prior to testing) is closer to 30%. How can this belief be incorporated in the estimate?</a:t>
            </a:r>
          </a:p>
        </p:txBody>
      </p:sp>
      <p:sp>
        <p:nvSpPr>
          <p:cNvPr id="3" name="Tijdelijke aanduiding voor dianummer 2">
            <a:extLst>
              <a:ext uri="{FF2B5EF4-FFF2-40B4-BE49-F238E27FC236}">
                <a16:creationId xmlns:a16="http://schemas.microsoft.com/office/drawing/2014/main" id="{733A695D-909F-C4AE-212C-85E8C093FBBE}"/>
              </a:ext>
            </a:extLst>
          </p:cNvPr>
          <p:cNvSpPr>
            <a:spLocks noGrp="1"/>
          </p:cNvSpPr>
          <p:nvPr>
            <p:ph type="sldNum" sz="quarter" idx="12"/>
          </p:nvPr>
        </p:nvSpPr>
        <p:spPr/>
        <p:txBody>
          <a:bodyPr/>
          <a:lstStyle/>
          <a:p>
            <a:fld id="{FACE7509-F60A-4509-9491-CD4ED7B54EDD}" type="slidenum">
              <a:rPr lang="nl-NL" smtClean="0"/>
              <a:pPr/>
              <a:t>13</a:t>
            </a:fld>
            <a:endParaRPr lang="nl-NL"/>
          </a:p>
        </p:txBody>
      </p:sp>
      <p:sp>
        <p:nvSpPr>
          <p:cNvPr id="4" name="Titel 3">
            <a:extLst>
              <a:ext uri="{FF2B5EF4-FFF2-40B4-BE49-F238E27FC236}">
                <a16:creationId xmlns:a16="http://schemas.microsoft.com/office/drawing/2014/main" id="{C5EEA35C-00F3-F65A-2A48-2D8136A63A17}"/>
              </a:ext>
            </a:extLst>
          </p:cNvPr>
          <p:cNvSpPr>
            <a:spLocks noGrp="1"/>
          </p:cNvSpPr>
          <p:nvPr>
            <p:ph type="title"/>
          </p:nvPr>
        </p:nvSpPr>
        <p:spPr/>
        <p:txBody>
          <a:bodyPr/>
          <a:lstStyle/>
          <a:p>
            <a:r>
              <a:rPr lang="en-US" dirty="0"/>
              <a:t>2. Bayes Theorem</a:t>
            </a:r>
          </a:p>
        </p:txBody>
      </p:sp>
      <mc:AlternateContent xmlns:mc="http://schemas.openxmlformats.org/markup-compatibility/2006" xmlns:a14="http://schemas.microsoft.com/office/drawing/2010/main">
        <mc:Choice Requires="a14">
          <p:sp>
            <p:nvSpPr>
              <p:cNvPr id="19" name="Tekstvak 18">
                <a:extLst>
                  <a:ext uri="{FF2B5EF4-FFF2-40B4-BE49-F238E27FC236}">
                    <a16:creationId xmlns:a16="http://schemas.microsoft.com/office/drawing/2014/main" id="{151B7E58-3344-D09D-425D-1284985BB49B}"/>
                  </a:ext>
                </a:extLst>
              </p:cNvPr>
              <p:cNvSpPr txBox="1"/>
              <p:nvPr/>
            </p:nvSpPr>
            <p:spPr>
              <a:xfrm>
                <a:off x="1198399" y="3739697"/>
                <a:ext cx="8948681" cy="1546193"/>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a:solidFill>
                            <a:srgbClr val="00B0F0"/>
                          </a:solidFill>
                          <a:latin typeface="Cambria Math" panose="02040503050406030204" pitchFamily="18" charset="0"/>
                        </a:rPr>
                        <m:t>𝑝</m:t>
                      </m:r>
                      <m:d>
                        <m:dPr>
                          <m:ctrlPr>
                            <a:rPr lang="nl-NL" sz="2500" i="1">
                              <a:solidFill>
                                <a:srgbClr val="00B0F0"/>
                              </a:solidFill>
                              <a:latin typeface="Cambria Math" panose="02040503050406030204" pitchFamily="18" charset="0"/>
                            </a:rPr>
                          </m:ctrlPr>
                        </m:dPr>
                        <m:e>
                          <m:r>
                            <a:rPr lang="nl-NL" sz="2500" b="0" i="1" smtClean="0">
                              <a:solidFill>
                                <a:srgbClr val="00B0F0"/>
                              </a:solidFill>
                              <a:latin typeface="Cambria Math" panose="02040503050406030204" pitchFamily="18" charset="0"/>
                            </a:rPr>
                            <m:t>𝑑𝑖𝑠𝑒𝑎𝑠𝑒</m:t>
                          </m:r>
                        </m:e>
                        <m:e>
                          <m:r>
                            <a:rPr lang="nl-NL" sz="2500" b="0" i="1" smtClean="0">
                              <a:solidFill>
                                <a:srgbClr val="00B0F0"/>
                              </a:solidFill>
                              <a:latin typeface="Cambria Math" panose="02040503050406030204" pitchFamily="18" charset="0"/>
                            </a:rPr>
                            <m:t>𝑝𝑜𝑠𝑖𝑡𝑖𝑣𝑒</m:t>
                          </m:r>
                        </m:e>
                      </m:d>
                      <m:r>
                        <a:rPr lang="nl-NL" sz="2500" i="1">
                          <a:latin typeface="Cambria Math" panose="02040503050406030204" pitchFamily="18" charset="0"/>
                        </a:rPr>
                        <m:t>=</m:t>
                      </m:r>
                      <m:f>
                        <m:fPr>
                          <m:ctrlPr>
                            <a:rPr lang="nl-NL" sz="2500" i="1">
                              <a:latin typeface="Cambria Math" panose="02040503050406030204" pitchFamily="18" charset="0"/>
                            </a:rPr>
                          </m:ctrlPr>
                        </m:fPr>
                        <m:num>
                          <m:r>
                            <a:rPr lang="nl-NL" sz="2500" i="1">
                              <a:solidFill>
                                <a:srgbClr val="FF0000"/>
                              </a:solidFill>
                              <a:latin typeface="Cambria Math" panose="02040503050406030204" pitchFamily="18" charset="0"/>
                            </a:rPr>
                            <m:t>𝑝</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𝑝𝑜𝑠𝑖𝑡𝑖𝑣𝑒</m:t>
                          </m:r>
                          <m:r>
                            <a:rPr lang="nl-NL" sz="2500" b="0" i="1" smtClean="0">
                              <a:solidFill>
                                <a:srgbClr val="FF0000"/>
                              </a:solidFill>
                              <a:latin typeface="Cambria Math" panose="02040503050406030204" pitchFamily="18" charset="0"/>
                            </a:rPr>
                            <m:t> </m:t>
                          </m:r>
                          <m:r>
                            <a:rPr lang="nl-NL" sz="2500" b="0" i="1" smtClean="0">
                              <a:solidFill>
                                <a:srgbClr val="FF0000"/>
                              </a:solidFill>
                              <a:latin typeface="Cambria Math" panose="02040503050406030204" pitchFamily="18" charset="0"/>
                            </a:rPr>
                            <m:t>𝑡𝑒𝑠𝑡</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𝑑𝑖𝑠𝑒𝑎𝑠𝑒</m:t>
                          </m:r>
                          <m:r>
                            <a:rPr lang="nl-NL" sz="2500" i="1">
                              <a:solidFill>
                                <a:srgbClr val="FF0000"/>
                              </a:solidFill>
                              <a:latin typeface="Cambria Math" panose="02040503050406030204" pitchFamily="18" charset="0"/>
                            </a:rPr>
                            <m:t>)</m:t>
                          </m:r>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𝑑𝑖𝑠𝑒𝑎𝑠𝑒</m:t>
                          </m:r>
                          <m:r>
                            <a:rPr lang="nl-NL" sz="2500" i="1">
                              <a:solidFill>
                                <a:srgbClr val="00B050"/>
                              </a:solidFill>
                              <a:latin typeface="Cambria Math" panose="02040503050406030204" pitchFamily="18" charset="0"/>
                            </a:rPr>
                            <m:t>)</m:t>
                          </m:r>
                        </m:num>
                        <m:den>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𝑝𝑜𝑠𝑖𝑡𝑖𝑣𝑒</m:t>
                          </m:r>
                          <m:r>
                            <a:rPr lang="nl-NL" sz="2500" b="0" i="1" smtClean="0">
                              <a:solidFill>
                                <a:srgbClr val="00B050"/>
                              </a:solidFill>
                              <a:latin typeface="Cambria Math" panose="02040503050406030204" pitchFamily="18" charset="0"/>
                            </a:rPr>
                            <m:t> </m:t>
                          </m:r>
                          <m:r>
                            <a:rPr lang="nl-NL" sz="2500" b="0" i="1" smtClean="0">
                              <a:solidFill>
                                <a:srgbClr val="00B050"/>
                              </a:solidFill>
                              <a:latin typeface="Cambria Math" panose="02040503050406030204" pitchFamily="18" charset="0"/>
                            </a:rPr>
                            <m:t>𝑡𝑒𝑠𝑡</m:t>
                          </m:r>
                          <m:r>
                            <a:rPr lang="nl-NL" sz="2500" i="1">
                              <a:solidFill>
                                <a:srgbClr val="00B050"/>
                              </a:solidFill>
                              <a:latin typeface="Cambria Math" panose="02040503050406030204" pitchFamily="18" charset="0"/>
                            </a:rPr>
                            <m:t>)</m:t>
                          </m:r>
                        </m:den>
                      </m:f>
                    </m:oMath>
                  </m:oMathPara>
                </a14:m>
                <a:endParaRPr lang="en-US" sz="2500" dirty="0"/>
              </a:p>
            </p:txBody>
          </p:sp>
        </mc:Choice>
        <mc:Fallback xmlns="">
          <p:sp>
            <p:nvSpPr>
              <p:cNvPr id="19" name="Tekstvak 18">
                <a:extLst>
                  <a:ext uri="{FF2B5EF4-FFF2-40B4-BE49-F238E27FC236}">
                    <a16:creationId xmlns:a16="http://schemas.microsoft.com/office/drawing/2014/main" id="{151B7E58-3344-D09D-425D-1284985BB49B}"/>
                  </a:ext>
                </a:extLst>
              </p:cNvPr>
              <p:cNvSpPr txBox="1">
                <a:spLocks noRot="1" noChangeAspect="1" noMove="1" noResize="1" noEditPoints="1" noAdjustHandles="1" noChangeArrowheads="1" noChangeShapeType="1" noTextEdit="1"/>
              </p:cNvSpPr>
              <p:nvPr/>
            </p:nvSpPr>
            <p:spPr>
              <a:xfrm>
                <a:off x="1198399" y="3739697"/>
                <a:ext cx="8948681" cy="1546193"/>
              </a:xfrm>
              <a:prstGeom prst="rect">
                <a:avLst/>
              </a:prstGeom>
              <a:blipFill>
                <a:blip r:embed="rId3"/>
                <a:stretch>
                  <a:fillRect/>
                </a:stretch>
              </a:blipFill>
            </p:spPr>
            <p:txBody>
              <a:bodyPr/>
              <a:lstStyle/>
              <a:p>
                <a:r>
                  <a:rPr lang="en-US">
                    <a:noFill/>
                  </a:rPr>
                  <a:t> </a:t>
                </a:r>
              </a:p>
            </p:txBody>
          </p:sp>
        </mc:Fallback>
      </mc:AlternateContent>
      <p:sp>
        <p:nvSpPr>
          <p:cNvPr id="11" name="Tekstvak 10">
            <a:extLst>
              <a:ext uri="{FF2B5EF4-FFF2-40B4-BE49-F238E27FC236}">
                <a16:creationId xmlns:a16="http://schemas.microsoft.com/office/drawing/2014/main" id="{43998451-C685-381E-FBE3-EDCDAB3C7363}"/>
              </a:ext>
            </a:extLst>
          </p:cNvPr>
          <p:cNvSpPr txBox="1"/>
          <p:nvPr/>
        </p:nvSpPr>
        <p:spPr>
          <a:xfrm>
            <a:off x="8082916" y="130183"/>
            <a:ext cx="6097904" cy="1200329"/>
          </a:xfrm>
          <a:prstGeom prst="rect">
            <a:avLst/>
          </a:prstGeom>
          <a:noFill/>
        </p:spPr>
        <p:txBody>
          <a:bodyPr wrap="square">
            <a:spAutoFit/>
          </a:bodyPr>
          <a:lstStyle/>
          <a:p>
            <a:pPr marL="0" indent="0">
              <a:buNone/>
            </a:pPr>
            <a:endParaRPr lang="en-US" dirty="0"/>
          </a:p>
          <a:p>
            <a:r>
              <a:rPr lang="en-US" dirty="0"/>
              <a:t>p(disease) = </a:t>
            </a:r>
            <a:r>
              <a:rPr lang="en-US" strike="sngStrike" dirty="0"/>
              <a:t>0.001 </a:t>
            </a:r>
            <a:r>
              <a:rPr lang="en-US" dirty="0"/>
              <a:t>= 0.3</a:t>
            </a:r>
            <a:endParaRPr lang="en-US" strike="sngStrike" dirty="0"/>
          </a:p>
          <a:p>
            <a:r>
              <a:rPr lang="en-US" dirty="0"/>
              <a:t>p(positive test | disease) = 0.99</a:t>
            </a:r>
          </a:p>
          <a:p>
            <a:r>
              <a:rPr lang="en-US" dirty="0"/>
              <a:t>p(negative test | no disease) = 0.95</a:t>
            </a:r>
          </a:p>
        </p:txBody>
      </p:sp>
    </p:spTree>
    <p:extLst>
      <p:ext uri="{BB962C8B-B14F-4D97-AF65-F5344CB8AC3E}">
        <p14:creationId xmlns:p14="http://schemas.microsoft.com/office/powerpoint/2010/main" val="2350435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48B5-F5E7-2ED0-50DB-9979DAB1C67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6CE54BD-64DB-6950-C0BE-332542DFAE8B}"/>
              </a:ext>
            </a:extLst>
          </p:cNvPr>
          <p:cNvSpPr>
            <a:spLocks noGrp="1"/>
          </p:cNvSpPr>
          <p:nvPr>
            <p:ph type="body" sz="quarter" idx="11"/>
          </p:nvPr>
        </p:nvSpPr>
        <p:spPr/>
        <p:txBody>
          <a:bodyPr/>
          <a:lstStyle/>
          <a:p>
            <a:r>
              <a:rPr lang="en-US" dirty="0"/>
              <a:t>The chosen prior distribution can have a </a:t>
            </a:r>
            <a:r>
              <a:rPr lang="en-US" b="1" dirty="0"/>
              <a:t>major impact </a:t>
            </a:r>
            <a:r>
              <a:rPr lang="en-US" dirty="0"/>
              <a:t>on the estimated posterior distribution</a:t>
            </a:r>
          </a:p>
          <a:p>
            <a:endParaRPr lang="en-US" dirty="0"/>
          </a:p>
          <a:p>
            <a:r>
              <a:rPr lang="en-US" dirty="0"/>
              <a:t>Priors may be based on </a:t>
            </a:r>
            <a:r>
              <a:rPr lang="en-US" b="1" dirty="0"/>
              <a:t>historical data</a:t>
            </a:r>
            <a:r>
              <a:rPr lang="en-US" dirty="0"/>
              <a:t>, </a:t>
            </a:r>
            <a:r>
              <a:rPr lang="en-US" b="1" dirty="0"/>
              <a:t>expert beliefs </a:t>
            </a:r>
            <a:r>
              <a:rPr lang="en-US" dirty="0"/>
              <a:t>or a combination of both</a:t>
            </a:r>
          </a:p>
          <a:p>
            <a:endParaRPr lang="en-US" dirty="0"/>
          </a:p>
          <a:p>
            <a:r>
              <a:rPr lang="en-US" dirty="0"/>
              <a:t>Choosing an </a:t>
            </a:r>
            <a:r>
              <a:rPr lang="en-US" b="1" dirty="0"/>
              <a:t>uninformative prior </a:t>
            </a:r>
            <a:r>
              <a:rPr lang="en-US" dirty="0"/>
              <a:t>skews results towards the data while choosing a </a:t>
            </a:r>
            <a:r>
              <a:rPr lang="en-US" b="1" dirty="0"/>
              <a:t>strong prior </a:t>
            </a:r>
            <a:r>
              <a:rPr lang="en-US" dirty="0"/>
              <a:t>skews results towards the prior</a:t>
            </a:r>
          </a:p>
          <a:p>
            <a:endParaRPr lang="en-US" dirty="0"/>
          </a:p>
          <a:p>
            <a:r>
              <a:rPr lang="en-US" dirty="0"/>
              <a:t>Given enough data the estimated posterior will be attracted to the same distribution regardless of the prior</a:t>
            </a:r>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BB632C10-C4D2-01EE-DCF5-65588760582A}"/>
              </a:ext>
            </a:extLst>
          </p:cNvPr>
          <p:cNvSpPr>
            <a:spLocks noGrp="1"/>
          </p:cNvSpPr>
          <p:nvPr>
            <p:ph type="sldNum" sz="quarter" idx="12"/>
          </p:nvPr>
        </p:nvSpPr>
        <p:spPr/>
        <p:txBody>
          <a:bodyPr/>
          <a:lstStyle/>
          <a:p>
            <a:fld id="{FACE7509-F60A-4509-9491-CD4ED7B54EDD}" type="slidenum">
              <a:rPr lang="nl-NL" smtClean="0"/>
              <a:pPr/>
              <a:t>14</a:t>
            </a:fld>
            <a:endParaRPr lang="nl-NL"/>
          </a:p>
        </p:txBody>
      </p:sp>
      <p:sp>
        <p:nvSpPr>
          <p:cNvPr id="4" name="Titel 3">
            <a:extLst>
              <a:ext uri="{FF2B5EF4-FFF2-40B4-BE49-F238E27FC236}">
                <a16:creationId xmlns:a16="http://schemas.microsoft.com/office/drawing/2014/main" id="{7E37FD98-7050-4592-9F3D-907EA671E945}"/>
              </a:ext>
            </a:extLst>
          </p:cNvPr>
          <p:cNvSpPr>
            <a:spLocks noGrp="1"/>
          </p:cNvSpPr>
          <p:nvPr>
            <p:ph type="title"/>
          </p:nvPr>
        </p:nvSpPr>
        <p:spPr/>
        <p:txBody>
          <a:bodyPr/>
          <a:lstStyle/>
          <a:p>
            <a:r>
              <a:rPr lang="en-US" dirty="0"/>
              <a:t>3. Choosing a prior</a:t>
            </a:r>
          </a:p>
        </p:txBody>
      </p:sp>
    </p:spTree>
    <p:extLst>
      <p:ext uri="{BB962C8B-B14F-4D97-AF65-F5344CB8AC3E}">
        <p14:creationId xmlns:p14="http://schemas.microsoft.com/office/powerpoint/2010/main" val="121380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85BB9-AFE0-DC68-51C7-B27D5F621704}"/>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E5246CB-1421-5AA4-4B52-78844F8D87EA}"/>
              </a:ext>
            </a:extLst>
          </p:cNvPr>
          <p:cNvSpPr>
            <a:spLocks noGrp="1"/>
          </p:cNvSpPr>
          <p:nvPr>
            <p:ph type="body" sz="quarter" idx="11"/>
          </p:nvPr>
        </p:nvSpPr>
        <p:spPr>
          <a:xfrm>
            <a:off x="838200" y="1925638"/>
            <a:ext cx="10421679" cy="700821"/>
          </a:xfrm>
        </p:spPr>
        <p:txBody>
          <a:bodyPr>
            <a:normAutofit/>
          </a:bodyPr>
          <a:lstStyle/>
          <a:p>
            <a:pPr marL="0" indent="0">
              <a:buNone/>
            </a:pPr>
            <a:r>
              <a:rPr lang="en-US" sz="1800" dirty="0"/>
              <a:t>Suppose your friend selects a random coin from a pool of coins with each coin having a probability of heads between 0 and 1.</a:t>
            </a:r>
          </a:p>
        </p:txBody>
      </p:sp>
      <p:sp>
        <p:nvSpPr>
          <p:cNvPr id="3" name="Tijdelijke aanduiding voor dianummer 2">
            <a:extLst>
              <a:ext uri="{FF2B5EF4-FFF2-40B4-BE49-F238E27FC236}">
                <a16:creationId xmlns:a16="http://schemas.microsoft.com/office/drawing/2014/main" id="{C952CCA8-CB85-77B8-7B30-ABF2309A1922}"/>
              </a:ext>
            </a:extLst>
          </p:cNvPr>
          <p:cNvSpPr>
            <a:spLocks noGrp="1"/>
          </p:cNvSpPr>
          <p:nvPr>
            <p:ph type="sldNum" sz="quarter" idx="12"/>
          </p:nvPr>
        </p:nvSpPr>
        <p:spPr/>
        <p:txBody>
          <a:bodyPr/>
          <a:lstStyle/>
          <a:p>
            <a:fld id="{FACE7509-F60A-4509-9491-CD4ED7B54EDD}" type="slidenum">
              <a:rPr lang="nl-NL" smtClean="0"/>
              <a:pPr/>
              <a:t>15</a:t>
            </a:fld>
            <a:endParaRPr lang="nl-NL"/>
          </a:p>
        </p:txBody>
      </p:sp>
      <p:sp>
        <p:nvSpPr>
          <p:cNvPr id="4" name="Titel 3">
            <a:extLst>
              <a:ext uri="{FF2B5EF4-FFF2-40B4-BE49-F238E27FC236}">
                <a16:creationId xmlns:a16="http://schemas.microsoft.com/office/drawing/2014/main" id="{8016B4D7-7B92-34B6-8922-3B18B316D0E0}"/>
              </a:ext>
            </a:extLst>
          </p:cNvPr>
          <p:cNvSpPr>
            <a:spLocks noGrp="1"/>
          </p:cNvSpPr>
          <p:nvPr>
            <p:ph type="title"/>
          </p:nvPr>
        </p:nvSpPr>
        <p:spPr/>
        <p:txBody>
          <a:bodyPr/>
          <a:lstStyle/>
          <a:p>
            <a:r>
              <a:rPr lang="en-US" dirty="0"/>
              <a:t>3. Choosing a prior</a:t>
            </a:r>
          </a:p>
        </p:txBody>
      </p:sp>
      <p:sp>
        <p:nvSpPr>
          <p:cNvPr id="6" name="Tekstvak 5">
            <a:extLst>
              <a:ext uri="{FF2B5EF4-FFF2-40B4-BE49-F238E27FC236}">
                <a16:creationId xmlns:a16="http://schemas.microsoft.com/office/drawing/2014/main" id="{CAE6E9AF-7C11-DD5D-CA92-7718EFC5BCF3}"/>
              </a:ext>
            </a:extLst>
          </p:cNvPr>
          <p:cNvSpPr txBox="1"/>
          <p:nvPr/>
        </p:nvSpPr>
        <p:spPr>
          <a:xfrm>
            <a:off x="838200" y="3284199"/>
            <a:ext cx="6991350" cy="1200329"/>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What probability of heads would you guess the coin has?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certain are you about your guess?</a:t>
            </a:r>
          </a:p>
        </p:txBody>
      </p:sp>
      <p:pic>
        <p:nvPicPr>
          <p:cNvPr id="1026" name="Picture 2" descr="Amazon.com: Beistle Plastic Gold Coins 100 Count : Everything Else">
            <a:extLst>
              <a:ext uri="{FF2B5EF4-FFF2-40B4-BE49-F238E27FC236}">
                <a16:creationId xmlns:a16="http://schemas.microsoft.com/office/drawing/2014/main" id="{6E58AA52-E72F-8D2F-4C8F-174A02FE5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9979" y="2626459"/>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40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E7AFF-4E25-1C42-3E06-0A19DC5FF117}"/>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896FB3D-ABC4-A106-8B1B-90EFEE587357}"/>
              </a:ext>
            </a:extLst>
          </p:cNvPr>
          <p:cNvSpPr>
            <a:spLocks noGrp="1"/>
          </p:cNvSpPr>
          <p:nvPr>
            <p:ph type="body" sz="quarter" idx="11"/>
          </p:nvPr>
        </p:nvSpPr>
        <p:spPr>
          <a:xfrm>
            <a:off x="838200" y="1925638"/>
            <a:ext cx="10421679" cy="1633073"/>
          </a:xfrm>
        </p:spPr>
        <p:txBody>
          <a:bodyPr>
            <a:normAutofit/>
          </a:bodyPr>
          <a:lstStyle/>
          <a:p>
            <a:pPr marL="0" indent="0">
              <a:buNone/>
            </a:pPr>
            <a:r>
              <a:rPr lang="en-US" sz="1800" dirty="0"/>
              <a:t>For now, you have no information about the probability distribution the coin is coming from. So, you assume an uninformative prior (uniform prior) where each probability of heads is equally likely. </a:t>
            </a:r>
          </a:p>
          <a:p>
            <a:pPr marL="0" indent="0">
              <a:buNone/>
            </a:pPr>
            <a:endParaRPr lang="en-US" sz="1800" dirty="0"/>
          </a:p>
          <a:p>
            <a:pPr marL="0" indent="0">
              <a:buNone/>
            </a:pPr>
            <a:r>
              <a:rPr lang="en-US" sz="1800" dirty="0"/>
              <a:t>What happens after a few iterations of updating?</a:t>
            </a:r>
          </a:p>
          <a:p>
            <a:pPr marL="0" indent="0">
              <a:buNone/>
            </a:pPr>
            <a:endParaRPr lang="en-US" sz="1800" dirty="0"/>
          </a:p>
        </p:txBody>
      </p:sp>
      <p:sp>
        <p:nvSpPr>
          <p:cNvPr id="3" name="Tijdelijke aanduiding voor dianummer 2">
            <a:extLst>
              <a:ext uri="{FF2B5EF4-FFF2-40B4-BE49-F238E27FC236}">
                <a16:creationId xmlns:a16="http://schemas.microsoft.com/office/drawing/2014/main" id="{017A2CAD-CECB-8F77-A95A-EB5DC9F1B2A7}"/>
              </a:ext>
            </a:extLst>
          </p:cNvPr>
          <p:cNvSpPr>
            <a:spLocks noGrp="1"/>
          </p:cNvSpPr>
          <p:nvPr>
            <p:ph type="sldNum" sz="quarter" idx="12"/>
          </p:nvPr>
        </p:nvSpPr>
        <p:spPr/>
        <p:txBody>
          <a:bodyPr/>
          <a:lstStyle/>
          <a:p>
            <a:fld id="{FACE7509-F60A-4509-9491-CD4ED7B54EDD}" type="slidenum">
              <a:rPr lang="nl-NL" smtClean="0"/>
              <a:pPr/>
              <a:t>16</a:t>
            </a:fld>
            <a:endParaRPr lang="nl-NL"/>
          </a:p>
        </p:txBody>
      </p:sp>
      <p:sp>
        <p:nvSpPr>
          <p:cNvPr id="4" name="Titel 3">
            <a:extLst>
              <a:ext uri="{FF2B5EF4-FFF2-40B4-BE49-F238E27FC236}">
                <a16:creationId xmlns:a16="http://schemas.microsoft.com/office/drawing/2014/main" id="{60E4ED20-033D-1883-EE9E-985E176ED4A8}"/>
              </a:ext>
            </a:extLst>
          </p:cNvPr>
          <p:cNvSpPr>
            <a:spLocks noGrp="1"/>
          </p:cNvSpPr>
          <p:nvPr>
            <p:ph type="title"/>
          </p:nvPr>
        </p:nvSpPr>
        <p:spPr/>
        <p:txBody>
          <a:bodyPr/>
          <a:lstStyle/>
          <a:p>
            <a:r>
              <a:rPr lang="en-US" dirty="0"/>
              <a:t>3. Choosing a prior</a:t>
            </a:r>
          </a:p>
        </p:txBody>
      </p:sp>
      <p:pic>
        <p:nvPicPr>
          <p:cNvPr id="5" name="Afbeelding 4">
            <a:extLst>
              <a:ext uri="{FF2B5EF4-FFF2-40B4-BE49-F238E27FC236}">
                <a16:creationId xmlns:a16="http://schemas.microsoft.com/office/drawing/2014/main" id="{458E65C0-B112-FEDB-405D-4699F6737BF0}"/>
              </a:ext>
            </a:extLst>
          </p:cNvPr>
          <p:cNvPicPr>
            <a:picLocks noChangeAspect="1"/>
          </p:cNvPicPr>
          <p:nvPr/>
        </p:nvPicPr>
        <p:blipFill>
          <a:blip r:embed="rId3"/>
          <a:stretch>
            <a:fillRect/>
          </a:stretch>
        </p:blipFill>
        <p:spPr>
          <a:xfrm>
            <a:off x="5653690" y="3558711"/>
            <a:ext cx="6273800" cy="3111500"/>
          </a:xfrm>
          <a:prstGeom prst="rect">
            <a:avLst/>
          </a:prstGeom>
        </p:spPr>
      </p:pic>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8E457975-1545-4D54-6D97-8D96884D8FD6}"/>
                  </a:ext>
                </a:extLst>
              </p:cNvPr>
              <p:cNvSpPr txBox="1"/>
              <p:nvPr/>
            </p:nvSpPr>
            <p:spPr>
              <a:xfrm>
                <a:off x="-1379523" y="3859025"/>
                <a:ext cx="8073737" cy="61555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r>
                        <a:rPr lang="nl-NL" sz="2000" b="0" i="1" smtClean="0">
                          <a:latin typeface="Cambria Math" panose="02040503050406030204" pitchFamily="18" charset="0"/>
                        </a:rPr>
                        <m:t> </m:t>
                      </m:r>
                      <m:r>
                        <a:rPr lang="nl-NL" sz="2000" i="1" smtClean="0">
                          <a:latin typeface="Cambria Math" panose="02040503050406030204" pitchFamily="18" charset="0"/>
                        </a:rPr>
                        <m:t>?</m:t>
                      </m:r>
                    </m:oMath>
                  </m:oMathPara>
                </a14:m>
                <a:endParaRPr lang="en-US" sz="2000" dirty="0"/>
              </a:p>
            </p:txBody>
          </p:sp>
        </mc:Choice>
        <mc:Fallback xmlns="">
          <p:sp>
            <p:nvSpPr>
              <p:cNvPr id="7" name="Tekstvak 6">
                <a:extLst>
                  <a:ext uri="{FF2B5EF4-FFF2-40B4-BE49-F238E27FC236}">
                    <a16:creationId xmlns:a16="http://schemas.microsoft.com/office/drawing/2014/main" id="{8E457975-1545-4D54-6D97-8D96884D8FD6}"/>
                  </a:ext>
                </a:extLst>
              </p:cNvPr>
              <p:cNvSpPr txBox="1">
                <a:spLocks noRot="1" noChangeAspect="1" noMove="1" noResize="1" noEditPoints="1" noAdjustHandles="1" noChangeArrowheads="1" noChangeShapeType="1" noTextEdit="1"/>
              </p:cNvSpPr>
              <p:nvPr/>
            </p:nvSpPr>
            <p:spPr>
              <a:xfrm>
                <a:off x="-1379523" y="3859025"/>
                <a:ext cx="8073737" cy="615553"/>
              </a:xfrm>
              <a:prstGeom prst="rect">
                <a:avLst/>
              </a:prstGeom>
              <a:blipFill>
                <a:blip r:embed="rId4"/>
                <a:stretch>
                  <a:fillRect b="-12000"/>
                </a:stretch>
              </a:blipFill>
            </p:spPr>
            <p:txBody>
              <a:bodyPr/>
              <a:lstStyle/>
              <a:p>
                <a:r>
                  <a:rPr lang="en-US">
                    <a:noFill/>
                  </a:rPr>
                  <a:t> </a:t>
                </a:r>
              </a:p>
            </p:txBody>
          </p:sp>
        </mc:Fallback>
      </mc:AlternateContent>
    </p:spTree>
    <p:extLst>
      <p:ext uri="{BB962C8B-B14F-4D97-AF65-F5344CB8AC3E}">
        <p14:creationId xmlns:p14="http://schemas.microsoft.com/office/powerpoint/2010/main" val="3714720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BF24D-115B-5E9B-2A2F-8235E9DE2569}"/>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839360D4-1C99-90DB-266D-D3871ABEC6D6}"/>
              </a:ext>
            </a:extLst>
          </p:cNvPr>
          <p:cNvSpPr>
            <a:spLocks noGrp="1"/>
          </p:cNvSpPr>
          <p:nvPr>
            <p:ph type="body" sz="quarter" idx="11"/>
          </p:nvPr>
        </p:nvSpPr>
        <p:spPr>
          <a:xfrm>
            <a:off x="838200" y="1925639"/>
            <a:ext cx="10421679" cy="1325562"/>
          </a:xfrm>
        </p:spPr>
        <p:txBody>
          <a:bodyPr>
            <a:normAutofit/>
          </a:bodyPr>
          <a:lstStyle/>
          <a:p>
            <a:pPr marL="0" indent="0">
              <a:buNone/>
            </a:pPr>
            <a:r>
              <a:rPr lang="en-US" sz="1800" dirty="0"/>
              <a:t>From your previous knowledge you know most coins are fair or close to fair. So, you choose a gaussian prior that assumes most coins are fair.</a:t>
            </a:r>
          </a:p>
          <a:p>
            <a:pPr marL="0" indent="0">
              <a:buNone/>
            </a:pPr>
            <a:endParaRPr lang="en-US" sz="1800" dirty="0"/>
          </a:p>
          <a:p>
            <a:pPr marL="0" indent="0">
              <a:buNone/>
            </a:pPr>
            <a:r>
              <a:rPr lang="en-US" sz="1800" dirty="0"/>
              <a:t>What happens after a few iterations of updating?</a:t>
            </a:r>
          </a:p>
          <a:p>
            <a:pPr marL="0" indent="0">
              <a:buNone/>
            </a:pPr>
            <a:endParaRPr lang="en-US" sz="1800" dirty="0"/>
          </a:p>
        </p:txBody>
      </p:sp>
      <p:sp>
        <p:nvSpPr>
          <p:cNvPr id="3" name="Tijdelijke aanduiding voor dianummer 2">
            <a:extLst>
              <a:ext uri="{FF2B5EF4-FFF2-40B4-BE49-F238E27FC236}">
                <a16:creationId xmlns:a16="http://schemas.microsoft.com/office/drawing/2014/main" id="{DD07FB69-7C0B-94B1-DDC1-8011204EA275}"/>
              </a:ext>
            </a:extLst>
          </p:cNvPr>
          <p:cNvSpPr>
            <a:spLocks noGrp="1"/>
          </p:cNvSpPr>
          <p:nvPr>
            <p:ph type="sldNum" sz="quarter" idx="12"/>
          </p:nvPr>
        </p:nvSpPr>
        <p:spPr/>
        <p:txBody>
          <a:bodyPr/>
          <a:lstStyle/>
          <a:p>
            <a:fld id="{FACE7509-F60A-4509-9491-CD4ED7B54EDD}" type="slidenum">
              <a:rPr lang="nl-NL" smtClean="0"/>
              <a:pPr/>
              <a:t>17</a:t>
            </a:fld>
            <a:endParaRPr lang="nl-NL"/>
          </a:p>
        </p:txBody>
      </p:sp>
      <p:sp>
        <p:nvSpPr>
          <p:cNvPr id="4" name="Titel 3">
            <a:extLst>
              <a:ext uri="{FF2B5EF4-FFF2-40B4-BE49-F238E27FC236}">
                <a16:creationId xmlns:a16="http://schemas.microsoft.com/office/drawing/2014/main" id="{9AB321CA-E78A-0E2A-812D-79FD28D76135}"/>
              </a:ext>
            </a:extLst>
          </p:cNvPr>
          <p:cNvSpPr>
            <a:spLocks noGrp="1"/>
          </p:cNvSpPr>
          <p:nvPr>
            <p:ph type="title"/>
          </p:nvPr>
        </p:nvSpPr>
        <p:spPr/>
        <p:txBody>
          <a:bodyPr/>
          <a:lstStyle/>
          <a:p>
            <a:r>
              <a:rPr lang="en-US" dirty="0"/>
              <a:t>3. Choosing a prior</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D10C3072-D817-5897-98D1-6DC2DAD7F1AE}"/>
                  </a:ext>
                </a:extLst>
              </p:cNvPr>
              <p:cNvSpPr txBox="1"/>
              <p:nvPr/>
            </p:nvSpPr>
            <p:spPr>
              <a:xfrm>
                <a:off x="-1619876" y="3531601"/>
                <a:ext cx="8073737" cy="61555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r>
                        <a:rPr lang="nl-NL" sz="2000" b="0" i="1" smtClean="0">
                          <a:latin typeface="Cambria Math" panose="02040503050406030204" pitchFamily="18" charset="0"/>
                        </a:rPr>
                        <m:t> </m:t>
                      </m:r>
                      <m:r>
                        <a:rPr lang="nl-NL" sz="2000" i="1" smtClean="0">
                          <a:latin typeface="Cambria Math" panose="02040503050406030204" pitchFamily="18" charset="0"/>
                        </a:rPr>
                        <m:t>?</m:t>
                      </m:r>
                    </m:oMath>
                  </m:oMathPara>
                </a14:m>
                <a:endParaRPr lang="en-US" sz="2000" dirty="0"/>
              </a:p>
            </p:txBody>
          </p:sp>
        </mc:Choice>
        <mc:Fallback xmlns="">
          <p:sp>
            <p:nvSpPr>
              <p:cNvPr id="7" name="Tekstvak 6">
                <a:extLst>
                  <a:ext uri="{FF2B5EF4-FFF2-40B4-BE49-F238E27FC236}">
                    <a16:creationId xmlns:a16="http://schemas.microsoft.com/office/drawing/2014/main" id="{D10C3072-D817-5897-98D1-6DC2DAD7F1AE}"/>
                  </a:ext>
                </a:extLst>
              </p:cNvPr>
              <p:cNvSpPr txBox="1">
                <a:spLocks noRot="1" noChangeAspect="1" noMove="1" noResize="1" noEditPoints="1" noAdjustHandles="1" noChangeArrowheads="1" noChangeShapeType="1" noTextEdit="1"/>
              </p:cNvSpPr>
              <p:nvPr/>
            </p:nvSpPr>
            <p:spPr>
              <a:xfrm>
                <a:off x="-1619876" y="3531601"/>
                <a:ext cx="8073737" cy="615553"/>
              </a:xfrm>
              <a:prstGeom prst="rect">
                <a:avLst/>
              </a:prstGeom>
              <a:blipFill>
                <a:blip r:embed="rId3"/>
                <a:stretch>
                  <a:fillRect b="-12000"/>
                </a:stretch>
              </a:blipFill>
            </p:spPr>
            <p:txBody>
              <a:bodyPr/>
              <a:lstStyle/>
              <a:p>
                <a:r>
                  <a:rPr lang="en-US">
                    <a:noFill/>
                  </a:rPr>
                  <a:t> </a:t>
                </a:r>
              </a:p>
            </p:txBody>
          </p:sp>
        </mc:Fallback>
      </mc:AlternateContent>
      <p:pic>
        <p:nvPicPr>
          <p:cNvPr id="20" name="Afbeelding 19">
            <a:extLst>
              <a:ext uri="{FF2B5EF4-FFF2-40B4-BE49-F238E27FC236}">
                <a16:creationId xmlns:a16="http://schemas.microsoft.com/office/drawing/2014/main" id="{41ED3745-7FC3-51C0-6DAD-4083A0D2FFB9}"/>
              </a:ext>
            </a:extLst>
          </p:cNvPr>
          <p:cNvPicPr>
            <a:picLocks noChangeAspect="1"/>
          </p:cNvPicPr>
          <p:nvPr/>
        </p:nvPicPr>
        <p:blipFill>
          <a:blip r:embed="rId4"/>
          <a:stretch>
            <a:fillRect/>
          </a:stretch>
        </p:blipFill>
        <p:spPr>
          <a:xfrm>
            <a:off x="5961492" y="3304324"/>
            <a:ext cx="5630073" cy="2792243"/>
          </a:xfrm>
          <a:prstGeom prst="rect">
            <a:avLst/>
          </a:prstGeom>
        </p:spPr>
      </p:pic>
    </p:spTree>
    <p:extLst>
      <p:ext uri="{BB962C8B-B14F-4D97-AF65-F5344CB8AC3E}">
        <p14:creationId xmlns:p14="http://schemas.microsoft.com/office/powerpoint/2010/main" val="1502344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D0CAE7-14B4-6F7C-7230-BB7C0D858AF4}"/>
              </a:ext>
            </a:extLst>
          </p:cNvPr>
          <p:cNvSpPr>
            <a:spLocks noGrp="1"/>
          </p:cNvSpPr>
          <p:nvPr>
            <p:ph type="sldNum" sz="quarter" idx="12"/>
          </p:nvPr>
        </p:nvSpPr>
        <p:spPr/>
        <p:txBody>
          <a:bodyPr/>
          <a:lstStyle/>
          <a:p>
            <a:fld id="{FACE7509-F60A-4509-9491-CD4ED7B54EDD}" type="slidenum">
              <a:rPr lang="nl-NL" smtClean="0"/>
              <a:pPr/>
              <a:t>18</a:t>
            </a:fld>
            <a:endParaRPr lang="nl-NL"/>
          </a:p>
        </p:txBody>
      </p:sp>
      <p:sp>
        <p:nvSpPr>
          <p:cNvPr id="4" name="Titel 3">
            <a:extLst>
              <a:ext uri="{FF2B5EF4-FFF2-40B4-BE49-F238E27FC236}">
                <a16:creationId xmlns:a16="http://schemas.microsoft.com/office/drawing/2014/main" id="{D588783A-1CF2-BF84-6C52-9578F9C5EA83}"/>
              </a:ext>
            </a:extLst>
          </p:cNvPr>
          <p:cNvSpPr>
            <a:spLocks noGrp="1"/>
          </p:cNvSpPr>
          <p:nvPr>
            <p:ph type="title"/>
          </p:nvPr>
        </p:nvSpPr>
        <p:spPr/>
        <p:txBody>
          <a:bodyPr/>
          <a:lstStyle/>
          <a:p>
            <a:r>
              <a:rPr lang="en-US" dirty="0"/>
              <a:t>4. Frequentist vs. Bayesian approach </a:t>
            </a:r>
          </a:p>
        </p:txBody>
      </p:sp>
      <p:pic>
        <p:nvPicPr>
          <p:cNvPr id="3076" name="Picture 4" descr="Bayesian vs Frequentist A/B Testing (and Does it Even Matter?)">
            <a:extLst>
              <a:ext uri="{FF2B5EF4-FFF2-40B4-BE49-F238E27FC236}">
                <a16:creationId xmlns:a16="http://schemas.microsoft.com/office/drawing/2014/main" id="{75B0521E-B62C-46D3-1572-10889F04D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678" y="2570698"/>
            <a:ext cx="7747000" cy="3771900"/>
          </a:xfrm>
          <a:prstGeom prst="rect">
            <a:avLst/>
          </a:prstGeom>
          <a:noFill/>
          <a:extLst>
            <a:ext uri="{909E8E84-426E-40DD-AFC4-6F175D3DCCD1}">
              <a14:hiddenFill xmlns:a14="http://schemas.microsoft.com/office/drawing/2010/main">
                <a:solidFill>
                  <a:srgbClr val="FFFFFF"/>
                </a:solidFill>
              </a14:hiddenFill>
            </a:ext>
          </a:extLst>
        </p:spPr>
      </p:pic>
      <p:sp>
        <p:nvSpPr>
          <p:cNvPr id="9" name="Tijdelijke aanduiding voor tekst 1">
            <a:extLst>
              <a:ext uri="{FF2B5EF4-FFF2-40B4-BE49-F238E27FC236}">
                <a16:creationId xmlns:a16="http://schemas.microsoft.com/office/drawing/2014/main" id="{9E7A2F68-1278-3F06-7D11-69FC5EB2FCE3}"/>
              </a:ext>
            </a:extLst>
          </p:cNvPr>
          <p:cNvSpPr>
            <a:spLocks noGrp="1"/>
          </p:cNvSpPr>
          <p:nvPr>
            <p:ph type="body" sz="quarter" idx="11"/>
          </p:nvPr>
        </p:nvSpPr>
        <p:spPr>
          <a:xfrm>
            <a:off x="838200" y="1925639"/>
            <a:ext cx="10421679" cy="855662"/>
          </a:xfrm>
        </p:spPr>
        <p:txBody>
          <a:bodyPr>
            <a:normAutofit/>
          </a:bodyPr>
          <a:lstStyle/>
          <a:p>
            <a:pPr marL="0" indent="0">
              <a:buNone/>
            </a:pPr>
            <a:r>
              <a:rPr lang="en-US" sz="1800" dirty="0"/>
              <a:t>How likely is it that the sun will rise tomorrow?</a:t>
            </a:r>
          </a:p>
          <a:p>
            <a:pPr marL="0" indent="0">
              <a:buNone/>
            </a:pPr>
            <a:endParaRPr lang="en-US" sz="1800" dirty="0"/>
          </a:p>
        </p:txBody>
      </p:sp>
    </p:spTree>
    <p:extLst>
      <p:ext uri="{BB962C8B-B14F-4D97-AF65-F5344CB8AC3E}">
        <p14:creationId xmlns:p14="http://schemas.microsoft.com/office/powerpoint/2010/main" val="3724416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BFCCC997-BA16-BC57-6E90-00BFB54D2F9D}"/>
              </a:ext>
            </a:extLst>
          </p:cNvPr>
          <p:cNvSpPr>
            <a:spLocks noGrp="1"/>
          </p:cNvSpPr>
          <p:nvPr>
            <p:ph type="body" sz="quarter" idx="15"/>
          </p:nvPr>
        </p:nvSpPr>
        <p:spPr/>
        <p:txBody>
          <a:bodyPr/>
          <a:lstStyle/>
          <a:p>
            <a:r>
              <a:rPr lang="en-US" noProof="0" dirty="0"/>
              <a:t>Bayesian approach</a:t>
            </a:r>
          </a:p>
        </p:txBody>
      </p:sp>
      <p:sp>
        <p:nvSpPr>
          <p:cNvPr id="6" name="Tijdelijke aanduiding voor tekst 5">
            <a:extLst>
              <a:ext uri="{FF2B5EF4-FFF2-40B4-BE49-F238E27FC236}">
                <a16:creationId xmlns:a16="http://schemas.microsoft.com/office/drawing/2014/main" id="{A7FE1B1C-01B6-9201-901C-808E10E61763}"/>
              </a:ext>
            </a:extLst>
          </p:cNvPr>
          <p:cNvSpPr>
            <a:spLocks noGrp="1"/>
          </p:cNvSpPr>
          <p:nvPr>
            <p:ph type="body" sz="quarter" idx="16"/>
          </p:nvPr>
        </p:nvSpPr>
        <p:spPr/>
        <p:txBody>
          <a:bodyPr/>
          <a:lstStyle/>
          <a:p>
            <a:r>
              <a:rPr lang="en-US" dirty="0"/>
              <a:t>Frequentist approach</a:t>
            </a:r>
            <a:endParaRPr lang="en-US" noProof="0" dirty="0"/>
          </a:p>
        </p:txBody>
      </p:sp>
      <p:sp>
        <p:nvSpPr>
          <p:cNvPr id="7" name="Tijdelijke aanduiding voor tekst 6">
            <a:extLst>
              <a:ext uri="{FF2B5EF4-FFF2-40B4-BE49-F238E27FC236}">
                <a16:creationId xmlns:a16="http://schemas.microsoft.com/office/drawing/2014/main" id="{27F1F8B0-DA2C-FC61-CBC5-B57F97B5DECE}"/>
              </a:ext>
            </a:extLst>
          </p:cNvPr>
          <p:cNvSpPr>
            <a:spLocks noGrp="1"/>
          </p:cNvSpPr>
          <p:nvPr>
            <p:ph type="body" sz="quarter" idx="18"/>
          </p:nvPr>
        </p:nvSpPr>
        <p:spPr/>
        <p:txBody>
          <a:bodyPr>
            <a:normAutofit/>
          </a:bodyPr>
          <a:lstStyle/>
          <a:p>
            <a:r>
              <a:rPr lang="en-US" sz="1900" noProof="0" dirty="0"/>
              <a:t>Long-run frequency (repetition)</a:t>
            </a:r>
            <a:endParaRPr lang="en-US" sz="1900" dirty="0"/>
          </a:p>
          <a:p>
            <a:r>
              <a:rPr lang="en-US" sz="1900" dirty="0"/>
              <a:t>Base results only on data</a:t>
            </a:r>
            <a:endParaRPr lang="en-US" sz="1900" noProof="0" dirty="0"/>
          </a:p>
          <a:p>
            <a:r>
              <a:rPr lang="en-US" sz="1900" noProof="0" dirty="0"/>
              <a:t>Parameters are fixed single values</a:t>
            </a:r>
          </a:p>
          <a:p>
            <a:r>
              <a:rPr lang="en-US" sz="1900" noProof="0" dirty="0"/>
              <a:t>Hypothesis t</a:t>
            </a:r>
            <a:r>
              <a:rPr lang="en-US" sz="1900" dirty="0" err="1"/>
              <a:t>esting</a:t>
            </a:r>
            <a:r>
              <a:rPr lang="en-US" sz="1900" dirty="0"/>
              <a:t> (confidence intervals)</a:t>
            </a:r>
          </a:p>
          <a:p>
            <a:pPr marL="0" indent="0">
              <a:buNone/>
            </a:pPr>
            <a:endParaRPr lang="en-US" sz="1900" dirty="0"/>
          </a:p>
          <a:p>
            <a:pPr marL="0" indent="0">
              <a:buNone/>
            </a:pPr>
            <a:endParaRPr lang="en-US" sz="1900" dirty="0"/>
          </a:p>
          <a:p>
            <a:pPr marL="0" indent="0">
              <a:buNone/>
            </a:pPr>
            <a:r>
              <a:rPr lang="en-US" sz="1900" dirty="0"/>
              <a:t>But, </a:t>
            </a:r>
          </a:p>
          <a:p>
            <a:r>
              <a:rPr lang="en-US" sz="1900" dirty="0"/>
              <a:t>Probabilistic statements can only be made about the data</a:t>
            </a:r>
          </a:p>
          <a:p>
            <a:r>
              <a:rPr lang="en-US" sz="1900" dirty="0"/>
              <a:t>Cannot incorporate additional knowledge</a:t>
            </a:r>
          </a:p>
          <a:p>
            <a:r>
              <a:rPr lang="en-US" sz="1900" dirty="0"/>
              <a:t>Need to perform many experiments</a:t>
            </a:r>
          </a:p>
        </p:txBody>
      </p:sp>
      <p:sp>
        <p:nvSpPr>
          <p:cNvPr id="8" name="Tijdelijke aanduiding voor tekst 7">
            <a:extLst>
              <a:ext uri="{FF2B5EF4-FFF2-40B4-BE49-F238E27FC236}">
                <a16:creationId xmlns:a16="http://schemas.microsoft.com/office/drawing/2014/main" id="{AF4B1FC3-5590-07FD-A5F2-78C4B6147567}"/>
              </a:ext>
            </a:extLst>
          </p:cNvPr>
          <p:cNvSpPr>
            <a:spLocks noGrp="1"/>
          </p:cNvSpPr>
          <p:nvPr>
            <p:ph type="body" sz="quarter" idx="19"/>
          </p:nvPr>
        </p:nvSpPr>
        <p:spPr>
          <a:xfrm>
            <a:off x="6324600" y="2279281"/>
            <a:ext cx="5257800" cy="3905250"/>
          </a:xfrm>
        </p:spPr>
        <p:txBody>
          <a:bodyPr>
            <a:normAutofit/>
          </a:bodyPr>
          <a:lstStyle/>
          <a:p>
            <a:r>
              <a:rPr lang="en-US" noProof="0" dirty="0"/>
              <a:t>Measures ‘degree of believe’</a:t>
            </a:r>
            <a:endParaRPr lang="en-US" dirty="0"/>
          </a:p>
          <a:p>
            <a:r>
              <a:rPr lang="en-US" dirty="0"/>
              <a:t>Also include prior knowledge</a:t>
            </a:r>
            <a:endParaRPr lang="en-US" noProof="0" dirty="0"/>
          </a:p>
          <a:p>
            <a:r>
              <a:rPr lang="en-US" noProof="0" dirty="0"/>
              <a:t>Parameters are </a:t>
            </a:r>
            <a:r>
              <a:rPr lang="en-US" dirty="0"/>
              <a:t>probability distributions</a:t>
            </a:r>
          </a:p>
          <a:p>
            <a:r>
              <a:rPr lang="en-US" dirty="0"/>
              <a:t>Updating priors (credible intervals)</a:t>
            </a:r>
          </a:p>
          <a:p>
            <a:pPr marL="0" indent="0">
              <a:buNone/>
            </a:pPr>
            <a:endParaRPr lang="en-US" noProof="0" dirty="0"/>
          </a:p>
          <a:p>
            <a:pPr marL="0" indent="0">
              <a:buNone/>
            </a:pPr>
            <a:endParaRPr lang="en-US" noProof="0" dirty="0"/>
          </a:p>
          <a:p>
            <a:pPr marL="0" indent="0">
              <a:buNone/>
            </a:pPr>
            <a:r>
              <a:rPr lang="en-US" dirty="0"/>
              <a:t>But,</a:t>
            </a:r>
          </a:p>
          <a:p>
            <a:r>
              <a:rPr lang="en-US" dirty="0"/>
              <a:t>Very sensitive to chosen prior</a:t>
            </a:r>
          </a:p>
          <a:p>
            <a:r>
              <a:rPr lang="en-US" dirty="0"/>
              <a:t>Does not specify how to choose a prior (subjective)</a:t>
            </a:r>
          </a:p>
          <a:p>
            <a:r>
              <a:rPr lang="en-US" dirty="0"/>
              <a:t>Greater technical complexity</a:t>
            </a:r>
          </a:p>
        </p:txBody>
      </p:sp>
      <p:sp>
        <p:nvSpPr>
          <p:cNvPr id="2" name="Tijdelijke aanduiding voor dianummer 1">
            <a:extLst>
              <a:ext uri="{FF2B5EF4-FFF2-40B4-BE49-F238E27FC236}">
                <a16:creationId xmlns:a16="http://schemas.microsoft.com/office/drawing/2014/main" id="{3E308E7F-728B-41B9-A4C5-CEEB00C01D35}"/>
              </a:ext>
            </a:extLst>
          </p:cNvPr>
          <p:cNvSpPr>
            <a:spLocks noGrp="1"/>
          </p:cNvSpPr>
          <p:nvPr>
            <p:ph type="sldNum" sz="quarter" idx="20"/>
          </p:nvPr>
        </p:nvSpPr>
        <p:spPr>
          <a:xfrm>
            <a:off x="838200" y="6342598"/>
            <a:ext cx="1107478" cy="365125"/>
          </a:xfrm>
        </p:spPr>
        <p:txBody>
          <a:bodyPr/>
          <a:lstStyle/>
          <a:p>
            <a:fld id="{FACE7509-F60A-4509-9491-CD4ED7B54EDD}" type="slidenum">
              <a:rPr lang="en-US" noProof="0" smtClean="0"/>
              <a:pPr/>
              <a:t>19</a:t>
            </a:fld>
            <a:endParaRPr lang="en-US" noProof="0" dirty="0"/>
          </a:p>
        </p:txBody>
      </p:sp>
      <p:sp>
        <p:nvSpPr>
          <p:cNvPr id="4" name="Titel 3">
            <a:extLst>
              <a:ext uri="{FF2B5EF4-FFF2-40B4-BE49-F238E27FC236}">
                <a16:creationId xmlns:a16="http://schemas.microsoft.com/office/drawing/2014/main" id="{0DCD94C0-0697-DBF2-C6C8-62BA7BD6BFFD}"/>
              </a:ext>
            </a:extLst>
          </p:cNvPr>
          <p:cNvSpPr>
            <a:spLocks noGrp="1"/>
          </p:cNvSpPr>
          <p:nvPr>
            <p:ph type="title"/>
          </p:nvPr>
        </p:nvSpPr>
        <p:spPr/>
        <p:txBody>
          <a:bodyPr/>
          <a:lstStyle/>
          <a:p>
            <a:r>
              <a:rPr lang="en-US" dirty="0"/>
              <a:t>4. Frequentist vs. Bayesian approach</a:t>
            </a:r>
            <a:endParaRPr lang="en-US" noProof="0" dirty="0"/>
          </a:p>
        </p:txBody>
      </p:sp>
    </p:spTree>
    <p:extLst>
      <p:ext uri="{BB962C8B-B14F-4D97-AF65-F5344CB8AC3E}">
        <p14:creationId xmlns:p14="http://schemas.microsoft.com/office/powerpoint/2010/main" val="944518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59C27-2878-FA2C-2D04-CF604FF28F2D}"/>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4C30A764-18EA-AC9C-6092-202D7820735A}"/>
              </a:ext>
            </a:extLst>
          </p:cNvPr>
          <p:cNvSpPr>
            <a:spLocks noGrp="1"/>
          </p:cNvSpPr>
          <p:nvPr>
            <p:ph type="sldNum" sz="quarter" idx="12"/>
          </p:nvPr>
        </p:nvSpPr>
        <p:spPr/>
        <p:txBody>
          <a:bodyPr/>
          <a:lstStyle/>
          <a:p>
            <a:fld id="{FACE7509-F60A-4509-9491-CD4ED7B54EDD}" type="slidenum">
              <a:rPr lang="nl-NL" smtClean="0"/>
              <a:pPr/>
              <a:t>20</a:t>
            </a:fld>
            <a:endParaRPr lang="nl-NL"/>
          </a:p>
        </p:txBody>
      </p:sp>
      <p:sp>
        <p:nvSpPr>
          <p:cNvPr id="4" name="Titel 3">
            <a:extLst>
              <a:ext uri="{FF2B5EF4-FFF2-40B4-BE49-F238E27FC236}">
                <a16:creationId xmlns:a16="http://schemas.microsoft.com/office/drawing/2014/main" id="{A8EB2260-F45F-60D6-4DEF-A5BB28E23505}"/>
              </a:ext>
            </a:extLst>
          </p:cNvPr>
          <p:cNvSpPr>
            <a:spLocks noGrp="1"/>
          </p:cNvSpPr>
          <p:nvPr>
            <p:ph type="title"/>
          </p:nvPr>
        </p:nvSpPr>
        <p:spPr/>
        <p:txBody>
          <a:bodyPr/>
          <a:lstStyle/>
          <a:p>
            <a:r>
              <a:rPr lang="en-US" dirty="0"/>
              <a:t>5. Naïve Bayesian classifiers</a:t>
            </a:r>
          </a:p>
        </p:txBody>
      </p:sp>
      <p:sp>
        <p:nvSpPr>
          <p:cNvPr id="7" name="Tijdelijke aanduiding voor tekst 1">
            <a:extLst>
              <a:ext uri="{FF2B5EF4-FFF2-40B4-BE49-F238E27FC236}">
                <a16:creationId xmlns:a16="http://schemas.microsoft.com/office/drawing/2014/main" id="{2BCABD0C-80A0-D41E-DC4D-5ECD102E530E}"/>
              </a:ext>
            </a:extLst>
          </p:cNvPr>
          <p:cNvSpPr>
            <a:spLocks noGrp="1"/>
          </p:cNvSpPr>
          <p:nvPr>
            <p:ph type="body" sz="quarter" idx="11"/>
          </p:nvPr>
        </p:nvSpPr>
        <p:spPr>
          <a:xfrm>
            <a:off x="838200" y="1925638"/>
            <a:ext cx="10515600" cy="4248000"/>
          </a:xfrm>
        </p:spPr>
        <p:txBody>
          <a:bodyPr/>
          <a:lstStyle/>
          <a:p>
            <a:r>
              <a:rPr lang="en-US" b="1" dirty="0"/>
              <a:t>Probabilistic classification </a:t>
            </a:r>
            <a:r>
              <a:rPr lang="en-US" dirty="0"/>
              <a:t>algorithm that predicts classes based on probability.</a:t>
            </a:r>
          </a:p>
          <a:p>
            <a:pPr marL="0" indent="0">
              <a:buNone/>
            </a:pPr>
            <a:endParaRPr lang="en-US" dirty="0"/>
          </a:p>
          <a:p>
            <a:r>
              <a:rPr lang="en-US" dirty="0"/>
              <a:t>Assumes all features are </a:t>
            </a:r>
            <a:r>
              <a:rPr lang="en-US" b="1" dirty="0"/>
              <a:t>conditionally</a:t>
            </a:r>
            <a:r>
              <a:rPr lang="en-US" dirty="0"/>
              <a:t> </a:t>
            </a:r>
            <a:r>
              <a:rPr lang="en-US" b="1" dirty="0"/>
              <a:t>independent</a:t>
            </a:r>
            <a:r>
              <a:rPr lang="en-US" dirty="0"/>
              <a:t> given the target class (naïve).</a:t>
            </a:r>
          </a:p>
          <a:p>
            <a:endParaRPr lang="en-US" dirty="0"/>
          </a:p>
          <a:p>
            <a:r>
              <a:rPr lang="en-US" dirty="0"/>
              <a:t>Less accurate than more advanced models, but </a:t>
            </a:r>
            <a:r>
              <a:rPr lang="en-US" b="1" dirty="0"/>
              <a:t>highly scalable </a:t>
            </a:r>
            <a:r>
              <a:rPr lang="en-US" dirty="0"/>
              <a:t>(single parameter for each feature or predictor).</a:t>
            </a:r>
          </a:p>
          <a:p>
            <a:endParaRPr lang="en-US" dirty="0"/>
          </a:p>
          <a:p>
            <a:r>
              <a:rPr lang="en-US" dirty="0"/>
              <a:t>Training requires </a:t>
            </a:r>
            <a:r>
              <a:rPr lang="en-US" b="1" dirty="0"/>
              <a:t>simple counting</a:t>
            </a:r>
            <a:r>
              <a:rPr lang="en-US" dirty="0"/>
              <a:t> of observations in each group (instead of expensive approximation algorithms).</a:t>
            </a:r>
          </a:p>
          <a:p>
            <a:endParaRPr lang="en-US" dirty="0"/>
          </a:p>
          <a:p>
            <a:r>
              <a:rPr lang="en-US" dirty="0"/>
              <a:t>Used for many </a:t>
            </a:r>
            <a:r>
              <a:rPr lang="en-US" b="1" dirty="0"/>
              <a:t>real-world applications </a:t>
            </a:r>
            <a:r>
              <a:rPr lang="en-US" dirty="0"/>
              <a:t>including text classification, sentiment analysis, medical diagnosis, credit scoring.</a:t>
            </a:r>
          </a:p>
          <a:p>
            <a:endParaRPr lang="en-US" dirty="0"/>
          </a:p>
          <a:p>
            <a:endParaRPr lang="en-US" dirty="0"/>
          </a:p>
          <a:p>
            <a:endParaRPr lang="en-US" dirty="0"/>
          </a:p>
        </p:txBody>
      </p:sp>
    </p:spTree>
    <p:extLst>
      <p:ext uri="{BB962C8B-B14F-4D97-AF65-F5344CB8AC3E}">
        <p14:creationId xmlns:p14="http://schemas.microsoft.com/office/powerpoint/2010/main" val="2458884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EB87-A163-6E06-5ACD-8EE618D13E54}"/>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CA315C2-F1F9-89AE-4593-BB4AB30FEF65}"/>
              </a:ext>
            </a:extLst>
          </p:cNvPr>
          <p:cNvSpPr>
            <a:spLocks noGrp="1"/>
          </p:cNvSpPr>
          <p:nvPr>
            <p:ph type="body" sz="quarter" idx="11"/>
          </p:nvPr>
        </p:nvSpPr>
        <p:spPr/>
        <p:txBody>
          <a:bodyPr/>
          <a:lstStyle/>
          <a:p>
            <a:pPr marL="0" indent="0">
              <a:buNone/>
            </a:pPr>
            <a:r>
              <a:rPr lang="en-US" dirty="0"/>
              <a:t>Naïve Bayes for Spam filtering</a:t>
            </a:r>
          </a:p>
          <a:p>
            <a:pPr marL="0" indent="0">
              <a:buNone/>
            </a:pPr>
            <a:endParaRPr lang="en-US" dirty="0"/>
          </a:p>
          <a:p>
            <a:r>
              <a:rPr lang="en-US" dirty="0"/>
              <a:t>A set of mails with label spam/normal</a:t>
            </a:r>
          </a:p>
          <a:p>
            <a:r>
              <a:rPr lang="en-US" dirty="0"/>
              <a:t>Use individual wordcounts as features</a:t>
            </a:r>
          </a:p>
          <a:p>
            <a:r>
              <a:rPr lang="en-US" dirty="0"/>
              <a:t>Als p(spam) &gt; p(normal) classify mail as spam </a:t>
            </a:r>
          </a:p>
          <a:p>
            <a:endParaRPr lang="en-US" dirty="0"/>
          </a:p>
          <a:p>
            <a:pPr marL="0" indent="0">
              <a:buNone/>
            </a:pPr>
            <a:endParaRPr lang="en-US" dirty="0"/>
          </a:p>
          <a:p>
            <a:pPr marL="0" indent="0">
              <a:buNone/>
            </a:pPr>
            <a:endParaRPr lang="en-US" dirty="0"/>
          </a:p>
        </p:txBody>
      </p:sp>
      <p:sp>
        <p:nvSpPr>
          <p:cNvPr id="3" name="Tijdelijke aanduiding voor dianummer 2">
            <a:extLst>
              <a:ext uri="{FF2B5EF4-FFF2-40B4-BE49-F238E27FC236}">
                <a16:creationId xmlns:a16="http://schemas.microsoft.com/office/drawing/2014/main" id="{51C08898-7CE0-8271-2049-D164EB472EE0}"/>
              </a:ext>
            </a:extLst>
          </p:cNvPr>
          <p:cNvSpPr>
            <a:spLocks noGrp="1"/>
          </p:cNvSpPr>
          <p:nvPr>
            <p:ph type="sldNum" sz="quarter" idx="12"/>
          </p:nvPr>
        </p:nvSpPr>
        <p:spPr/>
        <p:txBody>
          <a:bodyPr/>
          <a:lstStyle/>
          <a:p>
            <a:fld id="{FACE7509-F60A-4509-9491-CD4ED7B54EDD}" type="slidenum">
              <a:rPr lang="nl-NL" smtClean="0"/>
              <a:pPr/>
              <a:t>21</a:t>
            </a:fld>
            <a:endParaRPr lang="nl-NL"/>
          </a:p>
        </p:txBody>
      </p:sp>
      <p:sp>
        <p:nvSpPr>
          <p:cNvPr id="4" name="Titel 3">
            <a:extLst>
              <a:ext uri="{FF2B5EF4-FFF2-40B4-BE49-F238E27FC236}">
                <a16:creationId xmlns:a16="http://schemas.microsoft.com/office/drawing/2014/main" id="{6A9B804C-3DEA-D53F-90FD-1ED9B228847D}"/>
              </a:ext>
            </a:extLst>
          </p:cNvPr>
          <p:cNvSpPr>
            <a:spLocks noGrp="1"/>
          </p:cNvSpPr>
          <p:nvPr>
            <p:ph type="title"/>
          </p:nvPr>
        </p:nvSpPr>
        <p:spPr/>
        <p:txBody>
          <a:bodyPr/>
          <a:lstStyle/>
          <a:p>
            <a:r>
              <a:rPr lang="en-US" dirty="0"/>
              <a:t>5. Naïve Bayesian classifiers</a:t>
            </a:r>
          </a:p>
        </p:txBody>
      </p:sp>
      <p:sp>
        <p:nvSpPr>
          <p:cNvPr id="5" name="Ovaal 4">
            <a:extLst>
              <a:ext uri="{FF2B5EF4-FFF2-40B4-BE49-F238E27FC236}">
                <a16:creationId xmlns:a16="http://schemas.microsoft.com/office/drawing/2014/main" id="{E61425D4-D565-B527-79E3-D2B036E5500B}"/>
              </a:ext>
            </a:extLst>
          </p:cNvPr>
          <p:cNvSpPr/>
          <p:nvPr/>
        </p:nvSpPr>
        <p:spPr>
          <a:xfrm>
            <a:off x="9619126" y="4322732"/>
            <a:ext cx="863657" cy="883735"/>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w3</a:t>
            </a:r>
          </a:p>
        </p:txBody>
      </p:sp>
      <p:sp>
        <p:nvSpPr>
          <p:cNvPr id="6" name="Ovaal 5">
            <a:extLst>
              <a:ext uri="{FF2B5EF4-FFF2-40B4-BE49-F238E27FC236}">
                <a16:creationId xmlns:a16="http://schemas.microsoft.com/office/drawing/2014/main" id="{CCEE1CCD-0CF6-3EDC-1B68-0F09F52EEE1F}"/>
              </a:ext>
            </a:extLst>
          </p:cNvPr>
          <p:cNvSpPr/>
          <p:nvPr/>
        </p:nvSpPr>
        <p:spPr>
          <a:xfrm>
            <a:off x="10747241" y="4322733"/>
            <a:ext cx="863657" cy="883735"/>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w4</a:t>
            </a:r>
          </a:p>
        </p:txBody>
      </p:sp>
      <p:sp>
        <p:nvSpPr>
          <p:cNvPr id="7" name="Ovaal 6">
            <a:extLst>
              <a:ext uri="{FF2B5EF4-FFF2-40B4-BE49-F238E27FC236}">
                <a16:creationId xmlns:a16="http://schemas.microsoft.com/office/drawing/2014/main" id="{EF23C7AA-36C7-06C6-7763-D0C471233734}"/>
              </a:ext>
            </a:extLst>
          </p:cNvPr>
          <p:cNvSpPr/>
          <p:nvPr/>
        </p:nvSpPr>
        <p:spPr>
          <a:xfrm>
            <a:off x="7122162" y="4322731"/>
            <a:ext cx="863657" cy="883735"/>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w1</a:t>
            </a:r>
          </a:p>
        </p:txBody>
      </p:sp>
      <p:sp>
        <p:nvSpPr>
          <p:cNvPr id="8" name="Ovaal 7">
            <a:extLst>
              <a:ext uri="{FF2B5EF4-FFF2-40B4-BE49-F238E27FC236}">
                <a16:creationId xmlns:a16="http://schemas.microsoft.com/office/drawing/2014/main" id="{501BFEB2-534F-60E8-80B9-23774E8B427C}"/>
              </a:ext>
            </a:extLst>
          </p:cNvPr>
          <p:cNvSpPr/>
          <p:nvPr/>
        </p:nvSpPr>
        <p:spPr>
          <a:xfrm>
            <a:off x="8417648" y="4322731"/>
            <a:ext cx="863657" cy="883735"/>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w2</a:t>
            </a:r>
          </a:p>
        </p:txBody>
      </p:sp>
      <p:sp>
        <p:nvSpPr>
          <p:cNvPr id="9" name="Ovaal 8">
            <a:extLst>
              <a:ext uri="{FF2B5EF4-FFF2-40B4-BE49-F238E27FC236}">
                <a16:creationId xmlns:a16="http://schemas.microsoft.com/office/drawing/2014/main" id="{E794A6AE-F1A2-171B-A667-457506EADD67}"/>
              </a:ext>
            </a:extLst>
          </p:cNvPr>
          <p:cNvSpPr/>
          <p:nvPr/>
        </p:nvSpPr>
        <p:spPr>
          <a:xfrm>
            <a:off x="8910914" y="2217817"/>
            <a:ext cx="1097095" cy="1054066"/>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a:t>
            </a:r>
          </a:p>
        </p:txBody>
      </p:sp>
      <p:cxnSp>
        <p:nvCxnSpPr>
          <p:cNvPr id="11" name="Rechte verbindingslijn met pijl 10">
            <a:extLst>
              <a:ext uri="{FF2B5EF4-FFF2-40B4-BE49-F238E27FC236}">
                <a16:creationId xmlns:a16="http://schemas.microsoft.com/office/drawing/2014/main" id="{C61A11A6-2DA1-1BA1-6157-4549702F331D}"/>
              </a:ext>
            </a:extLst>
          </p:cNvPr>
          <p:cNvCxnSpPr>
            <a:stCxn id="9" idx="4"/>
            <a:endCxn id="7" idx="0"/>
          </p:cNvCxnSpPr>
          <p:nvPr/>
        </p:nvCxnSpPr>
        <p:spPr>
          <a:xfrm flipH="1">
            <a:off x="7553991" y="3271883"/>
            <a:ext cx="1905471" cy="1050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Rechte verbindingslijn met pijl 12">
            <a:extLst>
              <a:ext uri="{FF2B5EF4-FFF2-40B4-BE49-F238E27FC236}">
                <a16:creationId xmlns:a16="http://schemas.microsoft.com/office/drawing/2014/main" id="{C57BB329-F750-8376-76F1-4B94343E17F5}"/>
              </a:ext>
            </a:extLst>
          </p:cNvPr>
          <p:cNvCxnSpPr>
            <a:stCxn id="9" idx="4"/>
            <a:endCxn id="8" idx="0"/>
          </p:cNvCxnSpPr>
          <p:nvPr/>
        </p:nvCxnSpPr>
        <p:spPr>
          <a:xfrm flipH="1">
            <a:off x="8849477" y="3271883"/>
            <a:ext cx="609985" cy="1050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04863596-1736-2460-9D17-B69C326273F4}"/>
              </a:ext>
            </a:extLst>
          </p:cNvPr>
          <p:cNvCxnSpPr>
            <a:stCxn id="9" idx="4"/>
            <a:endCxn id="5" idx="0"/>
          </p:cNvCxnSpPr>
          <p:nvPr/>
        </p:nvCxnSpPr>
        <p:spPr>
          <a:xfrm>
            <a:off x="9459462" y="3271883"/>
            <a:ext cx="591493" cy="1050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C6B99093-85A9-71B6-FBBB-8C60A560068D}"/>
              </a:ext>
            </a:extLst>
          </p:cNvPr>
          <p:cNvCxnSpPr>
            <a:stCxn id="9" idx="4"/>
            <a:endCxn id="6" idx="0"/>
          </p:cNvCxnSpPr>
          <p:nvPr/>
        </p:nvCxnSpPr>
        <p:spPr>
          <a:xfrm>
            <a:off x="9459462" y="3271883"/>
            <a:ext cx="1719608" cy="1050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el 17">
            <a:extLst>
              <a:ext uri="{FF2B5EF4-FFF2-40B4-BE49-F238E27FC236}">
                <a16:creationId xmlns:a16="http://schemas.microsoft.com/office/drawing/2014/main" id="{5540233A-26BD-6805-7E3F-4705F8FA697C}"/>
              </a:ext>
            </a:extLst>
          </p:cNvPr>
          <p:cNvGraphicFramePr>
            <a:graphicFrameLocks noGrp="1"/>
          </p:cNvGraphicFramePr>
          <p:nvPr>
            <p:extLst>
              <p:ext uri="{D42A27DB-BD31-4B8C-83A1-F6EECF244321}">
                <p14:modId xmlns:p14="http://schemas.microsoft.com/office/powerpoint/2010/main" val="559613785"/>
              </p:ext>
            </p:extLst>
          </p:nvPr>
        </p:nvGraphicFramePr>
        <p:xfrm>
          <a:off x="1095298" y="4219415"/>
          <a:ext cx="4584740" cy="1791180"/>
        </p:xfrm>
        <a:graphic>
          <a:graphicData uri="http://schemas.openxmlformats.org/drawingml/2006/table">
            <a:tbl>
              <a:tblPr firstRow="1" bandRow="1">
                <a:tableStyleId>{5C22544A-7EE6-4342-B048-85BDC9FD1C3A}</a:tableStyleId>
              </a:tblPr>
              <a:tblGrid>
                <a:gridCol w="1146185">
                  <a:extLst>
                    <a:ext uri="{9D8B030D-6E8A-4147-A177-3AD203B41FA5}">
                      <a16:colId xmlns:a16="http://schemas.microsoft.com/office/drawing/2014/main" val="4220559299"/>
                    </a:ext>
                  </a:extLst>
                </a:gridCol>
                <a:gridCol w="1146185">
                  <a:extLst>
                    <a:ext uri="{9D8B030D-6E8A-4147-A177-3AD203B41FA5}">
                      <a16:colId xmlns:a16="http://schemas.microsoft.com/office/drawing/2014/main" val="3127811217"/>
                    </a:ext>
                  </a:extLst>
                </a:gridCol>
                <a:gridCol w="1146185">
                  <a:extLst>
                    <a:ext uri="{9D8B030D-6E8A-4147-A177-3AD203B41FA5}">
                      <a16:colId xmlns:a16="http://schemas.microsoft.com/office/drawing/2014/main" val="2362922515"/>
                    </a:ext>
                  </a:extLst>
                </a:gridCol>
                <a:gridCol w="1146185">
                  <a:extLst>
                    <a:ext uri="{9D8B030D-6E8A-4147-A177-3AD203B41FA5}">
                      <a16:colId xmlns:a16="http://schemas.microsoft.com/office/drawing/2014/main" val="937730818"/>
                    </a:ext>
                  </a:extLst>
                </a:gridCol>
              </a:tblGrid>
              <a:tr h="447795">
                <a:tc>
                  <a:txBody>
                    <a:bodyPr/>
                    <a:lstStyle/>
                    <a:p>
                      <a:r>
                        <a:rPr lang="en-US" sz="2000" dirty="0"/>
                        <a:t>Index</a:t>
                      </a:r>
                    </a:p>
                  </a:txBody>
                  <a:tcPr/>
                </a:tc>
                <a:tc>
                  <a:txBody>
                    <a:bodyPr/>
                    <a:lstStyle/>
                    <a:p>
                      <a:r>
                        <a:rPr lang="en-US" sz="2000" dirty="0"/>
                        <a:t>Word 2</a:t>
                      </a:r>
                    </a:p>
                  </a:txBody>
                  <a:tcPr/>
                </a:tc>
                <a:tc>
                  <a:txBody>
                    <a:bodyPr/>
                    <a:lstStyle/>
                    <a:p>
                      <a:r>
                        <a:rPr lang="en-US" sz="2000" dirty="0"/>
                        <a:t>Word 3</a:t>
                      </a:r>
                    </a:p>
                  </a:txBody>
                  <a:tcPr/>
                </a:tc>
                <a:tc>
                  <a:txBody>
                    <a:bodyPr/>
                    <a:lstStyle/>
                    <a:p>
                      <a:r>
                        <a:rPr lang="en-US" sz="2000" dirty="0"/>
                        <a:t>Word 4</a:t>
                      </a:r>
                    </a:p>
                  </a:txBody>
                  <a:tcPr/>
                </a:tc>
                <a:extLst>
                  <a:ext uri="{0D108BD9-81ED-4DB2-BD59-A6C34878D82A}">
                    <a16:rowId xmlns:a16="http://schemas.microsoft.com/office/drawing/2014/main" val="3696030171"/>
                  </a:ext>
                </a:extLst>
              </a:tr>
              <a:tr h="447795">
                <a:tc>
                  <a:txBody>
                    <a:bodyPr/>
                    <a:lstStyle/>
                    <a:p>
                      <a:r>
                        <a:rPr lang="en-US" sz="2000" dirty="0"/>
                        <a:t>Mail 1</a:t>
                      </a:r>
                    </a:p>
                  </a:txBody>
                  <a:tcPr/>
                </a:tc>
                <a:tc>
                  <a:txBody>
                    <a:bodyPr/>
                    <a:lstStyle/>
                    <a:p>
                      <a:r>
                        <a:rPr lang="en-US" sz="2000" dirty="0"/>
                        <a:t>3</a:t>
                      </a:r>
                    </a:p>
                  </a:txBody>
                  <a:tcPr/>
                </a:tc>
                <a:tc>
                  <a:txBody>
                    <a:bodyPr/>
                    <a:lstStyle/>
                    <a:p>
                      <a:r>
                        <a:rPr lang="en-US" sz="2000" dirty="0"/>
                        <a:t>2</a:t>
                      </a:r>
                    </a:p>
                  </a:txBody>
                  <a:tcPr/>
                </a:tc>
                <a:tc>
                  <a:txBody>
                    <a:bodyPr/>
                    <a:lstStyle/>
                    <a:p>
                      <a:r>
                        <a:rPr lang="en-US" sz="2000" dirty="0"/>
                        <a:t>0</a:t>
                      </a:r>
                    </a:p>
                  </a:txBody>
                  <a:tcPr/>
                </a:tc>
                <a:extLst>
                  <a:ext uri="{0D108BD9-81ED-4DB2-BD59-A6C34878D82A}">
                    <a16:rowId xmlns:a16="http://schemas.microsoft.com/office/drawing/2014/main" val="1855755633"/>
                  </a:ext>
                </a:extLst>
              </a:tr>
              <a:tr h="447795">
                <a:tc>
                  <a:txBody>
                    <a:bodyPr/>
                    <a:lstStyle/>
                    <a:p>
                      <a:r>
                        <a:rPr lang="en-US" sz="2000" dirty="0"/>
                        <a:t>Mail 2</a:t>
                      </a:r>
                    </a:p>
                  </a:txBody>
                  <a:tcPr/>
                </a:tc>
                <a:tc>
                  <a:txBody>
                    <a:bodyPr/>
                    <a:lstStyle/>
                    <a:p>
                      <a:r>
                        <a:rPr lang="en-US" sz="2000" dirty="0"/>
                        <a:t>3</a:t>
                      </a:r>
                    </a:p>
                  </a:txBody>
                  <a:tcPr/>
                </a:tc>
                <a:tc>
                  <a:txBody>
                    <a:bodyPr/>
                    <a:lstStyle/>
                    <a:p>
                      <a:r>
                        <a:rPr lang="en-US" sz="2000" dirty="0"/>
                        <a:t>0</a:t>
                      </a:r>
                    </a:p>
                  </a:txBody>
                  <a:tcPr/>
                </a:tc>
                <a:tc>
                  <a:txBody>
                    <a:bodyPr/>
                    <a:lstStyle/>
                    <a:p>
                      <a:r>
                        <a:rPr lang="en-US" sz="2000" dirty="0"/>
                        <a:t>8</a:t>
                      </a:r>
                    </a:p>
                  </a:txBody>
                  <a:tcPr/>
                </a:tc>
                <a:extLst>
                  <a:ext uri="{0D108BD9-81ED-4DB2-BD59-A6C34878D82A}">
                    <a16:rowId xmlns:a16="http://schemas.microsoft.com/office/drawing/2014/main" val="3316935653"/>
                  </a:ext>
                </a:extLst>
              </a:tr>
              <a:tr h="447795">
                <a:tc>
                  <a:txBody>
                    <a:bodyPr/>
                    <a:lstStyle/>
                    <a:p>
                      <a:r>
                        <a:rPr lang="en-US" sz="2000" dirty="0"/>
                        <a:t>Mail …</a:t>
                      </a:r>
                    </a:p>
                  </a:txBody>
                  <a:tcPr/>
                </a:tc>
                <a:tc>
                  <a:txBody>
                    <a:bodyPr/>
                    <a:lstStyle/>
                    <a:p>
                      <a:endParaRPr lang="en-US" sz="2000" dirty="0"/>
                    </a:p>
                  </a:txBody>
                  <a:tcPr/>
                </a:tc>
                <a:tc>
                  <a:txBody>
                    <a:bodyPr/>
                    <a:lstStyle/>
                    <a:p>
                      <a:endParaRPr lang="en-US" sz="2000" dirty="0"/>
                    </a:p>
                  </a:txBody>
                  <a:tcPr/>
                </a:tc>
                <a:tc>
                  <a:txBody>
                    <a:bodyPr/>
                    <a:lstStyle/>
                    <a:p>
                      <a:endParaRPr lang="en-US" sz="2000" dirty="0"/>
                    </a:p>
                  </a:txBody>
                  <a:tcPr/>
                </a:tc>
                <a:extLst>
                  <a:ext uri="{0D108BD9-81ED-4DB2-BD59-A6C34878D82A}">
                    <a16:rowId xmlns:a16="http://schemas.microsoft.com/office/drawing/2014/main" val="2596774736"/>
                  </a:ext>
                </a:extLst>
              </a:tr>
            </a:tbl>
          </a:graphicData>
        </a:graphic>
      </p:graphicFrame>
    </p:spTree>
    <p:extLst>
      <p:ext uri="{BB962C8B-B14F-4D97-AF65-F5344CB8AC3E}">
        <p14:creationId xmlns:p14="http://schemas.microsoft.com/office/powerpoint/2010/main" val="3288907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BBBF4-E3CC-B772-D252-3E88EABF30D0}"/>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50724571-289E-C22A-BC4B-8C0678933FB9}"/>
              </a:ext>
            </a:extLst>
          </p:cNvPr>
          <p:cNvSpPr>
            <a:spLocks noGrp="1"/>
          </p:cNvSpPr>
          <p:nvPr>
            <p:ph type="sldNum" sz="quarter" idx="12"/>
          </p:nvPr>
        </p:nvSpPr>
        <p:spPr/>
        <p:txBody>
          <a:bodyPr/>
          <a:lstStyle/>
          <a:p>
            <a:fld id="{FACE7509-F60A-4509-9491-CD4ED7B54EDD}" type="slidenum">
              <a:rPr lang="nl-NL" smtClean="0"/>
              <a:pPr/>
              <a:t>22</a:t>
            </a:fld>
            <a:endParaRPr lang="nl-NL"/>
          </a:p>
        </p:txBody>
      </p:sp>
      <p:sp>
        <p:nvSpPr>
          <p:cNvPr id="4" name="Titel 3">
            <a:extLst>
              <a:ext uri="{FF2B5EF4-FFF2-40B4-BE49-F238E27FC236}">
                <a16:creationId xmlns:a16="http://schemas.microsoft.com/office/drawing/2014/main" id="{D88110A8-F7DA-60F6-977E-1D629AFE11E0}"/>
              </a:ext>
            </a:extLst>
          </p:cNvPr>
          <p:cNvSpPr>
            <a:spLocks noGrp="1"/>
          </p:cNvSpPr>
          <p:nvPr>
            <p:ph type="title"/>
          </p:nvPr>
        </p:nvSpPr>
        <p:spPr/>
        <p:txBody>
          <a:bodyPr/>
          <a:lstStyle/>
          <a:p>
            <a:r>
              <a:rPr lang="en-US" dirty="0"/>
              <a:t>5. Naïve Bayesian classifiers</a:t>
            </a:r>
          </a:p>
        </p:txBody>
      </p:sp>
      <mc:AlternateContent xmlns:mc="http://schemas.openxmlformats.org/markup-compatibility/2006" xmlns:a14="http://schemas.microsoft.com/office/drawing/2010/main">
        <mc:Choice Requires="a14">
          <p:sp>
            <p:nvSpPr>
              <p:cNvPr id="12" name="Tekstvak 11">
                <a:extLst>
                  <a:ext uri="{FF2B5EF4-FFF2-40B4-BE49-F238E27FC236}">
                    <a16:creationId xmlns:a16="http://schemas.microsoft.com/office/drawing/2014/main" id="{E21EC20F-6CF4-A3B9-5406-7FE14C305140}"/>
                  </a:ext>
                </a:extLst>
              </p:cNvPr>
              <p:cNvSpPr txBox="1"/>
              <p:nvPr/>
            </p:nvSpPr>
            <p:spPr>
              <a:xfrm>
                <a:off x="-542261" y="1864113"/>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m:t>
                          </m:r>
                        </m:e>
                        <m:e>
                          <m:r>
                            <a:rPr lang="nl-NL" sz="2000" b="0" i="1" smtClean="0">
                              <a:solidFill>
                                <a:schemeClr val="tx1"/>
                              </a:solidFill>
                              <a:latin typeface="Cambria Math" panose="02040503050406030204" pitchFamily="18" charset="0"/>
                            </a:rPr>
                            <m:t>𝐶𝑜𝑛𝑡𝑒𝑛𝑡</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𝐶𝑜𝑛𝑡𝑒𝑛𝑡</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num>
                        <m:den>
                          <m:r>
                            <a:rPr lang="nl-NL" sz="2000" i="1">
                              <a:solidFill>
                                <a:schemeClr val="tx1"/>
                              </a:solidFill>
                              <a:latin typeface="Cambria Math" panose="02040503050406030204" pitchFamily="18" charset="0"/>
                            </a:rPr>
                            <m:t>𝑝</m:t>
                          </m:r>
                          <m:r>
                            <a:rPr lang="nl-NL" sz="2000" i="1">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𝐶𝑜𝑛𝑡𝑒𝑛𝑡</m:t>
                          </m:r>
                          <m:r>
                            <a:rPr lang="nl-NL" sz="2000" i="1">
                              <a:solidFill>
                                <a:schemeClr val="tx1"/>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12" name="Tekstvak 11">
                <a:extLst>
                  <a:ext uri="{FF2B5EF4-FFF2-40B4-BE49-F238E27FC236}">
                    <a16:creationId xmlns:a16="http://schemas.microsoft.com/office/drawing/2014/main" id="{E21EC20F-6CF4-A3B9-5406-7FE14C305140}"/>
                  </a:ext>
                </a:extLst>
              </p:cNvPr>
              <p:cNvSpPr txBox="1">
                <a:spLocks noRot="1" noChangeAspect="1" noMove="1" noResize="1" noEditPoints="1" noAdjustHandles="1" noChangeArrowheads="1" noChangeShapeType="1" noTextEdit="1"/>
              </p:cNvSpPr>
              <p:nvPr/>
            </p:nvSpPr>
            <p:spPr>
              <a:xfrm>
                <a:off x="-542261" y="1864113"/>
                <a:ext cx="7079428" cy="948593"/>
              </a:xfrm>
              <a:prstGeom prst="rect">
                <a:avLst/>
              </a:prstGeom>
              <a:blipFill>
                <a:blip r:embed="rId3"/>
                <a:stretch>
                  <a:fillRect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kstvak 21">
                <a:extLst>
                  <a:ext uri="{FF2B5EF4-FFF2-40B4-BE49-F238E27FC236}">
                    <a16:creationId xmlns:a16="http://schemas.microsoft.com/office/drawing/2014/main" id="{AE2D4819-2C96-CEBD-E352-4638F4F69EE3}"/>
                  </a:ext>
                </a:extLst>
              </p:cNvPr>
              <p:cNvSpPr txBox="1"/>
              <p:nvPr/>
            </p:nvSpPr>
            <p:spPr>
              <a:xfrm>
                <a:off x="-983428" y="4477883"/>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m:t>
                          </m:r>
                        </m:e>
                        <m:e>
                          <m:r>
                            <a:rPr lang="nl-NL" sz="2000" b="0" i="1" smtClean="0">
                              <a:solidFill>
                                <a:schemeClr val="tx1"/>
                              </a:solidFill>
                              <a:latin typeface="Cambria Math" panose="02040503050406030204" pitchFamily="18" charset="0"/>
                            </a:rPr>
                            <m:t>𝑊𝑜𝑟𝑑</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𝑊</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num>
                        <m:den>
                          <m:r>
                            <a:rPr lang="nl-NL" sz="2000" i="1">
                              <a:solidFill>
                                <a:schemeClr val="tx1"/>
                              </a:solidFill>
                              <a:latin typeface="Cambria Math" panose="02040503050406030204" pitchFamily="18" charset="0"/>
                            </a:rPr>
                            <m:t>𝑝</m:t>
                          </m:r>
                          <m:r>
                            <a:rPr lang="nl-NL" sz="2000" i="1">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𝑊</m:t>
                          </m:r>
                          <m:r>
                            <a:rPr lang="nl-NL" sz="2000" i="1">
                              <a:solidFill>
                                <a:schemeClr val="tx1"/>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22" name="Tekstvak 21">
                <a:extLst>
                  <a:ext uri="{FF2B5EF4-FFF2-40B4-BE49-F238E27FC236}">
                    <a16:creationId xmlns:a16="http://schemas.microsoft.com/office/drawing/2014/main" id="{AE2D4819-2C96-CEBD-E352-4638F4F69EE3}"/>
                  </a:ext>
                </a:extLst>
              </p:cNvPr>
              <p:cNvSpPr txBox="1">
                <a:spLocks noRot="1" noChangeAspect="1" noMove="1" noResize="1" noEditPoints="1" noAdjustHandles="1" noChangeArrowheads="1" noChangeShapeType="1" noTextEdit="1"/>
              </p:cNvSpPr>
              <p:nvPr/>
            </p:nvSpPr>
            <p:spPr>
              <a:xfrm>
                <a:off x="-983428" y="4477883"/>
                <a:ext cx="7079428" cy="948593"/>
              </a:xfrm>
              <a:prstGeom prst="rect">
                <a:avLst/>
              </a:prstGeom>
              <a:blipFill>
                <a:blip r:embed="rId4"/>
                <a:stretch>
                  <a:fillRect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kstvak 22">
                <a:extLst>
                  <a:ext uri="{FF2B5EF4-FFF2-40B4-BE49-F238E27FC236}">
                    <a16:creationId xmlns:a16="http://schemas.microsoft.com/office/drawing/2014/main" id="{A1D16CC1-45C1-0D00-0513-7E7F1224559E}"/>
                  </a:ext>
                </a:extLst>
              </p:cNvPr>
              <p:cNvSpPr txBox="1"/>
              <p:nvPr/>
            </p:nvSpPr>
            <p:spPr>
              <a:xfrm>
                <a:off x="731874" y="3085609"/>
                <a:ext cx="10621926" cy="959686"/>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a:latin typeface="Cambria Math" panose="02040503050406030204" pitchFamily="18" charset="0"/>
                        </a:rPr>
                        <m:t>𝑝</m:t>
                      </m:r>
                      <m:r>
                        <a:rPr lang="nl-NL" sz="2000" b="0" i="1" smtClean="0">
                          <a:latin typeface="Cambria Math" panose="02040503050406030204" pitchFamily="18" charset="0"/>
                        </a:rPr>
                        <m:t>(</m:t>
                      </m:r>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b="0" i="1" smtClean="0">
                          <a:latin typeface="Cambria Math" panose="02040503050406030204" pitchFamily="18" charset="0"/>
                        </a:rPr>
                        <m:t>𝐶𝑜𝑛𝑡𝑒𝑛𝑡</m:t>
                      </m:r>
                      <m:r>
                        <a:rPr lang="nl-NL" sz="2000" b="0" i="1" smtClean="0">
                          <a:latin typeface="Cambria Math" panose="02040503050406030204" pitchFamily="18" charset="0"/>
                        </a:rPr>
                        <m:t>)=</m:t>
                      </m:r>
                      <m:f>
                        <m:fPr>
                          <m:ctrlPr>
                            <a:rPr lang="nl-NL" sz="2000" b="0" i="1" smtClean="0">
                              <a:latin typeface="Cambria Math" panose="02040503050406030204" pitchFamily="18" charset="0"/>
                            </a:rPr>
                          </m:ctrlPr>
                        </m:fPr>
                        <m:num>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i="1" smtClean="0">
                                      <a:latin typeface="Cambria Math" panose="02040503050406030204" pitchFamily="18" charset="0"/>
                                    </a:rPr>
                                    <m:t>𝑤</m:t>
                                  </m:r>
                                </m:e>
                                <m:sub>
                                  <m:r>
                                    <a:rPr lang="nl-NL" sz="2000" b="0" i="1" smtClean="0">
                                      <a:latin typeface="Cambria Math" panose="02040503050406030204" pitchFamily="18" charset="0"/>
                                    </a:rPr>
                                    <m:t>1</m:t>
                                  </m:r>
                                </m:sub>
                              </m:sSub>
                            </m:e>
                          </m:d>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b="0" i="1" smtClean="0">
                                      <a:latin typeface="Cambria Math" panose="02040503050406030204" pitchFamily="18" charset="0"/>
                                    </a:rPr>
                                    <m:t>𝑤</m:t>
                                  </m:r>
                                </m:e>
                                <m:sub>
                                  <m:r>
                                    <a:rPr lang="nl-NL" sz="2000" b="0" i="1" smtClean="0">
                                      <a:latin typeface="Cambria Math" panose="02040503050406030204" pitchFamily="18" charset="0"/>
                                    </a:rPr>
                                    <m:t>2</m:t>
                                  </m:r>
                                </m:sub>
                              </m:sSub>
                            </m:e>
                          </m:d>
                          <m:r>
                            <a:rPr lang="nl-NL" sz="2000" i="1">
                              <a:latin typeface="Cambria Math" panose="02040503050406030204" pitchFamily="18" charset="0"/>
                            </a:rPr>
                            <m:t>…</m:t>
                          </m:r>
                          <m:r>
                            <a:rPr lang="nl-NL" sz="2000" i="1">
                              <a:latin typeface="Cambria Math" panose="02040503050406030204" pitchFamily="18" charset="0"/>
                            </a:rPr>
                            <m:t>𝑝</m:t>
                          </m:r>
                          <m:r>
                            <a:rPr lang="nl-NL" sz="2000" i="1">
                              <a:latin typeface="Cambria Math" panose="02040503050406030204" pitchFamily="18" charset="0"/>
                            </a:rPr>
                            <m:t>(</m:t>
                          </m:r>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b="0" i="1" smtClean="0">
                                  <a:latin typeface="Cambria Math" panose="02040503050406030204" pitchFamily="18" charset="0"/>
                                </a:rPr>
                                <m:t>𝑤</m:t>
                              </m:r>
                            </m:e>
                            <m:sub>
                              <m:r>
                                <a:rPr lang="nl-NL" sz="2000" b="0" i="1" smtClean="0">
                                  <a:latin typeface="Cambria Math" panose="02040503050406030204" pitchFamily="18" charset="0"/>
                                </a:rPr>
                                <m:t>𝑛</m:t>
                              </m:r>
                            </m:sub>
                          </m:sSub>
                          <m:r>
                            <a:rPr lang="nl-NL" sz="2000" i="1">
                              <a:latin typeface="Cambria Math" panose="02040503050406030204" pitchFamily="18" charset="0"/>
                            </a:rPr>
                            <m:t>)</m:t>
                          </m:r>
                        </m:num>
                        <m:den>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1</m:t>
                                  </m:r>
                                </m:sub>
                              </m:sSub>
                            </m:e>
                          </m:d>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2</m:t>
                                  </m:r>
                                </m:sub>
                              </m:sSub>
                            </m:e>
                          </m:d>
                          <m:r>
                            <a:rPr lang="nl-NL" sz="2000" i="1">
                              <a:latin typeface="Cambria Math" panose="02040503050406030204" pitchFamily="18" charset="0"/>
                            </a:rPr>
                            <m:t>…</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𝑛</m:t>
                                  </m:r>
                                </m:sub>
                              </m:sSub>
                            </m:e>
                          </m:d>
                          <m:r>
                            <a:rPr lang="nl-NL" sz="2000" b="0" i="1" smtClean="0">
                              <a:latin typeface="Cambria Math" panose="02040503050406030204" pitchFamily="18" charset="0"/>
                            </a:rPr>
                            <m:t>+(1−</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1</m:t>
                                  </m:r>
                                </m:sub>
                              </m:sSub>
                            </m:e>
                          </m:d>
                          <m:r>
                            <a:rPr lang="nl-NL" sz="2000" b="0" i="1" smtClean="0">
                              <a:latin typeface="Cambria Math" panose="02040503050406030204" pitchFamily="18" charset="0"/>
                            </a:rPr>
                            <m:t>)(1−</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2</m:t>
                                  </m:r>
                                </m:sub>
                              </m:sSub>
                            </m:e>
                          </m:d>
                          <m:r>
                            <a:rPr lang="nl-NL" sz="2000" b="0" i="1" smtClean="0">
                              <a:latin typeface="Cambria Math" panose="02040503050406030204" pitchFamily="18" charset="0"/>
                            </a:rPr>
                            <m:t>)</m:t>
                          </m:r>
                          <m:r>
                            <a:rPr lang="nl-NL" sz="2000" i="1">
                              <a:latin typeface="Cambria Math" panose="02040503050406030204" pitchFamily="18" charset="0"/>
                            </a:rPr>
                            <m:t>…</m:t>
                          </m:r>
                          <m:r>
                            <a:rPr lang="nl-NL" sz="2000" b="0" i="1" smtClean="0">
                              <a:latin typeface="Cambria Math" panose="02040503050406030204" pitchFamily="18" charset="0"/>
                            </a:rPr>
                            <m:t>(1−</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𝑛</m:t>
                                  </m:r>
                                </m:sub>
                              </m:sSub>
                            </m:e>
                          </m:d>
                          <m:r>
                            <a:rPr lang="nl-NL" sz="2000" b="0" i="1" smtClean="0">
                              <a:latin typeface="Cambria Math" panose="02040503050406030204" pitchFamily="18" charset="0"/>
                            </a:rPr>
                            <m:t>)</m:t>
                          </m:r>
                        </m:den>
                      </m:f>
                    </m:oMath>
                  </m:oMathPara>
                </a14:m>
                <a:endParaRPr lang="nl-NL" sz="2000" b="0" dirty="0"/>
              </a:p>
            </p:txBody>
          </p:sp>
        </mc:Choice>
        <mc:Fallback xmlns="">
          <p:sp>
            <p:nvSpPr>
              <p:cNvPr id="23" name="Tekstvak 22">
                <a:extLst>
                  <a:ext uri="{FF2B5EF4-FFF2-40B4-BE49-F238E27FC236}">
                    <a16:creationId xmlns:a16="http://schemas.microsoft.com/office/drawing/2014/main" id="{A1D16CC1-45C1-0D00-0513-7E7F1224559E}"/>
                  </a:ext>
                </a:extLst>
              </p:cNvPr>
              <p:cNvSpPr txBox="1">
                <a:spLocks noRot="1" noChangeAspect="1" noMove="1" noResize="1" noEditPoints="1" noAdjustHandles="1" noChangeArrowheads="1" noChangeShapeType="1" noTextEdit="1"/>
              </p:cNvSpPr>
              <p:nvPr/>
            </p:nvSpPr>
            <p:spPr>
              <a:xfrm>
                <a:off x="731874" y="3085609"/>
                <a:ext cx="10621926" cy="959686"/>
              </a:xfrm>
              <a:prstGeom prst="rect">
                <a:avLst/>
              </a:prstGeom>
              <a:blipFill>
                <a:blip r:embed="rId5"/>
                <a:stretch>
                  <a:fillRect b="-6494"/>
                </a:stretch>
              </a:blipFill>
            </p:spPr>
            <p:txBody>
              <a:bodyPr/>
              <a:lstStyle/>
              <a:p>
                <a:r>
                  <a:rPr lang="en-US">
                    <a:noFill/>
                  </a:rPr>
                  <a:t> </a:t>
                </a:r>
              </a:p>
            </p:txBody>
          </p:sp>
        </mc:Fallback>
      </mc:AlternateContent>
      <p:sp>
        <p:nvSpPr>
          <p:cNvPr id="25" name="Tekstvak 24">
            <a:extLst>
              <a:ext uri="{FF2B5EF4-FFF2-40B4-BE49-F238E27FC236}">
                <a16:creationId xmlns:a16="http://schemas.microsoft.com/office/drawing/2014/main" id="{D20219C0-14D4-D81F-BBEF-9B6BB47987E0}"/>
              </a:ext>
            </a:extLst>
          </p:cNvPr>
          <p:cNvSpPr txBox="1"/>
          <p:nvPr/>
        </p:nvSpPr>
        <p:spPr>
          <a:xfrm>
            <a:off x="5824785" y="2203484"/>
            <a:ext cx="3071696" cy="369332"/>
          </a:xfrm>
          <a:prstGeom prst="rect">
            <a:avLst/>
          </a:prstGeom>
          <a:noFill/>
        </p:spPr>
        <p:txBody>
          <a:bodyPr wrap="square" rtlCol="0">
            <a:spAutoFit/>
          </a:bodyPr>
          <a:lstStyle/>
          <a:p>
            <a:r>
              <a:rPr lang="en-US" dirty="0">
                <a:solidFill>
                  <a:schemeClr val="tx2"/>
                </a:solidFill>
              </a:rPr>
              <a:t>Basic Bayes Theorem</a:t>
            </a:r>
          </a:p>
        </p:txBody>
      </p:sp>
      <p:sp>
        <p:nvSpPr>
          <p:cNvPr id="26" name="Tekstvak 25">
            <a:extLst>
              <a:ext uri="{FF2B5EF4-FFF2-40B4-BE49-F238E27FC236}">
                <a16:creationId xmlns:a16="http://schemas.microsoft.com/office/drawing/2014/main" id="{9CFA36D6-C7C4-D489-A754-594429E273F0}"/>
              </a:ext>
            </a:extLst>
          </p:cNvPr>
          <p:cNvSpPr txBox="1"/>
          <p:nvPr/>
        </p:nvSpPr>
        <p:spPr>
          <a:xfrm>
            <a:off x="8896481" y="2812706"/>
            <a:ext cx="3071696" cy="646331"/>
          </a:xfrm>
          <a:prstGeom prst="rect">
            <a:avLst/>
          </a:prstGeom>
          <a:noFill/>
        </p:spPr>
        <p:txBody>
          <a:bodyPr wrap="square" rtlCol="0">
            <a:spAutoFit/>
          </a:bodyPr>
          <a:lstStyle/>
          <a:p>
            <a:pPr algn="ctr"/>
            <a:r>
              <a:rPr lang="en-US" dirty="0">
                <a:solidFill>
                  <a:schemeClr val="tx2"/>
                </a:solidFill>
              </a:rPr>
              <a:t>Factorization of individual words</a:t>
            </a:r>
          </a:p>
        </p:txBody>
      </p:sp>
      <p:cxnSp>
        <p:nvCxnSpPr>
          <p:cNvPr id="28" name="Rechte verbindingslijn met pijl 27">
            <a:extLst>
              <a:ext uri="{FF2B5EF4-FFF2-40B4-BE49-F238E27FC236}">
                <a16:creationId xmlns:a16="http://schemas.microsoft.com/office/drawing/2014/main" id="{216E5F58-36C9-D399-145F-AA8444E0B155}"/>
              </a:ext>
            </a:extLst>
          </p:cNvPr>
          <p:cNvCxnSpPr/>
          <p:nvPr/>
        </p:nvCxnSpPr>
        <p:spPr>
          <a:xfrm flipH="1">
            <a:off x="5112403" y="2388150"/>
            <a:ext cx="712382" cy="0"/>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Rechte verbindingslijn met pijl 28">
            <a:extLst>
              <a:ext uri="{FF2B5EF4-FFF2-40B4-BE49-F238E27FC236}">
                <a16:creationId xmlns:a16="http://schemas.microsoft.com/office/drawing/2014/main" id="{B9CB8448-008C-79E4-C312-18CB7F84607A}"/>
              </a:ext>
            </a:extLst>
          </p:cNvPr>
          <p:cNvCxnSpPr>
            <a:cxnSpLocks/>
          </p:cNvCxnSpPr>
          <p:nvPr/>
        </p:nvCxnSpPr>
        <p:spPr>
          <a:xfrm flipH="1">
            <a:off x="8474149" y="3085609"/>
            <a:ext cx="543948" cy="34339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1" name="Tekstvak 30">
            <a:extLst>
              <a:ext uri="{FF2B5EF4-FFF2-40B4-BE49-F238E27FC236}">
                <a16:creationId xmlns:a16="http://schemas.microsoft.com/office/drawing/2014/main" id="{C75E2803-C772-644B-3199-C90CA52FF19F}"/>
              </a:ext>
            </a:extLst>
          </p:cNvPr>
          <p:cNvSpPr txBox="1"/>
          <p:nvPr/>
        </p:nvSpPr>
        <p:spPr>
          <a:xfrm>
            <a:off x="9018097" y="4437943"/>
            <a:ext cx="3071696" cy="923330"/>
          </a:xfrm>
          <a:prstGeom prst="rect">
            <a:avLst/>
          </a:prstGeom>
          <a:noFill/>
        </p:spPr>
        <p:txBody>
          <a:bodyPr wrap="square" rtlCol="0">
            <a:spAutoFit/>
          </a:bodyPr>
          <a:lstStyle/>
          <a:p>
            <a:pPr algn="ctr"/>
            <a:r>
              <a:rPr lang="en-US" dirty="0">
                <a:solidFill>
                  <a:schemeClr val="tx2"/>
                </a:solidFill>
              </a:rPr>
              <a:t>Divide by marginal to make sure we get a probability between 0 and 1.</a:t>
            </a:r>
          </a:p>
        </p:txBody>
      </p:sp>
      <p:cxnSp>
        <p:nvCxnSpPr>
          <p:cNvPr id="32" name="Rechte verbindingslijn met pijl 31">
            <a:extLst>
              <a:ext uri="{FF2B5EF4-FFF2-40B4-BE49-F238E27FC236}">
                <a16:creationId xmlns:a16="http://schemas.microsoft.com/office/drawing/2014/main" id="{F1D7ACE2-131E-013A-18A5-A8348FC47909}"/>
              </a:ext>
            </a:extLst>
          </p:cNvPr>
          <p:cNvCxnSpPr>
            <a:cxnSpLocks/>
          </p:cNvCxnSpPr>
          <p:nvPr/>
        </p:nvCxnSpPr>
        <p:spPr>
          <a:xfrm flipH="1" flipV="1">
            <a:off x="8325293" y="4181747"/>
            <a:ext cx="808074" cy="592272"/>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Tekstvak 34">
            <a:extLst>
              <a:ext uri="{FF2B5EF4-FFF2-40B4-BE49-F238E27FC236}">
                <a16:creationId xmlns:a16="http://schemas.microsoft.com/office/drawing/2014/main" id="{FDCD88C4-4383-071A-1022-2FDF27D89D51}"/>
              </a:ext>
            </a:extLst>
          </p:cNvPr>
          <p:cNvSpPr txBox="1"/>
          <p:nvPr/>
        </p:nvSpPr>
        <p:spPr>
          <a:xfrm>
            <a:off x="5402453" y="5185539"/>
            <a:ext cx="3071696" cy="1200329"/>
          </a:xfrm>
          <a:prstGeom prst="rect">
            <a:avLst/>
          </a:prstGeom>
          <a:noFill/>
        </p:spPr>
        <p:txBody>
          <a:bodyPr wrap="square" rtlCol="0">
            <a:spAutoFit/>
          </a:bodyPr>
          <a:lstStyle/>
          <a:p>
            <a:pPr algn="ctr"/>
            <a:r>
              <a:rPr lang="en-US" dirty="0">
                <a:solidFill>
                  <a:schemeClr val="tx2"/>
                </a:solidFill>
              </a:rPr>
              <a:t>Estimate ‘</a:t>
            </a:r>
            <a:r>
              <a:rPr lang="en-US" dirty="0" err="1">
                <a:solidFill>
                  <a:schemeClr val="tx2"/>
                </a:solidFill>
              </a:rPr>
              <a:t>spaminess</a:t>
            </a:r>
            <a:r>
              <a:rPr lang="en-US" dirty="0">
                <a:solidFill>
                  <a:schemeClr val="tx2"/>
                </a:solidFill>
              </a:rPr>
              <a:t>’ on word level and chain together to get </a:t>
            </a:r>
            <a:r>
              <a:rPr lang="en-US" dirty="0" err="1">
                <a:solidFill>
                  <a:schemeClr val="tx2"/>
                </a:solidFill>
              </a:rPr>
              <a:t>spaminess</a:t>
            </a:r>
            <a:r>
              <a:rPr lang="en-US" dirty="0">
                <a:solidFill>
                  <a:schemeClr val="tx2"/>
                </a:solidFill>
              </a:rPr>
              <a:t> of full content.</a:t>
            </a:r>
          </a:p>
        </p:txBody>
      </p:sp>
      <p:cxnSp>
        <p:nvCxnSpPr>
          <p:cNvPr id="36" name="Rechte verbindingslijn met pijl 35">
            <a:extLst>
              <a:ext uri="{FF2B5EF4-FFF2-40B4-BE49-F238E27FC236}">
                <a16:creationId xmlns:a16="http://schemas.microsoft.com/office/drawing/2014/main" id="{8AC28EE9-C421-8E30-8CE2-48924456E675}"/>
              </a:ext>
            </a:extLst>
          </p:cNvPr>
          <p:cNvCxnSpPr>
            <a:cxnSpLocks/>
          </p:cNvCxnSpPr>
          <p:nvPr/>
        </p:nvCxnSpPr>
        <p:spPr>
          <a:xfrm flipH="1" flipV="1">
            <a:off x="4311502" y="5094177"/>
            <a:ext cx="1018338" cy="61176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4096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E9AB-669D-C1EC-1E61-3ED380AFC94A}"/>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69E8CF70-6771-5776-DA84-29548771BDC0}"/>
              </a:ext>
            </a:extLst>
          </p:cNvPr>
          <p:cNvSpPr>
            <a:spLocks noGrp="1"/>
          </p:cNvSpPr>
          <p:nvPr>
            <p:ph type="sldNum" sz="quarter" idx="12"/>
          </p:nvPr>
        </p:nvSpPr>
        <p:spPr/>
        <p:txBody>
          <a:bodyPr/>
          <a:lstStyle/>
          <a:p>
            <a:fld id="{FACE7509-F60A-4509-9491-CD4ED7B54EDD}" type="slidenum">
              <a:rPr lang="nl-NL" smtClean="0"/>
              <a:pPr/>
              <a:t>23</a:t>
            </a:fld>
            <a:endParaRPr lang="nl-NL"/>
          </a:p>
        </p:txBody>
      </p:sp>
      <p:sp>
        <p:nvSpPr>
          <p:cNvPr id="4" name="Titel 3">
            <a:extLst>
              <a:ext uri="{FF2B5EF4-FFF2-40B4-BE49-F238E27FC236}">
                <a16:creationId xmlns:a16="http://schemas.microsoft.com/office/drawing/2014/main" id="{B44F2017-5A13-3081-8564-7E75647DD1D3}"/>
              </a:ext>
            </a:extLst>
          </p:cNvPr>
          <p:cNvSpPr>
            <a:spLocks noGrp="1"/>
          </p:cNvSpPr>
          <p:nvPr>
            <p:ph type="title"/>
          </p:nvPr>
        </p:nvSpPr>
        <p:spPr/>
        <p:txBody>
          <a:bodyPr/>
          <a:lstStyle/>
          <a:p>
            <a:r>
              <a:rPr lang="en-US" dirty="0"/>
              <a:t>5. Naïve Bayesian classifiers</a:t>
            </a:r>
          </a:p>
        </p:txBody>
      </p:sp>
      <mc:AlternateContent xmlns:mc="http://schemas.openxmlformats.org/markup-compatibility/2006" xmlns:a14="http://schemas.microsoft.com/office/drawing/2010/main">
        <mc:Choice Requires="a14">
          <p:sp>
            <p:nvSpPr>
              <p:cNvPr id="22" name="Tekstvak 21">
                <a:extLst>
                  <a:ext uri="{FF2B5EF4-FFF2-40B4-BE49-F238E27FC236}">
                    <a16:creationId xmlns:a16="http://schemas.microsoft.com/office/drawing/2014/main" id="{F4ECBF90-FEE4-0587-7927-8D5652089819}"/>
                  </a:ext>
                </a:extLst>
              </p:cNvPr>
              <p:cNvSpPr txBox="1"/>
              <p:nvPr/>
            </p:nvSpPr>
            <p:spPr>
              <a:xfrm>
                <a:off x="-603085" y="3558297"/>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𝑊𝑜𝑟𝑑</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rgbClr val="FF0000"/>
                              </a:solidFill>
                              <a:latin typeface="Cambria Math" panose="02040503050406030204" pitchFamily="18" charset="0"/>
                            </a:rPr>
                            <m:t>𝑝</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𝑊</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𝑆</m:t>
                          </m:r>
                          <m:r>
                            <a:rPr lang="nl-NL" sz="2000" i="1" smtClean="0">
                              <a:solidFill>
                                <a:srgbClr val="FF0000"/>
                              </a:solidFill>
                              <a:latin typeface="Cambria Math" panose="02040503050406030204" pitchFamily="18" charset="0"/>
                            </a:rPr>
                            <m:t>)</m:t>
                          </m:r>
                          <m:r>
                            <a:rPr lang="nl-NL" sz="2000" i="1" smtClean="0">
                              <a:solidFill>
                                <a:srgbClr val="00B050"/>
                              </a:solidFill>
                              <a:latin typeface="Cambria Math" panose="02040503050406030204" pitchFamily="18" charset="0"/>
                            </a:rPr>
                            <m:t>𝑝</m:t>
                          </m:r>
                          <m:r>
                            <a:rPr lang="nl-NL" sz="200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𝑆</m:t>
                          </m:r>
                          <m:r>
                            <a:rPr lang="nl-NL" sz="2000" i="1" smtClean="0">
                              <a:solidFill>
                                <a:srgbClr val="00B050"/>
                              </a:solidFill>
                              <a:latin typeface="Cambria Math" panose="02040503050406030204" pitchFamily="18" charset="0"/>
                            </a:rPr>
                            <m:t>)</m:t>
                          </m:r>
                        </m:num>
                        <m:den>
                          <m:r>
                            <a:rPr lang="nl-NL" sz="2000" i="1" smtClean="0">
                              <a:solidFill>
                                <a:srgbClr val="00B0F0"/>
                              </a:solidFill>
                              <a:latin typeface="Cambria Math" panose="02040503050406030204" pitchFamily="18" charset="0"/>
                            </a:rPr>
                            <m:t>𝑝</m:t>
                          </m:r>
                          <m:r>
                            <a:rPr lang="nl-NL" sz="200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𝑊</m:t>
                          </m:r>
                          <m:r>
                            <a:rPr lang="nl-NL" sz="2000" i="1">
                              <a:solidFill>
                                <a:srgbClr val="00B0F0"/>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22" name="Tekstvak 21">
                <a:extLst>
                  <a:ext uri="{FF2B5EF4-FFF2-40B4-BE49-F238E27FC236}">
                    <a16:creationId xmlns:a16="http://schemas.microsoft.com/office/drawing/2014/main" id="{F4ECBF90-FEE4-0587-7927-8D5652089819}"/>
                  </a:ext>
                </a:extLst>
              </p:cNvPr>
              <p:cNvSpPr txBox="1">
                <a:spLocks noRot="1" noChangeAspect="1" noMove="1" noResize="1" noEditPoints="1" noAdjustHandles="1" noChangeArrowheads="1" noChangeShapeType="1" noTextEdit="1"/>
              </p:cNvSpPr>
              <p:nvPr/>
            </p:nvSpPr>
            <p:spPr>
              <a:xfrm>
                <a:off x="-603085" y="3558297"/>
                <a:ext cx="7079428" cy="948593"/>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kstvak 1">
                <a:extLst>
                  <a:ext uri="{FF2B5EF4-FFF2-40B4-BE49-F238E27FC236}">
                    <a16:creationId xmlns:a16="http://schemas.microsoft.com/office/drawing/2014/main" id="{5EF3F71E-5769-1B4F-B59D-96298F3E5F6C}"/>
                  </a:ext>
                </a:extLst>
              </p:cNvPr>
              <p:cNvSpPr txBox="1"/>
              <p:nvPr/>
            </p:nvSpPr>
            <p:spPr>
              <a:xfrm>
                <a:off x="4192196" y="2740829"/>
                <a:ext cx="7079428" cy="946093"/>
              </a:xfrm>
              <a:prstGeom prst="rect">
                <a:avLst/>
              </a:prstGeom>
              <a:noFill/>
            </p:spPr>
            <p:txBody>
              <a:bodyPr wrap="square" rtlCol="0">
                <a:spAutoFit/>
              </a:bodyPr>
              <a:lstStyle/>
              <a:p>
                <a:endParaRPr lang="en-US" sz="1400" dirty="0">
                  <a:solidFill>
                    <a:srgbClr val="00B050"/>
                  </a:solidFill>
                </a:endParaRPr>
              </a:p>
              <a:p>
                <a:pPr/>
                <a14:m>
                  <m:oMathPara xmlns:m="http://schemas.openxmlformats.org/officeDocument/2006/math">
                    <m:oMathParaPr>
                      <m:jc m:val="centerGroup"/>
                    </m:oMathParaPr>
                    <m:oMath xmlns:m="http://schemas.openxmlformats.org/officeDocument/2006/math">
                      <m:r>
                        <a:rPr lang="nl-NL" sz="2000" i="1" smtClean="0">
                          <a:solidFill>
                            <a:srgbClr val="00B050"/>
                          </a:solidFill>
                          <a:latin typeface="Cambria Math" panose="02040503050406030204" pitchFamily="18" charset="0"/>
                        </a:rPr>
                        <m:t>𝑝</m:t>
                      </m:r>
                      <m:r>
                        <a:rPr lang="nl-NL" sz="2000" b="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𝑆</m:t>
                      </m:r>
                      <m:r>
                        <a:rPr lang="nl-NL" sz="2000" b="0" i="1" smtClean="0">
                          <a:solidFill>
                            <a:srgbClr val="00B050"/>
                          </a:solidFill>
                          <a:latin typeface="Cambria Math" panose="02040503050406030204" pitchFamily="18" charset="0"/>
                        </a:rPr>
                        <m:t>)=</m:t>
                      </m:r>
                      <m:f>
                        <m:fPr>
                          <m:ctrlPr>
                            <a:rPr lang="nl-NL" sz="2000" i="1">
                              <a:solidFill>
                                <a:srgbClr val="00B050"/>
                              </a:solidFill>
                              <a:latin typeface="Cambria Math" panose="02040503050406030204" pitchFamily="18" charset="0"/>
                            </a:rPr>
                          </m:ctrlPr>
                        </m:fPr>
                        <m:num>
                          <m:r>
                            <a:rPr lang="nl-NL" sz="2000" b="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𝑠𝑝𝑎𝑚</m:t>
                          </m:r>
                          <m:r>
                            <a:rPr lang="nl-NL" sz="2000" b="0" i="1" smtClean="0">
                              <a:solidFill>
                                <a:srgbClr val="00B050"/>
                              </a:solidFill>
                              <a:latin typeface="Cambria Math" panose="02040503050406030204" pitchFamily="18" charset="0"/>
                            </a:rPr>
                            <m:t> </m:t>
                          </m:r>
                          <m:r>
                            <a:rPr lang="nl-NL" sz="2000" b="0" i="1" smtClean="0">
                              <a:solidFill>
                                <a:srgbClr val="00B050"/>
                              </a:solidFill>
                              <a:latin typeface="Cambria Math" panose="02040503050406030204" pitchFamily="18" charset="0"/>
                            </a:rPr>
                            <m:t>𝑚𝑒𝑠𝑠𝑎𝑔𝑒𝑠</m:t>
                          </m:r>
                        </m:num>
                        <m:den>
                          <m:r>
                            <a:rPr lang="nl-NL" sz="2000" b="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𝑎𝑙𝑙</m:t>
                          </m:r>
                          <m:r>
                            <a:rPr lang="nl-NL" sz="2000" b="0" i="1" smtClean="0">
                              <a:solidFill>
                                <a:srgbClr val="00B050"/>
                              </a:solidFill>
                              <a:latin typeface="Cambria Math" panose="02040503050406030204" pitchFamily="18" charset="0"/>
                            </a:rPr>
                            <m:t> </m:t>
                          </m:r>
                          <m:r>
                            <a:rPr lang="nl-NL" sz="2000" b="0" i="1" smtClean="0">
                              <a:solidFill>
                                <a:srgbClr val="00B050"/>
                              </a:solidFill>
                              <a:latin typeface="Cambria Math" panose="02040503050406030204" pitchFamily="18" charset="0"/>
                            </a:rPr>
                            <m:t>𝑚𝑒𝑠𝑠𝑎𝑔𝑒𝑠</m:t>
                          </m:r>
                        </m:den>
                      </m:f>
                    </m:oMath>
                  </m:oMathPara>
                </a14:m>
                <a:endParaRPr lang="en-US" sz="2000" dirty="0">
                  <a:solidFill>
                    <a:srgbClr val="00B050"/>
                  </a:solidFill>
                </a:endParaRPr>
              </a:p>
            </p:txBody>
          </p:sp>
        </mc:Choice>
        <mc:Fallback xmlns="">
          <p:sp>
            <p:nvSpPr>
              <p:cNvPr id="2" name="Tekstvak 1">
                <a:extLst>
                  <a:ext uri="{FF2B5EF4-FFF2-40B4-BE49-F238E27FC236}">
                    <a16:creationId xmlns:a16="http://schemas.microsoft.com/office/drawing/2014/main" id="{5EF3F71E-5769-1B4F-B59D-96298F3E5F6C}"/>
                  </a:ext>
                </a:extLst>
              </p:cNvPr>
              <p:cNvSpPr txBox="1">
                <a:spLocks noRot="1" noChangeAspect="1" noMove="1" noResize="1" noEditPoints="1" noAdjustHandles="1" noChangeArrowheads="1" noChangeShapeType="1" noTextEdit="1"/>
              </p:cNvSpPr>
              <p:nvPr/>
            </p:nvSpPr>
            <p:spPr>
              <a:xfrm>
                <a:off x="4192196" y="2740829"/>
                <a:ext cx="7079428" cy="946093"/>
              </a:xfrm>
              <a:prstGeom prst="rect">
                <a:avLst/>
              </a:prstGeom>
              <a:blipFill>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A5E6AB44-8EB3-7E25-FF9E-1D52BBE343CF}"/>
                  </a:ext>
                </a:extLst>
              </p:cNvPr>
              <p:cNvSpPr txBox="1"/>
              <p:nvPr/>
            </p:nvSpPr>
            <p:spPr>
              <a:xfrm>
                <a:off x="4734457" y="3582910"/>
                <a:ext cx="7079428" cy="946093"/>
              </a:xfrm>
              <a:prstGeom prst="rect">
                <a:avLst/>
              </a:prstGeom>
              <a:noFill/>
            </p:spPr>
            <p:txBody>
              <a:bodyPr wrap="square" rtlCol="0">
                <a:spAutoFit/>
              </a:bodyPr>
              <a:lstStyle/>
              <a:p>
                <a:endParaRPr lang="en-US" sz="1400" dirty="0">
                  <a:solidFill>
                    <a:srgbClr val="00B0F0"/>
                  </a:solidFill>
                </a:endParaRPr>
              </a:p>
              <a:p>
                <a:pPr/>
                <a14:m>
                  <m:oMathPara xmlns:m="http://schemas.openxmlformats.org/officeDocument/2006/math">
                    <m:oMathParaPr>
                      <m:jc m:val="centerGroup"/>
                    </m:oMathParaPr>
                    <m:oMath xmlns:m="http://schemas.openxmlformats.org/officeDocument/2006/math">
                      <m:r>
                        <a:rPr lang="nl-NL" sz="2000" i="1" smtClean="0">
                          <a:solidFill>
                            <a:srgbClr val="00B0F0"/>
                          </a:solidFill>
                          <a:latin typeface="Cambria Math" panose="02040503050406030204" pitchFamily="18" charset="0"/>
                        </a:rPr>
                        <m:t>𝑝</m:t>
                      </m:r>
                      <m:r>
                        <a:rPr lang="nl-NL" sz="2000" b="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𝑊</m:t>
                      </m:r>
                      <m:r>
                        <a:rPr lang="nl-NL" sz="2000" b="0" i="1" smtClean="0">
                          <a:solidFill>
                            <a:srgbClr val="00B0F0"/>
                          </a:solidFill>
                          <a:latin typeface="Cambria Math" panose="02040503050406030204" pitchFamily="18" charset="0"/>
                        </a:rPr>
                        <m:t>)=</m:t>
                      </m:r>
                      <m:f>
                        <m:fPr>
                          <m:ctrlPr>
                            <a:rPr lang="nl-NL" sz="2000" i="1">
                              <a:solidFill>
                                <a:srgbClr val="00B0F0"/>
                              </a:solidFill>
                              <a:latin typeface="Cambria Math" panose="02040503050406030204" pitchFamily="18" charset="0"/>
                            </a:rPr>
                          </m:ctrlPr>
                        </m:fPr>
                        <m:num>
                          <m:r>
                            <a:rPr lang="nl-NL" sz="2000" b="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𝑎𝑙𝑙</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𝑚𝑒𝑠𝑠𝑎𝑔𝑒𝑠</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𝑤𝑖𝑡h</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𝑤𝑜𝑟𝑑</m:t>
                          </m:r>
                        </m:num>
                        <m:den>
                          <m:r>
                            <a:rPr lang="nl-NL" sz="2000" b="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𝑎𝑙𝑙</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𝑚𝑒𝑠𝑠𝑎𝑔𝑒𝑠</m:t>
                          </m:r>
                        </m:den>
                      </m:f>
                    </m:oMath>
                  </m:oMathPara>
                </a14:m>
                <a:endParaRPr lang="en-US" sz="2000" dirty="0">
                  <a:solidFill>
                    <a:srgbClr val="00B0F0"/>
                  </a:solidFill>
                </a:endParaRPr>
              </a:p>
            </p:txBody>
          </p:sp>
        </mc:Choice>
        <mc:Fallback xmlns="">
          <p:sp>
            <p:nvSpPr>
              <p:cNvPr id="5" name="Tekstvak 4">
                <a:extLst>
                  <a:ext uri="{FF2B5EF4-FFF2-40B4-BE49-F238E27FC236}">
                    <a16:creationId xmlns:a16="http://schemas.microsoft.com/office/drawing/2014/main" id="{A5E6AB44-8EB3-7E25-FF9E-1D52BBE343CF}"/>
                  </a:ext>
                </a:extLst>
              </p:cNvPr>
              <p:cNvSpPr txBox="1">
                <a:spLocks noRot="1" noChangeAspect="1" noMove="1" noResize="1" noEditPoints="1" noAdjustHandles="1" noChangeArrowheads="1" noChangeShapeType="1" noTextEdit="1"/>
              </p:cNvSpPr>
              <p:nvPr/>
            </p:nvSpPr>
            <p:spPr>
              <a:xfrm>
                <a:off x="4734457" y="3582910"/>
                <a:ext cx="7079428" cy="946093"/>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CE999FFF-6A44-D041-3EF1-A33204B30278}"/>
                  </a:ext>
                </a:extLst>
              </p:cNvPr>
              <p:cNvSpPr txBox="1"/>
              <p:nvPr/>
            </p:nvSpPr>
            <p:spPr>
              <a:xfrm>
                <a:off x="4979005" y="4424991"/>
                <a:ext cx="7079428" cy="946093"/>
              </a:xfrm>
              <a:prstGeom prst="rect">
                <a:avLst/>
              </a:prstGeom>
              <a:noFill/>
            </p:spPr>
            <p:txBody>
              <a:bodyPr wrap="square" rtlCol="0">
                <a:spAutoFit/>
              </a:bodyPr>
              <a:lstStyle/>
              <a:p>
                <a:endParaRPr lang="en-US" sz="1400" dirty="0">
                  <a:solidFill>
                    <a:srgbClr val="FF0000"/>
                  </a:solidFill>
                </a:endParaRPr>
              </a:p>
              <a:p>
                <a:pPr/>
                <a14:m>
                  <m:oMathPara xmlns:m="http://schemas.openxmlformats.org/officeDocument/2006/math">
                    <m:oMathParaPr>
                      <m:jc m:val="centerGroup"/>
                    </m:oMathParaPr>
                    <m:oMath xmlns:m="http://schemas.openxmlformats.org/officeDocument/2006/math">
                      <m:r>
                        <a:rPr lang="nl-NL" sz="2000" i="1" smtClean="0">
                          <a:solidFill>
                            <a:srgbClr val="FF0000"/>
                          </a:solidFill>
                          <a:latin typeface="Cambria Math" panose="02040503050406030204" pitchFamily="18" charset="0"/>
                        </a:rPr>
                        <m:t>𝑝</m:t>
                      </m:r>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𝑊</m:t>
                      </m:r>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𝑆</m:t>
                      </m:r>
                      <m:r>
                        <a:rPr lang="nl-NL" sz="2000" b="0" i="1" smtClean="0">
                          <a:solidFill>
                            <a:srgbClr val="FF0000"/>
                          </a:solidFill>
                          <a:latin typeface="Cambria Math" panose="02040503050406030204" pitchFamily="18" charset="0"/>
                        </a:rPr>
                        <m:t>)=</m:t>
                      </m:r>
                      <m:f>
                        <m:fPr>
                          <m:ctrlPr>
                            <a:rPr lang="nl-NL" sz="2000" i="1">
                              <a:solidFill>
                                <a:srgbClr val="FF0000"/>
                              </a:solidFill>
                              <a:latin typeface="Cambria Math" panose="02040503050406030204" pitchFamily="18" charset="0"/>
                            </a:rPr>
                          </m:ctrlPr>
                        </m:fPr>
                        <m:num>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𝑠𝑝𝑎𝑚</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𝑚𝑒𝑠𝑠𝑎𝑔𝑒𝑠</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𝑤𝑖𝑡h</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𝑤𝑜𝑟𝑑</m:t>
                          </m:r>
                        </m:num>
                        <m:den>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𝑎𝑙𝑙</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𝑠𝑝𝑎𝑚</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𝑚𝑒𝑠𝑠𝑎𝑔𝑒𝑠</m:t>
                          </m:r>
                        </m:den>
                      </m:f>
                    </m:oMath>
                  </m:oMathPara>
                </a14:m>
                <a:endParaRPr lang="en-US" sz="2000" dirty="0">
                  <a:solidFill>
                    <a:srgbClr val="FF0000"/>
                  </a:solidFill>
                </a:endParaRPr>
              </a:p>
            </p:txBody>
          </p:sp>
        </mc:Choice>
        <mc:Fallback xmlns="">
          <p:sp>
            <p:nvSpPr>
              <p:cNvPr id="6" name="Tekstvak 5">
                <a:extLst>
                  <a:ext uri="{FF2B5EF4-FFF2-40B4-BE49-F238E27FC236}">
                    <a16:creationId xmlns:a16="http://schemas.microsoft.com/office/drawing/2014/main" id="{CE999FFF-6A44-D041-3EF1-A33204B30278}"/>
                  </a:ext>
                </a:extLst>
              </p:cNvPr>
              <p:cNvSpPr txBox="1">
                <a:spLocks noRot="1" noChangeAspect="1" noMove="1" noResize="1" noEditPoints="1" noAdjustHandles="1" noChangeArrowheads="1" noChangeShapeType="1" noTextEdit="1"/>
              </p:cNvSpPr>
              <p:nvPr/>
            </p:nvSpPr>
            <p:spPr>
              <a:xfrm>
                <a:off x="4979005" y="4424991"/>
                <a:ext cx="7079428" cy="946093"/>
              </a:xfrm>
              <a:prstGeom prst="rect">
                <a:avLst/>
              </a:prstGeom>
              <a:blipFill>
                <a:blip r:embed="rId6"/>
                <a:stretch>
                  <a:fillRect b="-9333"/>
                </a:stretch>
              </a:blipFill>
            </p:spPr>
            <p:txBody>
              <a:bodyPr/>
              <a:lstStyle/>
              <a:p>
                <a:r>
                  <a:rPr lang="en-US">
                    <a:noFill/>
                  </a:rPr>
                  <a:t> </a:t>
                </a:r>
              </a:p>
            </p:txBody>
          </p:sp>
        </mc:Fallback>
      </mc:AlternateContent>
      <p:sp>
        <p:nvSpPr>
          <p:cNvPr id="8" name="Tekstvak 7">
            <a:extLst>
              <a:ext uri="{FF2B5EF4-FFF2-40B4-BE49-F238E27FC236}">
                <a16:creationId xmlns:a16="http://schemas.microsoft.com/office/drawing/2014/main" id="{F021F214-2374-786F-1B31-50406C5AC5D1}"/>
              </a:ext>
            </a:extLst>
          </p:cNvPr>
          <p:cNvSpPr txBox="1"/>
          <p:nvPr/>
        </p:nvSpPr>
        <p:spPr>
          <a:xfrm>
            <a:off x="1020726" y="1892595"/>
            <a:ext cx="8431618" cy="646331"/>
          </a:xfrm>
          <a:prstGeom prst="rect">
            <a:avLst/>
          </a:prstGeom>
          <a:noFill/>
        </p:spPr>
        <p:txBody>
          <a:bodyPr wrap="square" rtlCol="0">
            <a:spAutoFit/>
          </a:bodyPr>
          <a:lstStyle/>
          <a:p>
            <a:r>
              <a:rPr lang="en-US" dirty="0"/>
              <a:t>Computing the conditional probability of spam given a specific word comes down to simple counting!</a:t>
            </a:r>
          </a:p>
        </p:txBody>
      </p:sp>
    </p:spTree>
    <p:extLst>
      <p:ext uri="{BB962C8B-B14F-4D97-AF65-F5344CB8AC3E}">
        <p14:creationId xmlns:p14="http://schemas.microsoft.com/office/powerpoint/2010/main" val="1902457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9F31-F605-B6F3-BE6F-C16B1A824515}"/>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6C22F83D-566D-7EB3-5247-D2B8FE0174EB}"/>
              </a:ext>
            </a:extLst>
          </p:cNvPr>
          <p:cNvSpPr>
            <a:spLocks noGrp="1"/>
          </p:cNvSpPr>
          <p:nvPr>
            <p:ph type="sldNum" sz="quarter" idx="12"/>
          </p:nvPr>
        </p:nvSpPr>
        <p:spPr/>
        <p:txBody>
          <a:bodyPr/>
          <a:lstStyle/>
          <a:p>
            <a:fld id="{FACE7509-F60A-4509-9491-CD4ED7B54EDD}" type="slidenum">
              <a:rPr lang="nl-NL" smtClean="0"/>
              <a:pPr/>
              <a:t>24</a:t>
            </a:fld>
            <a:endParaRPr lang="nl-NL"/>
          </a:p>
        </p:txBody>
      </p:sp>
      <p:sp>
        <p:nvSpPr>
          <p:cNvPr id="4" name="Titel 3">
            <a:extLst>
              <a:ext uri="{FF2B5EF4-FFF2-40B4-BE49-F238E27FC236}">
                <a16:creationId xmlns:a16="http://schemas.microsoft.com/office/drawing/2014/main" id="{85D7C014-39CC-841B-678E-165648A4AB80}"/>
              </a:ext>
            </a:extLst>
          </p:cNvPr>
          <p:cNvSpPr>
            <a:spLocks noGrp="1"/>
          </p:cNvSpPr>
          <p:nvPr>
            <p:ph type="title"/>
          </p:nvPr>
        </p:nvSpPr>
        <p:spPr/>
        <p:txBody>
          <a:bodyPr/>
          <a:lstStyle/>
          <a:p>
            <a:r>
              <a:rPr lang="en-US" dirty="0"/>
              <a:t>5. Naïve Bayesian classifiers</a:t>
            </a:r>
          </a:p>
        </p:txBody>
      </p:sp>
      <p:graphicFrame>
        <p:nvGraphicFramePr>
          <p:cNvPr id="14" name="Tabel 13">
            <a:extLst>
              <a:ext uri="{FF2B5EF4-FFF2-40B4-BE49-F238E27FC236}">
                <a16:creationId xmlns:a16="http://schemas.microsoft.com/office/drawing/2014/main" id="{2AFBE9B8-9E60-6D16-64FF-4A29300A5C5F}"/>
              </a:ext>
            </a:extLst>
          </p:cNvPr>
          <p:cNvGraphicFramePr>
            <a:graphicFrameLocks noGrp="1"/>
          </p:cNvGraphicFramePr>
          <p:nvPr>
            <p:extLst>
              <p:ext uri="{D42A27DB-BD31-4B8C-83A1-F6EECF244321}">
                <p14:modId xmlns:p14="http://schemas.microsoft.com/office/powerpoint/2010/main" val="3226880461"/>
              </p:ext>
            </p:extLst>
          </p:nvPr>
        </p:nvGraphicFramePr>
        <p:xfrm>
          <a:off x="4422870" y="2142239"/>
          <a:ext cx="5773332" cy="2346960"/>
        </p:xfrm>
        <a:graphic>
          <a:graphicData uri="http://schemas.openxmlformats.org/drawingml/2006/table">
            <a:tbl>
              <a:tblPr firstRow="1" bandRow="1">
                <a:tableStyleId>{5C22544A-7EE6-4342-B048-85BDC9FD1C3A}</a:tableStyleId>
              </a:tblPr>
              <a:tblGrid>
                <a:gridCol w="962222">
                  <a:extLst>
                    <a:ext uri="{9D8B030D-6E8A-4147-A177-3AD203B41FA5}">
                      <a16:colId xmlns:a16="http://schemas.microsoft.com/office/drawing/2014/main" val="4220559299"/>
                    </a:ext>
                  </a:extLst>
                </a:gridCol>
                <a:gridCol w="962222">
                  <a:extLst>
                    <a:ext uri="{9D8B030D-6E8A-4147-A177-3AD203B41FA5}">
                      <a16:colId xmlns:a16="http://schemas.microsoft.com/office/drawing/2014/main" val="3127811217"/>
                    </a:ext>
                  </a:extLst>
                </a:gridCol>
                <a:gridCol w="962222">
                  <a:extLst>
                    <a:ext uri="{9D8B030D-6E8A-4147-A177-3AD203B41FA5}">
                      <a16:colId xmlns:a16="http://schemas.microsoft.com/office/drawing/2014/main" val="2362922515"/>
                    </a:ext>
                  </a:extLst>
                </a:gridCol>
                <a:gridCol w="962222">
                  <a:extLst>
                    <a:ext uri="{9D8B030D-6E8A-4147-A177-3AD203B41FA5}">
                      <a16:colId xmlns:a16="http://schemas.microsoft.com/office/drawing/2014/main" val="937730818"/>
                    </a:ext>
                  </a:extLst>
                </a:gridCol>
                <a:gridCol w="962222">
                  <a:extLst>
                    <a:ext uri="{9D8B030D-6E8A-4147-A177-3AD203B41FA5}">
                      <a16:colId xmlns:a16="http://schemas.microsoft.com/office/drawing/2014/main" val="1872245852"/>
                    </a:ext>
                  </a:extLst>
                </a:gridCol>
                <a:gridCol w="962222">
                  <a:extLst>
                    <a:ext uri="{9D8B030D-6E8A-4147-A177-3AD203B41FA5}">
                      <a16:colId xmlns:a16="http://schemas.microsoft.com/office/drawing/2014/main" val="3662364394"/>
                    </a:ext>
                  </a:extLst>
                </a:gridCol>
              </a:tblGrid>
              <a:tr h="253899">
                <a:tc>
                  <a:txBody>
                    <a:bodyPr/>
                    <a:lstStyle/>
                    <a:p>
                      <a:r>
                        <a:rPr lang="en-US" sz="1600" dirty="0"/>
                        <a:t>Index</a:t>
                      </a:r>
                    </a:p>
                  </a:txBody>
                  <a:tcPr/>
                </a:tc>
                <a:tc>
                  <a:txBody>
                    <a:bodyPr/>
                    <a:lstStyle/>
                    <a:p>
                      <a:r>
                        <a:rPr lang="en-US" sz="1600" dirty="0"/>
                        <a:t>Price</a:t>
                      </a:r>
                    </a:p>
                  </a:txBody>
                  <a:tcPr/>
                </a:tc>
                <a:tc>
                  <a:txBody>
                    <a:bodyPr/>
                    <a:lstStyle/>
                    <a:p>
                      <a:r>
                        <a:rPr lang="en-US" sz="1600" dirty="0"/>
                        <a:t>Won</a:t>
                      </a:r>
                    </a:p>
                  </a:txBody>
                  <a:tcPr/>
                </a:tc>
                <a:tc>
                  <a:txBody>
                    <a:bodyPr/>
                    <a:lstStyle/>
                    <a:p>
                      <a:r>
                        <a:rPr lang="en-US" sz="1600" dirty="0"/>
                        <a:t>Friend</a:t>
                      </a:r>
                    </a:p>
                  </a:txBody>
                  <a:tcPr/>
                </a:tc>
                <a:tc>
                  <a:txBody>
                    <a:bodyPr/>
                    <a:lstStyle/>
                    <a:p>
                      <a:r>
                        <a:rPr lang="en-US" sz="1600" dirty="0"/>
                        <a:t>Hello</a:t>
                      </a:r>
                    </a:p>
                  </a:txBody>
                  <a:tcPr/>
                </a:tc>
                <a:tc>
                  <a:txBody>
                    <a:bodyPr/>
                    <a:lstStyle/>
                    <a:p>
                      <a:r>
                        <a:rPr lang="en-US" sz="1600" dirty="0"/>
                        <a:t>Money</a:t>
                      </a:r>
                    </a:p>
                  </a:txBody>
                  <a:tcPr/>
                </a:tc>
                <a:extLst>
                  <a:ext uri="{0D108BD9-81ED-4DB2-BD59-A6C34878D82A}">
                    <a16:rowId xmlns:a16="http://schemas.microsoft.com/office/drawing/2014/main" val="3696030171"/>
                  </a:ext>
                </a:extLst>
              </a:tr>
              <a:tr h="305161">
                <a:tc>
                  <a:txBody>
                    <a:bodyPr/>
                    <a:lstStyle/>
                    <a:p>
                      <a:r>
                        <a:rPr lang="en-US" sz="1600" dirty="0"/>
                        <a:t>Spam</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extLst>
                  <a:ext uri="{0D108BD9-81ED-4DB2-BD59-A6C34878D82A}">
                    <a16:rowId xmlns:a16="http://schemas.microsoft.com/office/drawing/2014/main" val="1855755633"/>
                  </a:ext>
                </a:extLst>
              </a:tr>
              <a:tr h="305161">
                <a:tc>
                  <a:txBody>
                    <a:bodyPr/>
                    <a:lstStyle/>
                    <a:p>
                      <a:r>
                        <a:rPr lang="en-US" sz="1600" dirty="0"/>
                        <a:t>Normal</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1</a:t>
                      </a:r>
                    </a:p>
                  </a:txBody>
                  <a:tcPr/>
                </a:tc>
                <a:extLst>
                  <a:ext uri="{0D108BD9-81ED-4DB2-BD59-A6C34878D82A}">
                    <a16:rowId xmlns:a16="http://schemas.microsoft.com/office/drawing/2014/main" val="3316935653"/>
                  </a:ext>
                </a:extLst>
              </a:tr>
              <a:tr h="305161">
                <a:tc>
                  <a:txBody>
                    <a:bodyPr/>
                    <a:lstStyle/>
                    <a:p>
                      <a:r>
                        <a:rPr lang="en-US" sz="1600" dirty="0"/>
                        <a:t>Normal</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0</a:t>
                      </a:r>
                    </a:p>
                  </a:txBody>
                  <a:tcPr/>
                </a:tc>
                <a:extLst>
                  <a:ext uri="{0D108BD9-81ED-4DB2-BD59-A6C34878D82A}">
                    <a16:rowId xmlns:a16="http://schemas.microsoft.com/office/drawing/2014/main" val="2596774736"/>
                  </a:ext>
                </a:extLst>
              </a:tr>
              <a:tr h="305161">
                <a:tc>
                  <a:txBody>
                    <a:bodyPr/>
                    <a:lstStyle/>
                    <a:p>
                      <a:r>
                        <a:rPr lang="en-US" sz="1600" dirty="0"/>
                        <a:t>Spam</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0</a:t>
                      </a:r>
                    </a:p>
                  </a:txBody>
                  <a:tcPr/>
                </a:tc>
                <a:extLst>
                  <a:ext uri="{0D108BD9-81ED-4DB2-BD59-A6C34878D82A}">
                    <a16:rowId xmlns:a16="http://schemas.microsoft.com/office/drawing/2014/main" val="2210345260"/>
                  </a:ext>
                </a:extLst>
              </a:tr>
              <a:tr h="305161">
                <a:tc>
                  <a:txBody>
                    <a:bodyPr/>
                    <a:lstStyle/>
                    <a:p>
                      <a:r>
                        <a:rPr lang="en-US" sz="1600" dirty="0"/>
                        <a:t>Spam</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extLst>
                  <a:ext uri="{0D108BD9-81ED-4DB2-BD59-A6C34878D82A}">
                    <a16:rowId xmlns:a16="http://schemas.microsoft.com/office/drawing/2014/main" val="2838907244"/>
                  </a:ext>
                </a:extLst>
              </a:tr>
              <a:tr h="305161">
                <a:tc>
                  <a:txBody>
                    <a:bodyPr/>
                    <a:lstStyle/>
                    <a:p>
                      <a:r>
                        <a:rPr lang="en-US" sz="1600" dirty="0"/>
                        <a:t>Normal</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0</a:t>
                      </a:r>
                    </a:p>
                  </a:txBody>
                  <a:tcPr/>
                </a:tc>
                <a:extLst>
                  <a:ext uri="{0D108BD9-81ED-4DB2-BD59-A6C34878D82A}">
                    <a16:rowId xmlns:a16="http://schemas.microsoft.com/office/drawing/2014/main" val="1229002589"/>
                  </a:ext>
                </a:extLst>
              </a:tr>
            </a:tbl>
          </a:graphicData>
        </a:graphic>
      </p:graphicFrame>
      <mc:AlternateContent xmlns:mc="http://schemas.openxmlformats.org/markup-compatibility/2006" xmlns:a14="http://schemas.microsoft.com/office/drawing/2010/main">
        <mc:Choice Requires="a14">
          <p:sp>
            <p:nvSpPr>
              <p:cNvPr id="15" name="Tekstvak 14">
                <a:extLst>
                  <a:ext uri="{FF2B5EF4-FFF2-40B4-BE49-F238E27FC236}">
                    <a16:creationId xmlns:a16="http://schemas.microsoft.com/office/drawing/2014/main" id="{2CDA34F0-8FF7-6BE2-21F5-9C9F4C96B795}"/>
                  </a:ext>
                </a:extLst>
              </p:cNvPr>
              <p:cNvSpPr txBox="1"/>
              <p:nvPr/>
            </p:nvSpPr>
            <p:spPr>
              <a:xfrm>
                <a:off x="-1393181" y="5213463"/>
                <a:ext cx="7079428" cy="765915"/>
              </a:xfrm>
              <a:prstGeom prst="rect">
                <a:avLst/>
              </a:prstGeom>
              <a:noFill/>
            </p:spPr>
            <p:txBody>
              <a:bodyPr wrap="square" rtlCol="0">
                <a:spAutoFit/>
              </a:bodyPr>
              <a:lstStyle/>
              <a:p>
                <a:endParaRPr lang="en-US" sz="1100" dirty="0">
                  <a:solidFill>
                    <a:srgbClr val="00B05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50"/>
                          </a:solidFill>
                          <a:latin typeface="Cambria Math" panose="02040503050406030204" pitchFamily="18" charset="0"/>
                        </a:rPr>
                        <m:t>𝑝</m:t>
                      </m:r>
                      <m:r>
                        <a:rPr lang="nl-NL" sz="1600" b="0" i="1" smtClean="0">
                          <a:solidFill>
                            <a:srgbClr val="00B050"/>
                          </a:solidFill>
                          <a:latin typeface="Cambria Math" panose="02040503050406030204" pitchFamily="18" charset="0"/>
                        </a:rPr>
                        <m:t>(</m:t>
                      </m:r>
                      <m:r>
                        <a:rPr lang="nl-NL" sz="1600" b="0" i="1" smtClean="0">
                          <a:solidFill>
                            <a:srgbClr val="00B050"/>
                          </a:solidFill>
                          <a:latin typeface="Cambria Math" panose="02040503050406030204" pitchFamily="18" charset="0"/>
                        </a:rPr>
                        <m:t>𝑆</m:t>
                      </m:r>
                      <m:r>
                        <a:rPr lang="nl-NL" sz="1600" b="0" i="1" smtClean="0">
                          <a:solidFill>
                            <a:srgbClr val="00B050"/>
                          </a:solidFill>
                          <a:latin typeface="Cambria Math" panose="02040503050406030204" pitchFamily="18" charset="0"/>
                        </a:rPr>
                        <m:t>)=</m:t>
                      </m:r>
                      <m:f>
                        <m:fPr>
                          <m:ctrlPr>
                            <a:rPr lang="nl-NL" sz="1600" i="1">
                              <a:solidFill>
                                <a:srgbClr val="00B050"/>
                              </a:solidFill>
                              <a:latin typeface="Cambria Math" panose="02040503050406030204" pitchFamily="18" charset="0"/>
                            </a:rPr>
                          </m:ctrlPr>
                        </m:fPr>
                        <m:num>
                          <m:r>
                            <a:rPr lang="nl-NL" sz="1600" b="0" i="1" smtClean="0">
                              <a:solidFill>
                                <a:srgbClr val="00B050"/>
                              </a:solidFill>
                              <a:latin typeface="Cambria Math" panose="02040503050406030204" pitchFamily="18" charset="0"/>
                            </a:rPr>
                            <m:t>#</m:t>
                          </m:r>
                          <m:r>
                            <a:rPr lang="nl-NL" sz="1600" b="0" i="1" smtClean="0">
                              <a:solidFill>
                                <a:srgbClr val="00B050"/>
                              </a:solidFill>
                              <a:latin typeface="Cambria Math" panose="02040503050406030204" pitchFamily="18" charset="0"/>
                            </a:rPr>
                            <m:t>𝑠𝑝𝑎𝑚</m:t>
                          </m:r>
                          <m:r>
                            <a:rPr lang="nl-NL" sz="1600" b="0" i="1" smtClean="0">
                              <a:solidFill>
                                <a:srgbClr val="00B050"/>
                              </a:solidFill>
                              <a:latin typeface="Cambria Math" panose="02040503050406030204" pitchFamily="18" charset="0"/>
                            </a:rPr>
                            <m:t> </m:t>
                          </m:r>
                          <m:r>
                            <a:rPr lang="nl-NL" sz="1600" b="0" i="1" smtClean="0">
                              <a:solidFill>
                                <a:srgbClr val="00B050"/>
                              </a:solidFill>
                              <a:latin typeface="Cambria Math" panose="02040503050406030204" pitchFamily="18" charset="0"/>
                            </a:rPr>
                            <m:t>𝑚𝑒𝑠𝑠𝑎𝑔𝑒𝑠</m:t>
                          </m:r>
                        </m:num>
                        <m:den>
                          <m:r>
                            <a:rPr lang="nl-NL" sz="1600" b="0" i="1" smtClean="0">
                              <a:solidFill>
                                <a:srgbClr val="00B050"/>
                              </a:solidFill>
                              <a:latin typeface="Cambria Math" panose="02040503050406030204" pitchFamily="18" charset="0"/>
                            </a:rPr>
                            <m:t>#</m:t>
                          </m:r>
                          <m:r>
                            <a:rPr lang="nl-NL" sz="1600" b="0" i="1" smtClean="0">
                              <a:solidFill>
                                <a:srgbClr val="00B050"/>
                              </a:solidFill>
                              <a:latin typeface="Cambria Math" panose="02040503050406030204" pitchFamily="18" charset="0"/>
                            </a:rPr>
                            <m:t>𝑎𝑙𝑙</m:t>
                          </m:r>
                          <m:r>
                            <a:rPr lang="nl-NL" sz="1600" b="0" i="1" smtClean="0">
                              <a:solidFill>
                                <a:srgbClr val="00B050"/>
                              </a:solidFill>
                              <a:latin typeface="Cambria Math" panose="02040503050406030204" pitchFamily="18" charset="0"/>
                            </a:rPr>
                            <m:t> </m:t>
                          </m:r>
                          <m:r>
                            <a:rPr lang="nl-NL" sz="1600" b="0" i="1" smtClean="0">
                              <a:solidFill>
                                <a:srgbClr val="00B050"/>
                              </a:solidFill>
                              <a:latin typeface="Cambria Math" panose="02040503050406030204" pitchFamily="18" charset="0"/>
                            </a:rPr>
                            <m:t>𝑚𝑒𝑠𝑠𝑎𝑔𝑒𝑠</m:t>
                          </m:r>
                        </m:den>
                      </m:f>
                    </m:oMath>
                  </m:oMathPara>
                </a14:m>
                <a:endParaRPr lang="en-US" sz="1600" dirty="0">
                  <a:solidFill>
                    <a:srgbClr val="00B050"/>
                  </a:solidFill>
                </a:endParaRPr>
              </a:p>
            </p:txBody>
          </p:sp>
        </mc:Choice>
        <mc:Fallback xmlns="">
          <p:sp>
            <p:nvSpPr>
              <p:cNvPr id="15" name="Tekstvak 14">
                <a:extLst>
                  <a:ext uri="{FF2B5EF4-FFF2-40B4-BE49-F238E27FC236}">
                    <a16:creationId xmlns:a16="http://schemas.microsoft.com/office/drawing/2014/main" id="{2CDA34F0-8FF7-6BE2-21F5-9C9F4C96B795}"/>
                  </a:ext>
                </a:extLst>
              </p:cNvPr>
              <p:cNvSpPr txBox="1">
                <a:spLocks noRot="1" noChangeAspect="1" noMove="1" noResize="1" noEditPoints="1" noAdjustHandles="1" noChangeArrowheads="1" noChangeShapeType="1" noTextEdit="1"/>
              </p:cNvSpPr>
              <p:nvPr/>
            </p:nvSpPr>
            <p:spPr>
              <a:xfrm>
                <a:off x="-1393181" y="5213463"/>
                <a:ext cx="7079428" cy="765915"/>
              </a:xfrm>
              <a:prstGeom prst="rect">
                <a:avLst/>
              </a:prstGeom>
              <a:blipFill>
                <a:blip r:embed="rId3"/>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kstvak 15">
                <a:extLst>
                  <a:ext uri="{FF2B5EF4-FFF2-40B4-BE49-F238E27FC236}">
                    <a16:creationId xmlns:a16="http://schemas.microsoft.com/office/drawing/2014/main" id="{46F1E3EE-F636-3662-7BC0-C558D23520A6}"/>
                  </a:ext>
                </a:extLst>
              </p:cNvPr>
              <p:cNvSpPr txBox="1"/>
              <p:nvPr/>
            </p:nvSpPr>
            <p:spPr>
              <a:xfrm>
                <a:off x="2102315" y="5282707"/>
                <a:ext cx="7079428" cy="772327"/>
              </a:xfrm>
              <a:prstGeom prst="rect">
                <a:avLst/>
              </a:prstGeom>
              <a:noFill/>
            </p:spPr>
            <p:txBody>
              <a:bodyPr wrap="square" rtlCol="0">
                <a:spAutoFit/>
              </a:bodyPr>
              <a:lstStyle/>
              <a:p>
                <a:endParaRPr lang="en-US" sz="1100" dirty="0">
                  <a:solidFill>
                    <a:srgbClr val="00B0F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F0"/>
                          </a:solidFill>
                          <a:latin typeface="Cambria Math" panose="02040503050406030204" pitchFamily="18" charset="0"/>
                        </a:rPr>
                        <m:t>𝑝</m:t>
                      </m:r>
                      <m:r>
                        <a:rPr lang="nl-NL" sz="1600" b="0" i="1" smtClean="0">
                          <a:solidFill>
                            <a:srgbClr val="00B0F0"/>
                          </a:solidFill>
                          <a:latin typeface="Cambria Math" panose="02040503050406030204" pitchFamily="18" charset="0"/>
                        </a:rPr>
                        <m:t>(</m:t>
                      </m:r>
                      <m:r>
                        <a:rPr lang="nl-NL" sz="1600" b="0" i="1" smtClean="0">
                          <a:solidFill>
                            <a:srgbClr val="00B0F0"/>
                          </a:solidFill>
                          <a:latin typeface="Cambria Math" panose="02040503050406030204" pitchFamily="18" charset="0"/>
                        </a:rPr>
                        <m:t>𝑊</m:t>
                      </m:r>
                      <m:r>
                        <a:rPr lang="nl-NL" sz="1600" b="0" i="1" smtClean="0">
                          <a:solidFill>
                            <a:srgbClr val="00B0F0"/>
                          </a:solidFill>
                          <a:latin typeface="Cambria Math" panose="02040503050406030204" pitchFamily="18" charset="0"/>
                        </a:rPr>
                        <m:t>)=</m:t>
                      </m:r>
                      <m:f>
                        <m:fPr>
                          <m:ctrlPr>
                            <a:rPr lang="nl-NL" sz="1600" i="1">
                              <a:solidFill>
                                <a:srgbClr val="00B0F0"/>
                              </a:solidFill>
                              <a:latin typeface="Cambria Math" panose="02040503050406030204" pitchFamily="18" charset="0"/>
                            </a:rPr>
                          </m:ctrlPr>
                        </m:fPr>
                        <m:num>
                          <m:r>
                            <a:rPr lang="nl-NL" sz="1600" b="0" i="1" smtClean="0">
                              <a:solidFill>
                                <a:srgbClr val="00B0F0"/>
                              </a:solidFill>
                              <a:latin typeface="Cambria Math" panose="02040503050406030204" pitchFamily="18" charset="0"/>
                            </a:rPr>
                            <m:t>#</m:t>
                          </m:r>
                          <m:r>
                            <a:rPr lang="nl-NL" sz="1600" b="0" i="1" smtClean="0">
                              <a:solidFill>
                                <a:srgbClr val="00B0F0"/>
                              </a:solidFill>
                              <a:latin typeface="Cambria Math" panose="02040503050406030204" pitchFamily="18" charset="0"/>
                            </a:rPr>
                            <m:t>𝑎𝑙𝑙</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𝑚𝑒𝑠𝑠𝑎𝑔𝑒𝑠</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𝑤𝑖𝑡h</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𝑤𝑜𝑟𝑑</m:t>
                          </m:r>
                        </m:num>
                        <m:den>
                          <m:r>
                            <a:rPr lang="nl-NL" sz="1600" b="0" i="1" smtClean="0">
                              <a:solidFill>
                                <a:srgbClr val="00B0F0"/>
                              </a:solidFill>
                              <a:latin typeface="Cambria Math" panose="02040503050406030204" pitchFamily="18" charset="0"/>
                            </a:rPr>
                            <m:t>#</m:t>
                          </m:r>
                          <m:r>
                            <a:rPr lang="nl-NL" sz="1600" b="0" i="1" smtClean="0">
                              <a:solidFill>
                                <a:srgbClr val="00B0F0"/>
                              </a:solidFill>
                              <a:latin typeface="Cambria Math" panose="02040503050406030204" pitchFamily="18" charset="0"/>
                            </a:rPr>
                            <m:t>𝑎𝑙𝑙</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𝑚𝑒𝑠𝑠𝑎𝑔𝑒𝑠</m:t>
                          </m:r>
                        </m:den>
                      </m:f>
                    </m:oMath>
                  </m:oMathPara>
                </a14:m>
                <a:endParaRPr lang="en-US" sz="1600" dirty="0">
                  <a:solidFill>
                    <a:srgbClr val="00B0F0"/>
                  </a:solidFill>
                </a:endParaRPr>
              </a:p>
            </p:txBody>
          </p:sp>
        </mc:Choice>
        <mc:Fallback xmlns="">
          <p:sp>
            <p:nvSpPr>
              <p:cNvPr id="16" name="Tekstvak 15">
                <a:extLst>
                  <a:ext uri="{FF2B5EF4-FFF2-40B4-BE49-F238E27FC236}">
                    <a16:creationId xmlns:a16="http://schemas.microsoft.com/office/drawing/2014/main" id="{46F1E3EE-F636-3662-7BC0-C558D23520A6}"/>
                  </a:ext>
                </a:extLst>
              </p:cNvPr>
              <p:cNvSpPr txBox="1">
                <a:spLocks noRot="1" noChangeAspect="1" noMove="1" noResize="1" noEditPoints="1" noAdjustHandles="1" noChangeArrowheads="1" noChangeShapeType="1" noTextEdit="1"/>
              </p:cNvSpPr>
              <p:nvPr/>
            </p:nvSpPr>
            <p:spPr>
              <a:xfrm>
                <a:off x="2102315" y="5282707"/>
                <a:ext cx="7079428" cy="772327"/>
              </a:xfrm>
              <a:prstGeom prst="rect">
                <a:avLst/>
              </a:prstGeom>
              <a:blipFill>
                <a:blip r:embed="rId4"/>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kstvak 16">
                <a:extLst>
                  <a:ext uri="{FF2B5EF4-FFF2-40B4-BE49-F238E27FC236}">
                    <a16:creationId xmlns:a16="http://schemas.microsoft.com/office/drawing/2014/main" id="{ED10C42C-EBBA-3C39-F2F7-7640B254487E}"/>
                  </a:ext>
                </a:extLst>
              </p:cNvPr>
              <p:cNvSpPr txBox="1"/>
              <p:nvPr/>
            </p:nvSpPr>
            <p:spPr>
              <a:xfrm>
                <a:off x="5909531" y="5275007"/>
                <a:ext cx="7079428" cy="772327"/>
              </a:xfrm>
              <a:prstGeom prst="rect">
                <a:avLst/>
              </a:prstGeom>
              <a:noFill/>
            </p:spPr>
            <p:txBody>
              <a:bodyPr wrap="square" rtlCol="0">
                <a:spAutoFit/>
              </a:bodyPr>
              <a:lstStyle/>
              <a:p>
                <a:endParaRPr lang="en-US" sz="1100" dirty="0">
                  <a:solidFill>
                    <a:srgbClr val="FF0000"/>
                  </a:solidFill>
                </a:endParaRPr>
              </a:p>
              <a:p>
                <a:pPr/>
                <a14:m>
                  <m:oMathPara xmlns:m="http://schemas.openxmlformats.org/officeDocument/2006/math">
                    <m:oMathParaPr>
                      <m:jc m:val="centerGroup"/>
                    </m:oMathParaPr>
                    <m:oMath xmlns:m="http://schemas.openxmlformats.org/officeDocument/2006/math">
                      <m:r>
                        <a:rPr lang="nl-NL" sz="1600" i="1" smtClean="0">
                          <a:solidFill>
                            <a:srgbClr val="FF0000"/>
                          </a:solidFill>
                          <a:latin typeface="Cambria Math" panose="02040503050406030204" pitchFamily="18" charset="0"/>
                        </a:rPr>
                        <m:t>𝑝</m:t>
                      </m:r>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𝑊</m:t>
                      </m:r>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𝑆</m:t>
                      </m:r>
                      <m:r>
                        <a:rPr lang="nl-NL" sz="1600" b="0" i="1" smtClean="0">
                          <a:solidFill>
                            <a:srgbClr val="FF0000"/>
                          </a:solidFill>
                          <a:latin typeface="Cambria Math" panose="02040503050406030204" pitchFamily="18" charset="0"/>
                        </a:rPr>
                        <m:t>)=</m:t>
                      </m:r>
                      <m:f>
                        <m:fPr>
                          <m:ctrlPr>
                            <a:rPr lang="nl-NL" sz="1600" i="1">
                              <a:solidFill>
                                <a:srgbClr val="FF0000"/>
                              </a:solidFill>
                              <a:latin typeface="Cambria Math" panose="02040503050406030204" pitchFamily="18" charset="0"/>
                            </a:rPr>
                          </m:ctrlPr>
                        </m:fPr>
                        <m:num>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𝑠𝑝𝑎𝑚</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𝑚𝑒𝑠𝑠𝑎𝑔𝑒𝑠</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𝑤𝑖𝑡h</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𝑤𝑜𝑟𝑑</m:t>
                          </m:r>
                        </m:num>
                        <m:den>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𝑎𝑙𝑙</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𝑠𝑝𝑎𝑚</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𝑚𝑒𝑠𝑠𝑎𝑔𝑒𝑠</m:t>
                          </m:r>
                        </m:den>
                      </m:f>
                    </m:oMath>
                  </m:oMathPara>
                </a14:m>
                <a:endParaRPr lang="en-US" sz="1600" dirty="0">
                  <a:solidFill>
                    <a:srgbClr val="FF0000"/>
                  </a:solidFill>
                </a:endParaRPr>
              </a:p>
            </p:txBody>
          </p:sp>
        </mc:Choice>
        <mc:Fallback xmlns="">
          <p:sp>
            <p:nvSpPr>
              <p:cNvPr id="17" name="Tekstvak 16">
                <a:extLst>
                  <a:ext uri="{FF2B5EF4-FFF2-40B4-BE49-F238E27FC236}">
                    <a16:creationId xmlns:a16="http://schemas.microsoft.com/office/drawing/2014/main" id="{ED10C42C-EBBA-3C39-F2F7-7640B254487E}"/>
                  </a:ext>
                </a:extLst>
              </p:cNvPr>
              <p:cNvSpPr txBox="1">
                <a:spLocks noRot="1" noChangeAspect="1" noMove="1" noResize="1" noEditPoints="1" noAdjustHandles="1" noChangeArrowheads="1" noChangeShapeType="1" noTextEdit="1"/>
              </p:cNvSpPr>
              <p:nvPr/>
            </p:nvSpPr>
            <p:spPr>
              <a:xfrm>
                <a:off x="5909531" y="5275007"/>
                <a:ext cx="7079428" cy="772327"/>
              </a:xfrm>
              <a:prstGeom prst="rect">
                <a:avLst/>
              </a:prstGeom>
              <a:blipFill>
                <a:blip r:embed="rId5"/>
                <a:stretch>
                  <a:fillRect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kstvak 26">
                <a:extLst>
                  <a:ext uri="{FF2B5EF4-FFF2-40B4-BE49-F238E27FC236}">
                    <a16:creationId xmlns:a16="http://schemas.microsoft.com/office/drawing/2014/main" id="{B66CBAC6-ADAE-6169-886D-E698722C45FA}"/>
                  </a:ext>
                </a:extLst>
              </p:cNvPr>
              <p:cNvSpPr txBox="1"/>
              <p:nvPr/>
            </p:nvSpPr>
            <p:spPr>
              <a:xfrm>
                <a:off x="-1863583" y="1888324"/>
                <a:ext cx="7079428" cy="507831"/>
              </a:xfrm>
              <a:prstGeom prst="rect">
                <a:avLst/>
              </a:prstGeom>
              <a:noFill/>
            </p:spPr>
            <p:txBody>
              <a:bodyPr wrap="square" rtlCol="0">
                <a:spAutoFit/>
              </a:bodyPr>
              <a:lstStyle/>
              <a:p>
                <a:endParaRPr lang="en-US" sz="1100" dirty="0">
                  <a:solidFill>
                    <a:srgbClr val="00B05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50"/>
                          </a:solidFill>
                          <a:latin typeface="Cambria Math" panose="02040503050406030204" pitchFamily="18" charset="0"/>
                        </a:rPr>
                        <m:t>𝑝</m:t>
                      </m:r>
                      <m:d>
                        <m:dPr>
                          <m:ctrlPr>
                            <a:rPr lang="nl-NL" sz="1600" b="0" i="1" smtClean="0">
                              <a:solidFill>
                                <a:srgbClr val="00B050"/>
                              </a:solidFill>
                              <a:latin typeface="Cambria Math" panose="02040503050406030204" pitchFamily="18" charset="0"/>
                            </a:rPr>
                          </m:ctrlPr>
                        </m:dPr>
                        <m:e>
                          <m:r>
                            <a:rPr lang="nl-NL" sz="1600" b="0" i="1" smtClean="0">
                              <a:solidFill>
                                <a:srgbClr val="00B050"/>
                              </a:solidFill>
                              <a:latin typeface="Cambria Math" panose="02040503050406030204" pitchFamily="18" charset="0"/>
                            </a:rPr>
                            <m:t>𝑆</m:t>
                          </m:r>
                        </m:e>
                      </m:d>
                      <m:r>
                        <a:rPr lang="nl-NL" sz="1600" b="0" i="1" smtClean="0">
                          <a:solidFill>
                            <a:srgbClr val="00B050"/>
                          </a:solidFill>
                          <a:latin typeface="Cambria Math" panose="02040503050406030204" pitchFamily="18" charset="0"/>
                        </a:rPr>
                        <m:t>= ?</m:t>
                      </m:r>
                    </m:oMath>
                  </m:oMathPara>
                </a14:m>
                <a:endParaRPr lang="en-US" sz="1600" dirty="0">
                  <a:solidFill>
                    <a:srgbClr val="00B050"/>
                  </a:solidFill>
                </a:endParaRPr>
              </a:p>
            </p:txBody>
          </p:sp>
        </mc:Choice>
        <mc:Fallback xmlns="">
          <p:sp>
            <p:nvSpPr>
              <p:cNvPr id="27" name="Tekstvak 26">
                <a:extLst>
                  <a:ext uri="{FF2B5EF4-FFF2-40B4-BE49-F238E27FC236}">
                    <a16:creationId xmlns:a16="http://schemas.microsoft.com/office/drawing/2014/main" id="{B66CBAC6-ADAE-6169-886D-E698722C45FA}"/>
                  </a:ext>
                </a:extLst>
              </p:cNvPr>
              <p:cNvSpPr txBox="1">
                <a:spLocks noRot="1" noChangeAspect="1" noMove="1" noResize="1" noEditPoints="1" noAdjustHandles="1" noChangeArrowheads="1" noChangeShapeType="1" noTextEdit="1"/>
              </p:cNvSpPr>
              <p:nvPr/>
            </p:nvSpPr>
            <p:spPr>
              <a:xfrm>
                <a:off x="-1863583" y="1888324"/>
                <a:ext cx="7079428" cy="507831"/>
              </a:xfrm>
              <a:prstGeom prst="rect">
                <a:avLst/>
              </a:prstGeom>
              <a:blipFill>
                <a:blip r:embed="rId6"/>
                <a:stretch>
                  <a:fillRect b="-73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kstvak 27">
                <a:extLst>
                  <a:ext uri="{FF2B5EF4-FFF2-40B4-BE49-F238E27FC236}">
                    <a16:creationId xmlns:a16="http://schemas.microsoft.com/office/drawing/2014/main" id="{B42B4885-BCB8-7FC9-C204-597F43599935}"/>
                  </a:ext>
                </a:extLst>
              </p:cNvPr>
              <p:cNvSpPr txBox="1"/>
              <p:nvPr/>
            </p:nvSpPr>
            <p:spPr>
              <a:xfrm>
                <a:off x="-1700968" y="2427243"/>
                <a:ext cx="7079428" cy="507831"/>
              </a:xfrm>
              <a:prstGeom prst="rect">
                <a:avLst/>
              </a:prstGeom>
              <a:noFill/>
            </p:spPr>
            <p:txBody>
              <a:bodyPr wrap="square" rtlCol="0">
                <a:spAutoFit/>
              </a:bodyPr>
              <a:lstStyle/>
              <a:p>
                <a:endParaRPr lang="en-US" sz="1100" dirty="0">
                  <a:solidFill>
                    <a:srgbClr val="00B0F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𝑃𝑟𝑖𝑐𝑒</m:t>
                          </m:r>
                        </m:e>
                      </m:d>
                      <m:r>
                        <a:rPr lang="nl-NL" sz="1600" b="0" i="1" smtClean="0">
                          <a:solidFill>
                            <a:srgbClr val="00B0F0"/>
                          </a:solidFill>
                          <a:latin typeface="Cambria Math" panose="02040503050406030204" pitchFamily="18" charset="0"/>
                        </a:rPr>
                        <m:t>= ?</m:t>
                      </m:r>
                    </m:oMath>
                  </m:oMathPara>
                </a14:m>
                <a:endParaRPr lang="en-US" sz="1600" dirty="0">
                  <a:solidFill>
                    <a:srgbClr val="00B0F0"/>
                  </a:solidFill>
                </a:endParaRPr>
              </a:p>
            </p:txBody>
          </p:sp>
        </mc:Choice>
        <mc:Fallback xmlns="">
          <p:sp>
            <p:nvSpPr>
              <p:cNvPr id="28" name="Tekstvak 27">
                <a:extLst>
                  <a:ext uri="{FF2B5EF4-FFF2-40B4-BE49-F238E27FC236}">
                    <a16:creationId xmlns:a16="http://schemas.microsoft.com/office/drawing/2014/main" id="{B42B4885-BCB8-7FC9-C204-597F43599935}"/>
                  </a:ext>
                </a:extLst>
              </p:cNvPr>
              <p:cNvSpPr txBox="1">
                <a:spLocks noRot="1" noChangeAspect="1" noMove="1" noResize="1" noEditPoints="1" noAdjustHandles="1" noChangeArrowheads="1" noChangeShapeType="1" noTextEdit="1"/>
              </p:cNvSpPr>
              <p:nvPr/>
            </p:nvSpPr>
            <p:spPr>
              <a:xfrm>
                <a:off x="-1700968" y="2427243"/>
                <a:ext cx="7079428" cy="507831"/>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kstvak 28">
                <a:extLst>
                  <a:ext uri="{FF2B5EF4-FFF2-40B4-BE49-F238E27FC236}">
                    <a16:creationId xmlns:a16="http://schemas.microsoft.com/office/drawing/2014/main" id="{28C7FC9B-AB00-1C39-C307-DBD092615650}"/>
                  </a:ext>
                </a:extLst>
              </p:cNvPr>
              <p:cNvSpPr txBox="1"/>
              <p:nvPr/>
            </p:nvSpPr>
            <p:spPr>
              <a:xfrm>
                <a:off x="1170562" y="2966162"/>
                <a:ext cx="7079428" cy="507831"/>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𝑃𝑟𝑖𝑐𝑒</m:t>
                        </m:r>
                      </m:e>
                      <m:e>
                        <m:r>
                          <a:rPr lang="nl-NL" sz="1600" b="0" i="1" smtClean="0">
                            <a:solidFill>
                              <a:srgbClr val="FF0000"/>
                            </a:solidFill>
                            <a:latin typeface="Cambria Math" panose="02040503050406030204" pitchFamily="18" charset="0"/>
                          </a:rPr>
                          <m:t>𝑆</m:t>
                        </m:r>
                      </m:e>
                    </m:d>
                  </m:oMath>
                </a14:m>
                <a:r>
                  <a:rPr lang="en-US" sz="1600" dirty="0">
                    <a:solidFill>
                      <a:srgbClr val="FF0000"/>
                    </a:solidFill>
                  </a:rPr>
                  <a:t> = ?</a:t>
                </a:r>
              </a:p>
            </p:txBody>
          </p:sp>
        </mc:Choice>
        <mc:Fallback xmlns="">
          <p:sp>
            <p:nvSpPr>
              <p:cNvPr id="29" name="Tekstvak 28">
                <a:extLst>
                  <a:ext uri="{FF2B5EF4-FFF2-40B4-BE49-F238E27FC236}">
                    <a16:creationId xmlns:a16="http://schemas.microsoft.com/office/drawing/2014/main" id="{28C7FC9B-AB00-1C39-C307-DBD092615650}"/>
                  </a:ext>
                </a:extLst>
              </p:cNvPr>
              <p:cNvSpPr txBox="1">
                <a:spLocks noRot="1" noChangeAspect="1" noMove="1" noResize="1" noEditPoints="1" noAdjustHandles="1" noChangeArrowheads="1" noChangeShapeType="1" noTextEdit="1"/>
              </p:cNvSpPr>
              <p:nvPr/>
            </p:nvSpPr>
            <p:spPr>
              <a:xfrm>
                <a:off x="1170562" y="2966162"/>
                <a:ext cx="7079428" cy="507831"/>
              </a:xfrm>
              <a:prstGeom prst="rect">
                <a:avLst/>
              </a:prstGeom>
              <a:blipFill>
                <a:blip r:embed="rId8"/>
                <a:stretch>
                  <a:fillRect b="-121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kstvak 29">
                <a:extLst>
                  <a:ext uri="{FF2B5EF4-FFF2-40B4-BE49-F238E27FC236}">
                    <a16:creationId xmlns:a16="http://schemas.microsoft.com/office/drawing/2014/main" id="{079999D2-A3FC-6E3A-DE05-B70C74D67869}"/>
                  </a:ext>
                </a:extLst>
              </p:cNvPr>
              <p:cNvSpPr txBox="1"/>
              <p:nvPr/>
            </p:nvSpPr>
            <p:spPr>
              <a:xfrm>
                <a:off x="-1700968" y="3608170"/>
                <a:ext cx="7079428" cy="507831"/>
              </a:xfrm>
              <a:prstGeom prst="rect">
                <a:avLst/>
              </a:prstGeom>
              <a:noFill/>
            </p:spPr>
            <p:txBody>
              <a:bodyPr wrap="square" rtlCol="0">
                <a:spAutoFit/>
              </a:bodyPr>
              <a:lstStyle/>
              <a:p>
                <a:endParaRPr lang="en-US" sz="1100" dirty="0">
                  <a:solidFill>
                    <a:srgbClr val="00B0F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𝐻𝑒𝑙𝑙𝑜</m:t>
                          </m:r>
                        </m:e>
                      </m:d>
                      <m:r>
                        <a:rPr lang="nl-NL" sz="1600" b="0" i="1" smtClean="0">
                          <a:solidFill>
                            <a:srgbClr val="00B0F0"/>
                          </a:solidFill>
                          <a:latin typeface="Cambria Math" panose="02040503050406030204" pitchFamily="18" charset="0"/>
                        </a:rPr>
                        <m:t>= ?</m:t>
                      </m:r>
                    </m:oMath>
                  </m:oMathPara>
                </a14:m>
                <a:endParaRPr lang="en-US" sz="1600" dirty="0">
                  <a:solidFill>
                    <a:srgbClr val="00B0F0"/>
                  </a:solidFill>
                </a:endParaRPr>
              </a:p>
            </p:txBody>
          </p:sp>
        </mc:Choice>
        <mc:Fallback xmlns="">
          <p:sp>
            <p:nvSpPr>
              <p:cNvPr id="30" name="Tekstvak 29">
                <a:extLst>
                  <a:ext uri="{FF2B5EF4-FFF2-40B4-BE49-F238E27FC236}">
                    <a16:creationId xmlns:a16="http://schemas.microsoft.com/office/drawing/2014/main" id="{079999D2-A3FC-6E3A-DE05-B70C74D67869}"/>
                  </a:ext>
                </a:extLst>
              </p:cNvPr>
              <p:cNvSpPr txBox="1">
                <a:spLocks noRot="1" noChangeAspect="1" noMove="1" noResize="1" noEditPoints="1" noAdjustHandles="1" noChangeArrowheads="1" noChangeShapeType="1" noTextEdit="1"/>
              </p:cNvSpPr>
              <p:nvPr/>
            </p:nvSpPr>
            <p:spPr>
              <a:xfrm>
                <a:off x="-1700968" y="3608170"/>
                <a:ext cx="7079428" cy="507831"/>
              </a:xfrm>
              <a:prstGeom prst="rect">
                <a:avLst/>
              </a:prstGeom>
              <a:blipFill>
                <a:blip r:embed="rId9"/>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kstvak 30">
                <a:extLst>
                  <a:ext uri="{FF2B5EF4-FFF2-40B4-BE49-F238E27FC236}">
                    <a16:creationId xmlns:a16="http://schemas.microsoft.com/office/drawing/2014/main" id="{80903264-BC6E-77AE-8196-4F02506EDB70}"/>
                  </a:ext>
                </a:extLst>
              </p:cNvPr>
              <p:cNvSpPr txBox="1"/>
              <p:nvPr/>
            </p:nvSpPr>
            <p:spPr>
              <a:xfrm>
                <a:off x="1170562" y="4198257"/>
                <a:ext cx="7079428" cy="507831"/>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𝐻𝑒𝑙𝑙𝑜</m:t>
                        </m:r>
                      </m:e>
                      <m:e>
                        <m:r>
                          <a:rPr lang="nl-NL" sz="1600" b="0" i="1" smtClean="0">
                            <a:solidFill>
                              <a:srgbClr val="FF0000"/>
                            </a:solidFill>
                            <a:latin typeface="Cambria Math" panose="02040503050406030204" pitchFamily="18" charset="0"/>
                          </a:rPr>
                          <m:t>𝑆</m:t>
                        </m:r>
                      </m:e>
                    </m:d>
                  </m:oMath>
                </a14:m>
                <a:r>
                  <a:rPr lang="en-US" sz="1600" dirty="0">
                    <a:solidFill>
                      <a:srgbClr val="FF0000"/>
                    </a:solidFill>
                  </a:rPr>
                  <a:t> = ?</a:t>
                </a:r>
              </a:p>
            </p:txBody>
          </p:sp>
        </mc:Choice>
        <mc:Fallback xmlns="">
          <p:sp>
            <p:nvSpPr>
              <p:cNvPr id="31" name="Tekstvak 30">
                <a:extLst>
                  <a:ext uri="{FF2B5EF4-FFF2-40B4-BE49-F238E27FC236}">
                    <a16:creationId xmlns:a16="http://schemas.microsoft.com/office/drawing/2014/main" id="{80903264-BC6E-77AE-8196-4F02506EDB70}"/>
                  </a:ext>
                </a:extLst>
              </p:cNvPr>
              <p:cNvSpPr txBox="1">
                <a:spLocks noRot="1" noChangeAspect="1" noMove="1" noResize="1" noEditPoints="1" noAdjustHandles="1" noChangeArrowheads="1" noChangeShapeType="1" noTextEdit="1"/>
              </p:cNvSpPr>
              <p:nvPr/>
            </p:nvSpPr>
            <p:spPr>
              <a:xfrm>
                <a:off x="1170562" y="4198257"/>
                <a:ext cx="7079428" cy="507831"/>
              </a:xfrm>
              <a:prstGeom prst="rect">
                <a:avLst/>
              </a:prstGeom>
              <a:blipFill>
                <a:blip r:embed="rId10"/>
                <a:stretch>
                  <a:fillRect b="-12195"/>
                </a:stretch>
              </a:blipFill>
            </p:spPr>
            <p:txBody>
              <a:bodyPr/>
              <a:lstStyle/>
              <a:p>
                <a:r>
                  <a:rPr lang="en-US">
                    <a:noFill/>
                  </a:rPr>
                  <a:t> </a:t>
                </a:r>
              </a:p>
            </p:txBody>
          </p:sp>
        </mc:Fallback>
      </mc:AlternateContent>
    </p:spTree>
    <p:extLst>
      <p:ext uri="{BB962C8B-B14F-4D97-AF65-F5344CB8AC3E}">
        <p14:creationId xmlns:p14="http://schemas.microsoft.com/office/powerpoint/2010/main" val="2100429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BF155-47B9-57B4-4DBD-AC6E2A79B0D3}"/>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F15AC8A4-8763-95AC-EB10-6C8C7B81D7A2}"/>
              </a:ext>
            </a:extLst>
          </p:cNvPr>
          <p:cNvSpPr>
            <a:spLocks noGrp="1"/>
          </p:cNvSpPr>
          <p:nvPr>
            <p:ph type="sldNum" sz="quarter" idx="12"/>
          </p:nvPr>
        </p:nvSpPr>
        <p:spPr/>
        <p:txBody>
          <a:bodyPr/>
          <a:lstStyle/>
          <a:p>
            <a:fld id="{FACE7509-F60A-4509-9491-CD4ED7B54EDD}" type="slidenum">
              <a:rPr lang="nl-NL" smtClean="0"/>
              <a:pPr/>
              <a:t>25</a:t>
            </a:fld>
            <a:endParaRPr lang="nl-NL"/>
          </a:p>
        </p:txBody>
      </p:sp>
      <p:sp>
        <p:nvSpPr>
          <p:cNvPr id="4" name="Titel 3">
            <a:extLst>
              <a:ext uri="{FF2B5EF4-FFF2-40B4-BE49-F238E27FC236}">
                <a16:creationId xmlns:a16="http://schemas.microsoft.com/office/drawing/2014/main" id="{3141FF91-6468-8560-469B-52AA631CEF0E}"/>
              </a:ext>
            </a:extLst>
          </p:cNvPr>
          <p:cNvSpPr>
            <a:spLocks noGrp="1"/>
          </p:cNvSpPr>
          <p:nvPr>
            <p:ph type="title"/>
          </p:nvPr>
        </p:nvSpPr>
        <p:spPr/>
        <p:txBody>
          <a:bodyPr/>
          <a:lstStyle/>
          <a:p>
            <a:r>
              <a:rPr lang="en-US" dirty="0"/>
              <a:t>5. Naïve Bayesian classifiers</a:t>
            </a:r>
          </a:p>
        </p:txBody>
      </p:sp>
      <mc:AlternateContent xmlns:mc="http://schemas.openxmlformats.org/markup-compatibility/2006" xmlns:a14="http://schemas.microsoft.com/office/drawing/2010/main">
        <mc:Choice Requires="a14">
          <p:sp>
            <p:nvSpPr>
              <p:cNvPr id="18" name="Tekstvak 17">
                <a:extLst>
                  <a:ext uri="{FF2B5EF4-FFF2-40B4-BE49-F238E27FC236}">
                    <a16:creationId xmlns:a16="http://schemas.microsoft.com/office/drawing/2014/main" id="{1FF7C560-5C7F-51C2-E86A-CC88DFBD85CC}"/>
                  </a:ext>
                </a:extLst>
              </p:cNvPr>
              <p:cNvSpPr txBox="1"/>
              <p:nvPr/>
            </p:nvSpPr>
            <p:spPr>
              <a:xfrm>
                <a:off x="-2117588" y="2423540"/>
                <a:ext cx="7079428" cy="724237"/>
              </a:xfrm>
              <a:prstGeom prst="rect">
                <a:avLst/>
              </a:prstGeom>
              <a:noFill/>
            </p:spPr>
            <p:txBody>
              <a:bodyPr wrap="square" rtlCol="0">
                <a:spAutoFit/>
              </a:bodyPr>
              <a:lstStyle/>
              <a:p>
                <a:endParaRPr lang="en-US" sz="1100" dirty="0">
                  <a:solidFill>
                    <a:srgbClr val="00B05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50"/>
                          </a:solidFill>
                          <a:latin typeface="Cambria Math" panose="02040503050406030204" pitchFamily="18" charset="0"/>
                        </a:rPr>
                        <m:t>𝑝</m:t>
                      </m:r>
                      <m:d>
                        <m:dPr>
                          <m:ctrlPr>
                            <a:rPr lang="nl-NL" sz="1600" b="0" i="1" smtClean="0">
                              <a:solidFill>
                                <a:srgbClr val="00B050"/>
                              </a:solidFill>
                              <a:latin typeface="Cambria Math" panose="02040503050406030204" pitchFamily="18" charset="0"/>
                            </a:rPr>
                          </m:ctrlPr>
                        </m:dPr>
                        <m:e>
                          <m:r>
                            <a:rPr lang="nl-NL" sz="1600" b="0" i="1" smtClean="0">
                              <a:solidFill>
                                <a:srgbClr val="00B050"/>
                              </a:solidFill>
                              <a:latin typeface="Cambria Math" panose="02040503050406030204" pitchFamily="18" charset="0"/>
                            </a:rPr>
                            <m:t>𝑆</m:t>
                          </m:r>
                        </m:e>
                      </m:d>
                      <m:r>
                        <a:rPr lang="nl-NL" sz="1600" b="0" i="1" smtClean="0">
                          <a:solidFill>
                            <a:srgbClr val="00B050"/>
                          </a:solidFill>
                          <a:latin typeface="Cambria Math" panose="02040503050406030204" pitchFamily="18" charset="0"/>
                        </a:rPr>
                        <m:t>=</m:t>
                      </m:r>
                      <m:f>
                        <m:fPr>
                          <m:ctrlPr>
                            <a:rPr lang="nl-NL" sz="1600" b="0" i="1" smtClean="0">
                              <a:solidFill>
                                <a:srgbClr val="00B050"/>
                              </a:solidFill>
                              <a:latin typeface="Cambria Math" panose="02040503050406030204" pitchFamily="18" charset="0"/>
                            </a:rPr>
                          </m:ctrlPr>
                        </m:fPr>
                        <m:num>
                          <m:r>
                            <a:rPr lang="nl-NL" sz="1600" b="0" i="0" smtClean="0">
                              <a:solidFill>
                                <a:srgbClr val="00B050"/>
                              </a:solidFill>
                              <a:latin typeface="Cambria Math" panose="02040503050406030204" pitchFamily="18" charset="0"/>
                            </a:rPr>
                            <m:t>3</m:t>
                          </m:r>
                        </m:num>
                        <m:den>
                          <m:r>
                            <a:rPr lang="nl-NL" sz="1600" b="0" i="0" smtClean="0">
                              <a:solidFill>
                                <a:srgbClr val="00B050"/>
                              </a:solidFill>
                              <a:latin typeface="Cambria Math" panose="02040503050406030204" pitchFamily="18" charset="0"/>
                            </a:rPr>
                            <m:t>6</m:t>
                          </m:r>
                        </m:den>
                      </m:f>
                      <m:r>
                        <a:rPr lang="nl-NL" sz="1600" b="0" i="1" smtClean="0">
                          <a:solidFill>
                            <a:srgbClr val="00B050"/>
                          </a:solidFill>
                          <a:latin typeface="Cambria Math" panose="02040503050406030204" pitchFamily="18" charset="0"/>
                        </a:rPr>
                        <m:t>=0.5</m:t>
                      </m:r>
                    </m:oMath>
                  </m:oMathPara>
                </a14:m>
                <a:endParaRPr lang="en-US" sz="1600" dirty="0">
                  <a:solidFill>
                    <a:srgbClr val="00B050"/>
                  </a:solidFill>
                </a:endParaRPr>
              </a:p>
            </p:txBody>
          </p:sp>
        </mc:Choice>
        <mc:Fallback xmlns="">
          <p:sp>
            <p:nvSpPr>
              <p:cNvPr id="18" name="Tekstvak 17">
                <a:extLst>
                  <a:ext uri="{FF2B5EF4-FFF2-40B4-BE49-F238E27FC236}">
                    <a16:creationId xmlns:a16="http://schemas.microsoft.com/office/drawing/2014/main" id="{1FF7C560-5C7F-51C2-E86A-CC88DFBD85CC}"/>
                  </a:ext>
                </a:extLst>
              </p:cNvPr>
              <p:cNvSpPr txBox="1">
                <a:spLocks noRot="1" noChangeAspect="1" noMove="1" noResize="1" noEditPoints="1" noAdjustHandles="1" noChangeArrowheads="1" noChangeShapeType="1" noTextEdit="1"/>
              </p:cNvSpPr>
              <p:nvPr/>
            </p:nvSpPr>
            <p:spPr>
              <a:xfrm>
                <a:off x="-2117588" y="2423540"/>
                <a:ext cx="7079428" cy="724237"/>
              </a:xfrm>
              <a:prstGeom prst="rect">
                <a:avLst/>
              </a:prstGeom>
              <a:blipFill>
                <a:blip r:embed="rId3"/>
                <a:stretch>
                  <a:fillRect b="-1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kstvak 19">
                <a:extLst>
                  <a:ext uri="{FF2B5EF4-FFF2-40B4-BE49-F238E27FC236}">
                    <a16:creationId xmlns:a16="http://schemas.microsoft.com/office/drawing/2014/main" id="{4B3728BF-04C4-DA85-39CF-273B0D024A4A}"/>
                  </a:ext>
                </a:extLst>
              </p:cNvPr>
              <p:cNvSpPr txBox="1"/>
              <p:nvPr/>
            </p:nvSpPr>
            <p:spPr>
              <a:xfrm>
                <a:off x="642754" y="3024686"/>
                <a:ext cx="7079428" cy="610295"/>
              </a:xfrm>
              <a:prstGeom prst="rect">
                <a:avLst/>
              </a:prstGeom>
              <a:noFill/>
            </p:spPr>
            <p:txBody>
              <a:bodyPr wrap="square" rtlCol="0">
                <a:spAutoFit/>
              </a:bodyPr>
              <a:lstStyle/>
              <a:p>
                <a:endParaRPr lang="en-US" sz="1100" dirty="0">
                  <a:solidFill>
                    <a:srgbClr val="00B0F0"/>
                  </a:solidFill>
                </a:endParaRPr>
              </a:p>
              <a:p>
                <a14:m>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𝑃𝑟𝑖𝑐𝑒</m:t>
                        </m:r>
                      </m:e>
                    </m:d>
                    <m:r>
                      <a:rPr lang="nl-NL" sz="1600" b="0" i="1" smtClean="0">
                        <a:solidFill>
                          <a:srgbClr val="00B0F0"/>
                        </a:solidFill>
                        <a:latin typeface="Cambria Math" panose="02040503050406030204" pitchFamily="18" charset="0"/>
                      </a:rPr>
                      <m:t>=</m:t>
                    </m:r>
                    <m:f>
                      <m:fPr>
                        <m:ctrlPr>
                          <a:rPr lang="nl-NL" sz="1600" b="0" i="1" smtClean="0">
                            <a:solidFill>
                              <a:srgbClr val="00B0F0"/>
                            </a:solidFill>
                            <a:latin typeface="Cambria Math" panose="02040503050406030204" pitchFamily="18" charset="0"/>
                          </a:rPr>
                        </m:ctrlPr>
                      </m:fPr>
                      <m:num>
                        <m:r>
                          <a:rPr lang="nl-NL" sz="1600" b="0" i="1" smtClean="0">
                            <a:solidFill>
                              <a:srgbClr val="00B0F0"/>
                            </a:solidFill>
                            <a:latin typeface="Cambria Math" panose="02040503050406030204" pitchFamily="18" charset="0"/>
                          </a:rPr>
                          <m:t>4</m:t>
                        </m:r>
                      </m:num>
                      <m:den>
                        <m:r>
                          <a:rPr lang="nl-NL" sz="1600" b="0" i="1" smtClean="0">
                            <a:solidFill>
                              <a:srgbClr val="00B0F0"/>
                            </a:solidFill>
                            <a:latin typeface="Cambria Math" panose="02040503050406030204" pitchFamily="18" charset="0"/>
                          </a:rPr>
                          <m:t>6</m:t>
                        </m:r>
                      </m:den>
                    </m:f>
                  </m:oMath>
                </a14:m>
                <a:r>
                  <a:rPr lang="en-US" sz="1600" dirty="0">
                    <a:solidFill>
                      <a:srgbClr val="00B0F0"/>
                    </a:solidFill>
                  </a:rPr>
                  <a:t> = 0.66</a:t>
                </a:r>
              </a:p>
            </p:txBody>
          </p:sp>
        </mc:Choice>
        <mc:Fallback xmlns="">
          <p:sp>
            <p:nvSpPr>
              <p:cNvPr id="20" name="Tekstvak 19">
                <a:extLst>
                  <a:ext uri="{FF2B5EF4-FFF2-40B4-BE49-F238E27FC236}">
                    <a16:creationId xmlns:a16="http://schemas.microsoft.com/office/drawing/2014/main" id="{4B3728BF-04C4-DA85-39CF-273B0D024A4A}"/>
                  </a:ext>
                </a:extLst>
              </p:cNvPr>
              <p:cNvSpPr txBox="1">
                <a:spLocks noRot="1" noChangeAspect="1" noMove="1" noResize="1" noEditPoints="1" noAdjustHandles="1" noChangeArrowheads="1" noChangeShapeType="1" noTextEdit="1"/>
              </p:cNvSpPr>
              <p:nvPr/>
            </p:nvSpPr>
            <p:spPr>
              <a:xfrm>
                <a:off x="642754" y="3024686"/>
                <a:ext cx="7079428" cy="610295"/>
              </a:xfrm>
              <a:prstGeom prst="rect">
                <a:avLst/>
              </a:prstGeom>
              <a:blipFill>
                <a:blip r:embed="rId4"/>
                <a:stretch>
                  <a:fillRect b="-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kstvak 20">
                <a:extLst>
                  <a:ext uri="{FF2B5EF4-FFF2-40B4-BE49-F238E27FC236}">
                    <a16:creationId xmlns:a16="http://schemas.microsoft.com/office/drawing/2014/main" id="{846F10FC-F422-CEDD-FE6E-D8246C140958}"/>
                  </a:ext>
                </a:extLst>
              </p:cNvPr>
              <p:cNvSpPr txBox="1"/>
              <p:nvPr/>
            </p:nvSpPr>
            <p:spPr>
              <a:xfrm>
                <a:off x="642754" y="3528962"/>
                <a:ext cx="7079428" cy="611065"/>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𝑃𝑟𝑖𝑐𝑒</m:t>
                        </m:r>
                      </m:e>
                      <m:e>
                        <m:r>
                          <a:rPr lang="nl-NL" sz="1600" b="0" i="1" smtClean="0">
                            <a:solidFill>
                              <a:srgbClr val="FF0000"/>
                            </a:solidFill>
                            <a:latin typeface="Cambria Math" panose="02040503050406030204" pitchFamily="18" charset="0"/>
                          </a:rPr>
                          <m:t>𝑆</m:t>
                        </m:r>
                      </m:e>
                    </m:d>
                    <m:r>
                      <a:rPr lang="nl-NL" sz="1600" b="0" i="1" smtClean="0">
                        <a:solidFill>
                          <a:srgbClr val="FF0000"/>
                        </a:solidFill>
                        <a:latin typeface="Cambria Math" panose="02040503050406030204" pitchFamily="18" charset="0"/>
                      </a:rPr>
                      <m:t>=</m:t>
                    </m:r>
                    <m:f>
                      <m:fPr>
                        <m:ctrlPr>
                          <a:rPr lang="nl-NL" sz="1600" b="0" i="1" smtClean="0">
                            <a:solidFill>
                              <a:srgbClr val="FF0000"/>
                            </a:solidFill>
                            <a:latin typeface="Cambria Math" panose="02040503050406030204" pitchFamily="18" charset="0"/>
                          </a:rPr>
                        </m:ctrlPr>
                      </m:fPr>
                      <m:num>
                        <m:r>
                          <a:rPr lang="nl-NL" sz="1600" b="0" i="1" smtClean="0">
                            <a:solidFill>
                              <a:srgbClr val="FF0000"/>
                            </a:solidFill>
                            <a:latin typeface="Cambria Math" panose="02040503050406030204" pitchFamily="18" charset="0"/>
                          </a:rPr>
                          <m:t>3</m:t>
                        </m:r>
                      </m:num>
                      <m:den>
                        <m:r>
                          <a:rPr lang="nl-NL" sz="1600" b="0" i="1" smtClean="0">
                            <a:solidFill>
                              <a:srgbClr val="FF0000"/>
                            </a:solidFill>
                            <a:latin typeface="Cambria Math" panose="02040503050406030204" pitchFamily="18" charset="0"/>
                          </a:rPr>
                          <m:t>3</m:t>
                        </m:r>
                      </m:den>
                    </m:f>
                  </m:oMath>
                </a14:m>
                <a:r>
                  <a:rPr lang="en-US" sz="1600" dirty="0">
                    <a:solidFill>
                      <a:srgbClr val="FF0000"/>
                    </a:solidFill>
                  </a:rPr>
                  <a:t> = 1</a:t>
                </a:r>
              </a:p>
            </p:txBody>
          </p:sp>
        </mc:Choice>
        <mc:Fallback xmlns="">
          <p:sp>
            <p:nvSpPr>
              <p:cNvPr id="21" name="Tekstvak 20">
                <a:extLst>
                  <a:ext uri="{FF2B5EF4-FFF2-40B4-BE49-F238E27FC236}">
                    <a16:creationId xmlns:a16="http://schemas.microsoft.com/office/drawing/2014/main" id="{846F10FC-F422-CEDD-FE6E-D8246C140958}"/>
                  </a:ext>
                </a:extLst>
              </p:cNvPr>
              <p:cNvSpPr txBox="1">
                <a:spLocks noRot="1" noChangeAspect="1" noMove="1" noResize="1" noEditPoints="1" noAdjustHandles="1" noChangeArrowheads="1" noChangeShapeType="1" noTextEdit="1"/>
              </p:cNvSpPr>
              <p:nvPr/>
            </p:nvSpPr>
            <p:spPr>
              <a:xfrm>
                <a:off x="642754" y="3528962"/>
                <a:ext cx="7079428" cy="611065"/>
              </a:xfrm>
              <a:prstGeom prst="rect">
                <a:avLst/>
              </a:prstGeom>
              <a:blipFill>
                <a:blip r:embed="rId5"/>
                <a:stretch>
                  <a:fillRect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kstvak 23">
                <a:extLst>
                  <a:ext uri="{FF2B5EF4-FFF2-40B4-BE49-F238E27FC236}">
                    <a16:creationId xmlns:a16="http://schemas.microsoft.com/office/drawing/2014/main" id="{713BA6C7-1CD5-C66D-50A4-4F268B878BE1}"/>
                  </a:ext>
                </a:extLst>
              </p:cNvPr>
              <p:cNvSpPr txBox="1"/>
              <p:nvPr/>
            </p:nvSpPr>
            <p:spPr>
              <a:xfrm>
                <a:off x="642754" y="4067440"/>
                <a:ext cx="7079428" cy="614848"/>
              </a:xfrm>
              <a:prstGeom prst="rect">
                <a:avLst/>
              </a:prstGeom>
              <a:noFill/>
            </p:spPr>
            <p:txBody>
              <a:bodyPr wrap="square" rtlCol="0">
                <a:spAutoFit/>
              </a:bodyPr>
              <a:lstStyle/>
              <a:p>
                <a:endParaRPr lang="en-US" sz="1100" dirty="0">
                  <a:solidFill>
                    <a:srgbClr val="00B0F0"/>
                  </a:solidFill>
                </a:endParaRPr>
              </a:p>
              <a:p>
                <a14:m>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𝐻𝑒𝑙𝑙𝑜</m:t>
                        </m:r>
                      </m:e>
                    </m:d>
                    <m:r>
                      <a:rPr lang="nl-NL" sz="1600" b="0" i="1" smtClean="0">
                        <a:solidFill>
                          <a:srgbClr val="00B0F0"/>
                        </a:solidFill>
                        <a:latin typeface="Cambria Math" panose="02040503050406030204" pitchFamily="18" charset="0"/>
                      </a:rPr>
                      <m:t>=</m:t>
                    </m:r>
                    <m:f>
                      <m:fPr>
                        <m:ctrlPr>
                          <a:rPr lang="nl-NL" sz="1600" b="0" i="1" smtClean="0">
                            <a:solidFill>
                              <a:srgbClr val="00B0F0"/>
                            </a:solidFill>
                            <a:latin typeface="Cambria Math" panose="02040503050406030204" pitchFamily="18" charset="0"/>
                          </a:rPr>
                        </m:ctrlPr>
                      </m:fPr>
                      <m:num>
                        <m:r>
                          <a:rPr lang="nl-NL" sz="1600" b="0" i="1" smtClean="0">
                            <a:solidFill>
                              <a:srgbClr val="00B0F0"/>
                            </a:solidFill>
                            <a:latin typeface="Cambria Math" panose="02040503050406030204" pitchFamily="18" charset="0"/>
                          </a:rPr>
                          <m:t>5</m:t>
                        </m:r>
                      </m:num>
                      <m:den>
                        <m:r>
                          <a:rPr lang="nl-NL" sz="1600" b="0" i="1" smtClean="0">
                            <a:solidFill>
                              <a:srgbClr val="00B0F0"/>
                            </a:solidFill>
                            <a:latin typeface="Cambria Math" panose="02040503050406030204" pitchFamily="18" charset="0"/>
                          </a:rPr>
                          <m:t>6</m:t>
                        </m:r>
                      </m:den>
                    </m:f>
                  </m:oMath>
                </a14:m>
                <a:r>
                  <a:rPr lang="en-US" sz="1600" dirty="0">
                    <a:solidFill>
                      <a:srgbClr val="00B0F0"/>
                    </a:solidFill>
                  </a:rPr>
                  <a:t> = 0.83</a:t>
                </a:r>
              </a:p>
            </p:txBody>
          </p:sp>
        </mc:Choice>
        <mc:Fallback xmlns="">
          <p:sp>
            <p:nvSpPr>
              <p:cNvPr id="24" name="Tekstvak 23">
                <a:extLst>
                  <a:ext uri="{FF2B5EF4-FFF2-40B4-BE49-F238E27FC236}">
                    <a16:creationId xmlns:a16="http://schemas.microsoft.com/office/drawing/2014/main" id="{713BA6C7-1CD5-C66D-50A4-4F268B878BE1}"/>
                  </a:ext>
                </a:extLst>
              </p:cNvPr>
              <p:cNvSpPr txBox="1">
                <a:spLocks noRot="1" noChangeAspect="1" noMove="1" noResize="1" noEditPoints="1" noAdjustHandles="1" noChangeArrowheads="1" noChangeShapeType="1" noTextEdit="1"/>
              </p:cNvSpPr>
              <p:nvPr/>
            </p:nvSpPr>
            <p:spPr>
              <a:xfrm>
                <a:off x="642754" y="4067440"/>
                <a:ext cx="7079428" cy="614848"/>
              </a:xfrm>
              <a:prstGeom prst="rect">
                <a:avLst/>
              </a:prstGeom>
              <a:blipFill>
                <a:blip r:embed="rId6"/>
                <a:stretch>
                  <a:fillRect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kstvak 24">
                <a:extLst>
                  <a:ext uri="{FF2B5EF4-FFF2-40B4-BE49-F238E27FC236}">
                    <a16:creationId xmlns:a16="http://schemas.microsoft.com/office/drawing/2014/main" id="{D746A62E-B4CF-44F3-EE78-95EDC2A9B780}"/>
                  </a:ext>
                </a:extLst>
              </p:cNvPr>
              <p:cNvSpPr txBox="1"/>
              <p:nvPr/>
            </p:nvSpPr>
            <p:spPr>
              <a:xfrm>
                <a:off x="642754" y="4618656"/>
                <a:ext cx="7079428" cy="611065"/>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𝐻𝑒𝑙𝑙𝑜</m:t>
                        </m:r>
                      </m:e>
                      <m:e>
                        <m:r>
                          <a:rPr lang="nl-NL" sz="1600" b="0" i="1" smtClean="0">
                            <a:solidFill>
                              <a:srgbClr val="FF0000"/>
                            </a:solidFill>
                            <a:latin typeface="Cambria Math" panose="02040503050406030204" pitchFamily="18" charset="0"/>
                          </a:rPr>
                          <m:t>𝑆</m:t>
                        </m:r>
                      </m:e>
                    </m:d>
                    <m:r>
                      <a:rPr lang="nl-NL" sz="1600" b="0" i="1" smtClean="0">
                        <a:solidFill>
                          <a:srgbClr val="FF0000"/>
                        </a:solidFill>
                        <a:latin typeface="Cambria Math" panose="02040503050406030204" pitchFamily="18" charset="0"/>
                      </a:rPr>
                      <m:t>=</m:t>
                    </m:r>
                    <m:f>
                      <m:fPr>
                        <m:ctrlPr>
                          <a:rPr lang="nl-NL" sz="1600" b="0" i="1" smtClean="0">
                            <a:solidFill>
                              <a:srgbClr val="FF0000"/>
                            </a:solidFill>
                            <a:latin typeface="Cambria Math" panose="02040503050406030204" pitchFamily="18" charset="0"/>
                          </a:rPr>
                        </m:ctrlPr>
                      </m:fPr>
                      <m:num>
                        <m:r>
                          <a:rPr lang="nl-NL" sz="1600" b="0" i="1" smtClean="0">
                            <a:solidFill>
                              <a:srgbClr val="FF0000"/>
                            </a:solidFill>
                            <a:latin typeface="Cambria Math" panose="02040503050406030204" pitchFamily="18" charset="0"/>
                          </a:rPr>
                          <m:t>2</m:t>
                        </m:r>
                      </m:num>
                      <m:den>
                        <m:r>
                          <a:rPr lang="nl-NL" sz="1600" b="0" i="1" smtClean="0">
                            <a:solidFill>
                              <a:srgbClr val="FF0000"/>
                            </a:solidFill>
                            <a:latin typeface="Cambria Math" panose="02040503050406030204" pitchFamily="18" charset="0"/>
                          </a:rPr>
                          <m:t>3</m:t>
                        </m:r>
                      </m:den>
                    </m:f>
                  </m:oMath>
                </a14:m>
                <a:r>
                  <a:rPr lang="en-US" sz="1600" dirty="0">
                    <a:solidFill>
                      <a:srgbClr val="FF0000"/>
                    </a:solidFill>
                  </a:rPr>
                  <a:t> = 0.66</a:t>
                </a:r>
              </a:p>
            </p:txBody>
          </p:sp>
        </mc:Choice>
        <mc:Fallback xmlns="">
          <p:sp>
            <p:nvSpPr>
              <p:cNvPr id="25" name="Tekstvak 24">
                <a:extLst>
                  <a:ext uri="{FF2B5EF4-FFF2-40B4-BE49-F238E27FC236}">
                    <a16:creationId xmlns:a16="http://schemas.microsoft.com/office/drawing/2014/main" id="{D746A62E-B4CF-44F3-EE78-95EDC2A9B780}"/>
                  </a:ext>
                </a:extLst>
              </p:cNvPr>
              <p:cNvSpPr txBox="1">
                <a:spLocks noRot="1" noChangeAspect="1" noMove="1" noResize="1" noEditPoints="1" noAdjustHandles="1" noChangeArrowheads="1" noChangeShapeType="1" noTextEdit="1"/>
              </p:cNvSpPr>
              <p:nvPr/>
            </p:nvSpPr>
            <p:spPr>
              <a:xfrm>
                <a:off x="642754" y="4618656"/>
                <a:ext cx="7079428" cy="611065"/>
              </a:xfrm>
              <a:prstGeom prst="rect">
                <a:avLst/>
              </a:prstGeom>
              <a:blipFill>
                <a:blip r:embed="rId7"/>
                <a:stretch>
                  <a:fillRect b="-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kstvak 1">
                <a:extLst>
                  <a:ext uri="{FF2B5EF4-FFF2-40B4-BE49-F238E27FC236}">
                    <a16:creationId xmlns:a16="http://schemas.microsoft.com/office/drawing/2014/main" id="{F609B782-8D3C-46FD-2178-6A253F2F5AA8}"/>
                  </a:ext>
                </a:extLst>
              </p:cNvPr>
              <p:cNvSpPr txBox="1"/>
              <p:nvPr/>
            </p:nvSpPr>
            <p:spPr>
              <a:xfrm>
                <a:off x="1945678" y="3121223"/>
                <a:ext cx="7079428" cy="61555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𝑃𝑟𝑖𝑐𝑒</m:t>
                          </m:r>
                        </m:e>
                      </m:d>
                      <m:r>
                        <a:rPr lang="nl-NL" sz="2000" i="1">
                          <a:solidFill>
                            <a:schemeClr val="tx1"/>
                          </a:solidFill>
                          <a:latin typeface="Cambria Math" panose="02040503050406030204" pitchFamily="18" charset="0"/>
                        </a:rPr>
                        <m:t>=</m:t>
                      </m:r>
                      <m:r>
                        <a:rPr lang="nl-NL" sz="2000" i="1" smtClean="0">
                          <a:solidFill>
                            <a:schemeClr val="tx1"/>
                          </a:solidFill>
                          <a:latin typeface="Cambria Math" panose="02040503050406030204" pitchFamily="18" charset="0"/>
                        </a:rPr>
                        <m:t>?</m:t>
                      </m:r>
                    </m:oMath>
                  </m:oMathPara>
                </a14:m>
                <a:endParaRPr lang="en-US" sz="2000" dirty="0">
                  <a:solidFill>
                    <a:schemeClr val="tx1"/>
                  </a:solidFill>
                </a:endParaRPr>
              </a:p>
            </p:txBody>
          </p:sp>
        </mc:Choice>
        <mc:Fallback xmlns="">
          <p:sp>
            <p:nvSpPr>
              <p:cNvPr id="2" name="Tekstvak 1">
                <a:extLst>
                  <a:ext uri="{FF2B5EF4-FFF2-40B4-BE49-F238E27FC236}">
                    <a16:creationId xmlns:a16="http://schemas.microsoft.com/office/drawing/2014/main" id="{F609B782-8D3C-46FD-2178-6A253F2F5AA8}"/>
                  </a:ext>
                </a:extLst>
              </p:cNvPr>
              <p:cNvSpPr txBox="1">
                <a:spLocks noRot="1" noChangeAspect="1" noMove="1" noResize="1" noEditPoints="1" noAdjustHandles="1" noChangeArrowheads="1" noChangeShapeType="1" noTextEdit="1"/>
              </p:cNvSpPr>
              <p:nvPr/>
            </p:nvSpPr>
            <p:spPr>
              <a:xfrm>
                <a:off x="1945678" y="3121223"/>
                <a:ext cx="7079428" cy="615553"/>
              </a:xfrm>
              <a:prstGeom prst="rect">
                <a:avLst/>
              </a:prstGeom>
              <a:blipFill>
                <a:blip r:embed="rId8"/>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38E742B5-FF02-23D5-2051-F5A012F49993}"/>
                  </a:ext>
                </a:extLst>
              </p:cNvPr>
              <p:cNvSpPr txBox="1"/>
              <p:nvPr/>
            </p:nvSpPr>
            <p:spPr>
              <a:xfrm>
                <a:off x="1945678" y="3845460"/>
                <a:ext cx="7079428" cy="61555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𝐻𝑒𝑙𝑙𝑜</m:t>
                          </m:r>
                        </m:e>
                      </m:d>
                      <m:r>
                        <a:rPr lang="nl-NL" sz="2000" b="0" i="1" smtClean="0">
                          <a:solidFill>
                            <a:schemeClr val="tx1"/>
                          </a:solidFill>
                          <a:latin typeface="Cambria Math" panose="02040503050406030204" pitchFamily="18" charset="0"/>
                        </a:rPr>
                        <m:t>=</m:t>
                      </m:r>
                      <m:r>
                        <a:rPr lang="nl-NL" sz="2000" i="1" smtClean="0">
                          <a:solidFill>
                            <a:schemeClr val="tx1"/>
                          </a:solidFill>
                          <a:latin typeface="Cambria Math" panose="02040503050406030204" pitchFamily="18" charset="0"/>
                        </a:rPr>
                        <m:t>?</m:t>
                      </m:r>
                    </m:oMath>
                  </m:oMathPara>
                </a14:m>
                <a:endParaRPr lang="en-US" sz="2000" dirty="0">
                  <a:solidFill>
                    <a:schemeClr val="tx1"/>
                  </a:solidFill>
                </a:endParaRPr>
              </a:p>
            </p:txBody>
          </p:sp>
        </mc:Choice>
        <mc:Fallback xmlns="">
          <p:sp>
            <p:nvSpPr>
              <p:cNvPr id="5" name="Tekstvak 4">
                <a:extLst>
                  <a:ext uri="{FF2B5EF4-FFF2-40B4-BE49-F238E27FC236}">
                    <a16:creationId xmlns:a16="http://schemas.microsoft.com/office/drawing/2014/main" id="{38E742B5-FF02-23D5-2051-F5A012F49993}"/>
                  </a:ext>
                </a:extLst>
              </p:cNvPr>
              <p:cNvSpPr txBox="1">
                <a:spLocks noRot="1" noChangeAspect="1" noMove="1" noResize="1" noEditPoints="1" noAdjustHandles="1" noChangeArrowheads="1" noChangeShapeType="1" noTextEdit="1"/>
              </p:cNvSpPr>
              <p:nvPr/>
            </p:nvSpPr>
            <p:spPr>
              <a:xfrm>
                <a:off x="1945678" y="3845460"/>
                <a:ext cx="7079428" cy="615553"/>
              </a:xfrm>
              <a:prstGeom prst="rect">
                <a:avLst/>
              </a:prstGeom>
              <a:blipFill>
                <a:blip r:embed="rId9"/>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1D72D591-E6DA-B728-4C64-45AE4690264F}"/>
                  </a:ext>
                </a:extLst>
              </p:cNvPr>
              <p:cNvSpPr txBox="1"/>
              <p:nvPr/>
            </p:nvSpPr>
            <p:spPr>
              <a:xfrm>
                <a:off x="2228706" y="5743819"/>
                <a:ext cx="7079428" cy="61555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𝑃𝑟𝑖𝑐𝑒</m:t>
                          </m:r>
                          <m:r>
                            <a:rPr lang="nl-NL" sz="2000" b="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𝐻𝑒𝑙𝑙𝑜</m:t>
                          </m:r>
                        </m:e>
                      </m:d>
                      <m:r>
                        <a:rPr lang="nl-NL" sz="2000" b="0" i="1" smtClean="0">
                          <a:solidFill>
                            <a:schemeClr val="tx1"/>
                          </a:solidFill>
                          <a:latin typeface="Cambria Math" panose="02040503050406030204" pitchFamily="18" charset="0"/>
                        </a:rPr>
                        <m:t>=?</m:t>
                      </m:r>
                    </m:oMath>
                  </m:oMathPara>
                </a14:m>
                <a:endParaRPr lang="en-US" sz="2000" dirty="0">
                  <a:solidFill>
                    <a:schemeClr val="tx1"/>
                  </a:solidFill>
                </a:endParaRPr>
              </a:p>
            </p:txBody>
          </p:sp>
        </mc:Choice>
        <mc:Fallback xmlns="">
          <p:sp>
            <p:nvSpPr>
              <p:cNvPr id="6" name="Tekstvak 5">
                <a:extLst>
                  <a:ext uri="{FF2B5EF4-FFF2-40B4-BE49-F238E27FC236}">
                    <a16:creationId xmlns:a16="http://schemas.microsoft.com/office/drawing/2014/main" id="{1D72D591-E6DA-B728-4C64-45AE4690264F}"/>
                  </a:ext>
                </a:extLst>
              </p:cNvPr>
              <p:cNvSpPr txBox="1">
                <a:spLocks noRot="1" noChangeAspect="1" noMove="1" noResize="1" noEditPoints="1" noAdjustHandles="1" noChangeArrowheads="1" noChangeShapeType="1" noTextEdit="1"/>
              </p:cNvSpPr>
              <p:nvPr/>
            </p:nvSpPr>
            <p:spPr>
              <a:xfrm>
                <a:off x="2228706" y="5743819"/>
                <a:ext cx="7079428" cy="615553"/>
              </a:xfrm>
              <a:prstGeom prst="rect">
                <a:avLst/>
              </a:prstGeom>
              <a:blipFill>
                <a:blip r:embed="rId10"/>
                <a:stretch>
                  <a:fillRect b="-8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29110FB4-4620-90B6-FF6F-5AC34D3DC118}"/>
                  </a:ext>
                </a:extLst>
              </p:cNvPr>
              <p:cNvSpPr txBox="1"/>
              <p:nvPr/>
            </p:nvSpPr>
            <p:spPr>
              <a:xfrm>
                <a:off x="2556286" y="2291000"/>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𝑊𝑜𝑟𝑑</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rgbClr val="FF0000"/>
                              </a:solidFill>
                              <a:latin typeface="Cambria Math" panose="02040503050406030204" pitchFamily="18" charset="0"/>
                            </a:rPr>
                            <m:t>𝑝</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𝑊</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𝑆</m:t>
                          </m:r>
                          <m:r>
                            <a:rPr lang="nl-NL" sz="2000" i="1" smtClean="0">
                              <a:solidFill>
                                <a:srgbClr val="FF0000"/>
                              </a:solidFill>
                              <a:latin typeface="Cambria Math" panose="02040503050406030204" pitchFamily="18" charset="0"/>
                            </a:rPr>
                            <m:t>)</m:t>
                          </m:r>
                          <m:r>
                            <a:rPr lang="nl-NL" sz="2000" i="1" smtClean="0">
                              <a:solidFill>
                                <a:srgbClr val="00B050"/>
                              </a:solidFill>
                              <a:latin typeface="Cambria Math" panose="02040503050406030204" pitchFamily="18" charset="0"/>
                            </a:rPr>
                            <m:t>𝑝</m:t>
                          </m:r>
                          <m:r>
                            <a:rPr lang="nl-NL" sz="200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𝑆</m:t>
                          </m:r>
                          <m:r>
                            <a:rPr lang="nl-NL" sz="2000" i="1" smtClean="0">
                              <a:solidFill>
                                <a:srgbClr val="00B050"/>
                              </a:solidFill>
                              <a:latin typeface="Cambria Math" panose="02040503050406030204" pitchFamily="18" charset="0"/>
                            </a:rPr>
                            <m:t>)</m:t>
                          </m:r>
                        </m:num>
                        <m:den>
                          <m:r>
                            <a:rPr lang="nl-NL" sz="2000" i="1" smtClean="0">
                              <a:solidFill>
                                <a:srgbClr val="00B0F0"/>
                              </a:solidFill>
                              <a:latin typeface="Cambria Math" panose="02040503050406030204" pitchFamily="18" charset="0"/>
                            </a:rPr>
                            <m:t>𝑝</m:t>
                          </m:r>
                          <m:r>
                            <a:rPr lang="nl-NL" sz="200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𝑊</m:t>
                          </m:r>
                          <m:r>
                            <a:rPr lang="nl-NL" sz="2000" i="1">
                              <a:solidFill>
                                <a:srgbClr val="00B0F0"/>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8" name="Tekstvak 7">
                <a:extLst>
                  <a:ext uri="{FF2B5EF4-FFF2-40B4-BE49-F238E27FC236}">
                    <a16:creationId xmlns:a16="http://schemas.microsoft.com/office/drawing/2014/main" id="{29110FB4-4620-90B6-FF6F-5AC34D3DC118}"/>
                  </a:ext>
                </a:extLst>
              </p:cNvPr>
              <p:cNvSpPr txBox="1">
                <a:spLocks noRot="1" noChangeAspect="1" noMove="1" noResize="1" noEditPoints="1" noAdjustHandles="1" noChangeArrowheads="1" noChangeShapeType="1" noTextEdit="1"/>
              </p:cNvSpPr>
              <p:nvPr/>
            </p:nvSpPr>
            <p:spPr>
              <a:xfrm>
                <a:off x="2556286" y="2291000"/>
                <a:ext cx="7079428" cy="948593"/>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DB550A62-F0E3-BA92-B15A-08C6B4F1CBA6}"/>
                  </a:ext>
                </a:extLst>
              </p:cNvPr>
              <p:cNvSpPr txBox="1"/>
              <p:nvPr/>
            </p:nvSpPr>
            <p:spPr>
              <a:xfrm>
                <a:off x="2311809" y="4830176"/>
                <a:ext cx="10621926" cy="783163"/>
              </a:xfrm>
              <a:prstGeom prst="rect">
                <a:avLst/>
              </a:prstGeom>
              <a:noFill/>
            </p:spPr>
            <p:txBody>
              <a:bodyPr wrap="square" rtlCol="0">
                <a:spAutoFit/>
              </a:bodyPr>
              <a:lstStyle/>
              <a:p>
                <a:endParaRPr lang="en-US" sz="1100" dirty="0"/>
              </a:p>
              <a:p>
                <a:pPr/>
                <a14:m>
                  <m:oMathPara xmlns:m="http://schemas.openxmlformats.org/officeDocument/2006/math">
                    <m:oMathParaPr>
                      <m:jc m:val="centerGroup"/>
                    </m:oMathParaPr>
                    <m:oMath xmlns:m="http://schemas.openxmlformats.org/officeDocument/2006/math">
                      <m:r>
                        <a:rPr lang="nl-NL" sz="1600" i="1">
                          <a:latin typeface="Cambria Math" panose="02040503050406030204" pitchFamily="18" charset="0"/>
                        </a:rPr>
                        <m:t>𝑝</m:t>
                      </m:r>
                      <m:r>
                        <a:rPr lang="nl-NL" sz="1600" b="0" i="1" smtClean="0">
                          <a:latin typeface="Cambria Math" panose="02040503050406030204" pitchFamily="18" charset="0"/>
                        </a:rPr>
                        <m:t>(</m:t>
                      </m:r>
                      <m:r>
                        <a:rPr lang="nl-NL" sz="1600" b="0" i="1" smtClean="0">
                          <a:latin typeface="Cambria Math" panose="02040503050406030204" pitchFamily="18" charset="0"/>
                        </a:rPr>
                        <m:t>𝑆𝑝𝑎𝑚</m:t>
                      </m:r>
                      <m:r>
                        <a:rPr lang="nl-NL" sz="1600" b="0" i="1" smtClean="0">
                          <a:latin typeface="Cambria Math" panose="02040503050406030204" pitchFamily="18" charset="0"/>
                        </a:rPr>
                        <m:t>|</m:t>
                      </m:r>
                      <m:r>
                        <a:rPr lang="nl-NL" sz="1600" b="0" i="1" smtClean="0">
                          <a:latin typeface="Cambria Math" panose="02040503050406030204" pitchFamily="18" charset="0"/>
                        </a:rPr>
                        <m:t>𝐶𝑜𝑛𝑡𝑒𝑛𝑡</m:t>
                      </m:r>
                      <m:r>
                        <a:rPr lang="nl-NL" sz="1600" b="0" i="1" smtClean="0">
                          <a:latin typeface="Cambria Math" panose="02040503050406030204" pitchFamily="18" charset="0"/>
                        </a:rPr>
                        <m:t>)=</m:t>
                      </m:r>
                      <m:f>
                        <m:fPr>
                          <m:ctrlPr>
                            <a:rPr lang="nl-NL" sz="1600" b="0" i="1" smtClean="0">
                              <a:latin typeface="Cambria Math" panose="02040503050406030204" pitchFamily="18" charset="0"/>
                            </a:rPr>
                          </m:ctrlPr>
                        </m:fPr>
                        <m:num>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b="0" i="1" smtClean="0">
                                      <a:latin typeface="Cambria Math" panose="02040503050406030204" pitchFamily="18" charset="0"/>
                                    </a:rPr>
                                  </m:ctrlPr>
                                </m:sSubPr>
                                <m:e>
                                  <m:r>
                                    <a:rPr lang="nl-NL" sz="1600" b="0" i="1" smtClean="0">
                                      <a:latin typeface="Cambria Math" panose="02040503050406030204" pitchFamily="18" charset="0"/>
                                    </a:rPr>
                                    <m:t>𝑆</m:t>
                                  </m:r>
                                  <m:r>
                                    <a:rPr lang="nl-NL" sz="1600" b="0" i="1" smtClean="0">
                                      <a:latin typeface="Cambria Math" panose="02040503050406030204" pitchFamily="18" charset="0"/>
                                    </a:rPr>
                                    <m:t>|</m:t>
                                  </m:r>
                                  <m:r>
                                    <a:rPr lang="nl-NL" sz="1600" i="1" smtClean="0">
                                      <a:latin typeface="Cambria Math" panose="02040503050406030204" pitchFamily="18" charset="0"/>
                                    </a:rPr>
                                    <m:t>𝑤</m:t>
                                  </m:r>
                                </m:e>
                                <m:sub>
                                  <m:r>
                                    <a:rPr lang="nl-NL" sz="1600" b="0" i="1" smtClean="0">
                                      <a:latin typeface="Cambria Math" panose="02040503050406030204" pitchFamily="18" charset="0"/>
                                    </a:rPr>
                                    <m:t>1</m:t>
                                  </m:r>
                                </m:sub>
                              </m:sSub>
                            </m:e>
                          </m:d>
                          <m:r>
                            <a:rPr lang="nl-NL" sz="1600" i="1">
                              <a:latin typeface="Cambria Math" panose="02040503050406030204" pitchFamily="18" charset="0"/>
                            </a:rPr>
                            <m:t>…</m:t>
                          </m:r>
                          <m:r>
                            <a:rPr lang="nl-NL" sz="1600" i="1">
                              <a:latin typeface="Cambria Math" panose="02040503050406030204" pitchFamily="18" charset="0"/>
                            </a:rPr>
                            <m:t>𝑝</m:t>
                          </m:r>
                          <m:r>
                            <a:rPr lang="nl-NL" sz="1600" i="1">
                              <a:latin typeface="Cambria Math" panose="02040503050406030204" pitchFamily="18" charset="0"/>
                            </a:rPr>
                            <m:t>(</m:t>
                          </m:r>
                          <m:sSub>
                            <m:sSubPr>
                              <m:ctrlPr>
                                <a:rPr lang="nl-NL" sz="1600" b="0" i="1" smtClean="0">
                                  <a:latin typeface="Cambria Math" panose="02040503050406030204" pitchFamily="18" charset="0"/>
                                </a:rPr>
                              </m:ctrlPr>
                            </m:sSubPr>
                            <m:e>
                              <m:r>
                                <a:rPr lang="nl-NL" sz="1600" b="0" i="1" smtClean="0">
                                  <a:latin typeface="Cambria Math" panose="02040503050406030204" pitchFamily="18" charset="0"/>
                                </a:rPr>
                                <m:t>𝑆</m:t>
                              </m:r>
                              <m:r>
                                <a:rPr lang="nl-NL" sz="1600" b="0" i="1" smtClean="0">
                                  <a:latin typeface="Cambria Math" panose="02040503050406030204" pitchFamily="18" charset="0"/>
                                </a:rPr>
                                <m:t>|</m:t>
                              </m:r>
                              <m:r>
                                <a:rPr lang="nl-NL" sz="1600" b="0" i="1" smtClean="0">
                                  <a:latin typeface="Cambria Math" panose="02040503050406030204" pitchFamily="18" charset="0"/>
                                </a:rPr>
                                <m:t>𝑤</m:t>
                              </m:r>
                            </m:e>
                            <m:sub>
                              <m:r>
                                <a:rPr lang="nl-NL" sz="1600" b="0" i="1" smtClean="0">
                                  <a:latin typeface="Cambria Math" panose="02040503050406030204" pitchFamily="18" charset="0"/>
                                </a:rPr>
                                <m:t>𝑛</m:t>
                              </m:r>
                            </m:sub>
                          </m:sSub>
                          <m:r>
                            <a:rPr lang="nl-NL" sz="1600" i="1">
                              <a:latin typeface="Cambria Math" panose="02040503050406030204" pitchFamily="18" charset="0"/>
                            </a:rPr>
                            <m:t>)</m:t>
                          </m:r>
                        </m:num>
                        <m:den>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1</m:t>
                                  </m:r>
                                </m:sub>
                              </m:sSub>
                            </m:e>
                          </m:d>
                          <m:r>
                            <a:rPr lang="nl-NL" sz="1600" i="1">
                              <a:latin typeface="Cambria Math" panose="02040503050406030204" pitchFamily="18" charset="0"/>
                            </a:rPr>
                            <m:t>…</m:t>
                          </m:r>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𝑛</m:t>
                                  </m:r>
                                </m:sub>
                              </m:sSub>
                            </m:e>
                          </m:d>
                          <m:r>
                            <a:rPr lang="nl-NL" sz="1600" b="0" i="1" smtClean="0">
                              <a:latin typeface="Cambria Math" panose="02040503050406030204" pitchFamily="18" charset="0"/>
                            </a:rPr>
                            <m:t>+(1−</m:t>
                          </m:r>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1</m:t>
                                  </m:r>
                                </m:sub>
                              </m:sSub>
                            </m:e>
                          </m:d>
                          <m:r>
                            <a:rPr lang="nl-NL" sz="1600" b="0" i="1" smtClean="0">
                              <a:latin typeface="Cambria Math" panose="02040503050406030204" pitchFamily="18" charset="0"/>
                            </a:rPr>
                            <m:t>)</m:t>
                          </m:r>
                          <m:r>
                            <a:rPr lang="nl-NL" sz="1600" i="1">
                              <a:latin typeface="Cambria Math" panose="02040503050406030204" pitchFamily="18" charset="0"/>
                            </a:rPr>
                            <m:t>…</m:t>
                          </m:r>
                          <m:r>
                            <a:rPr lang="nl-NL" sz="1600" b="0" i="1" smtClean="0">
                              <a:latin typeface="Cambria Math" panose="02040503050406030204" pitchFamily="18" charset="0"/>
                            </a:rPr>
                            <m:t>(1−</m:t>
                          </m:r>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𝑛</m:t>
                                  </m:r>
                                </m:sub>
                              </m:sSub>
                            </m:e>
                          </m:d>
                          <m:r>
                            <a:rPr lang="nl-NL" sz="1600" b="0" i="1" smtClean="0">
                              <a:latin typeface="Cambria Math" panose="02040503050406030204" pitchFamily="18" charset="0"/>
                            </a:rPr>
                            <m:t>)</m:t>
                          </m:r>
                        </m:den>
                      </m:f>
                    </m:oMath>
                  </m:oMathPara>
                </a14:m>
                <a:endParaRPr lang="nl-NL" sz="1600" b="0" dirty="0"/>
              </a:p>
            </p:txBody>
          </p:sp>
        </mc:Choice>
        <mc:Fallback xmlns="">
          <p:sp>
            <p:nvSpPr>
              <p:cNvPr id="9" name="Tekstvak 8">
                <a:extLst>
                  <a:ext uri="{FF2B5EF4-FFF2-40B4-BE49-F238E27FC236}">
                    <a16:creationId xmlns:a16="http://schemas.microsoft.com/office/drawing/2014/main" id="{DB550A62-F0E3-BA92-B15A-08C6B4F1CBA6}"/>
                  </a:ext>
                </a:extLst>
              </p:cNvPr>
              <p:cNvSpPr txBox="1">
                <a:spLocks noRot="1" noChangeAspect="1" noMove="1" noResize="1" noEditPoints="1" noAdjustHandles="1" noChangeArrowheads="1" noChangeShapeType="1" noTextEdit="1"/>
              </p:cNvSpPr>
              <p:nvPr/>
            </p:nvSpPr>
            <p:spPr>
              <a:xfrm>
                <a:off x="2311809" y="4830176"/>
                <a:ext cx="10621926" cy="783163"/>
              </a:xfrm>
              <a:prstGeom prst="rect">
                <a:avLst/>
              </a:prstGeom>
              <a:blipFill>
                <a:blip r:embed="rId12"/>
                <a:stretch>
                  <a:fillRect b="-6349"/>
                </a:stretch>
              </a:blipFill>
            </p:spPr>
            <p:txBody>
              <a:bodyPr/>
              <a:lstStyle/>
              <a:p>
                <a:r>
                  <a:rPr lang="en-US">
                    <a:noFill/>
                  </a:rPr>
                  <a:t> </a:t>
                </a:r>
              </a:p>
            </p:txBody>
          </p:sp>
        </mc:Fallback>
      </mc:AlternateContent>
      <p:sp>
        <p:nvSpPr>
          <p:cNvPr id="11" name="Tekstvak 10">
            <a:extLst>
              <a:ext uri="{FF2B5EF4-FFF2-40B4-BE49-F238E27FC236}">
                <a16:creationId xmlns:a16="http://schemas.microsoft.com/office/drawing/2014/main" id="{9FBFC2A7-AB16-01DC-4BDB-FB7CA7CCF496}"/>
              </a:ext>
            </a:extLst>
          </p:cNvPr>
          <p:cNvSpPr txBox="1"/>
          <p:nvPr/>
        </p:nvSpPr>
        <p:spPr>
          <a:xfrm>
            <a:off x="1020726" y="1892595"/>
            <a:ext cx="8431618" cy="369332"/>
          </a:xfrm>
          <a:prstGeom prst="rect">
            <a:avLst/>
          </a:prstGeom>
          <a:noFill/>
        </p:spPr>
        <p:txBody>
          <a:bodyPr wrap="square" rtlCol="0">
            <a:spAutoFit/>
          </a:bodyPr>
          <a:lstStyle/>
          <a:p>
            <a:r>
              <a:rPr lang="en-US" dirty="0"/>
              <a:t>How to classify an email with words “Price” and ”Hello”?</a:t>
            </a:r>
          </a:p>
        </p:txBody>
      </p:sp>
    </p:spTree>
    <p:extLst>
      <p:ext uri="{BB962C8B-B14F-4D97-AF65-F5344CB8AC3E}">
        <p14:creationId xmlns:p14="http://schemas.microsoft.com/office/powerpoint/2010/main" val="460550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0E813-191A-9AC9-1987-F3E9194A2B2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27881E3F-E101-78E8-F8DF-8DAD2F948AF6}"/>
              </a:ext>
            </a:extLst>
          </p:cNvPr>
          <p:cNvSpPr>
            <a:spLocks noGrp="1"/>
          </p:cNvSpPr>
          <p:nvPr>
            <p:ph type="sldNum" sz="quarter" idx="12"/>
          </p:nvPr>
        </p:nvSpPr>
        <p:spPr/>
        <p:txBody>
          <a:bodyPr/>
          <a:lstStyle/>
          <a:p>
            <a:fld id="{FACE7509-F60A-4509-9491-CD4ED7B54EDD}" type="slidenum">
              <a:rPr lang="nl-NL" smtClean="0"/>
              <a:pPr/>
              <a:t>26</a:t>
            </a:fld>
            <a:endParaRPr lang="nl-NL" dirty="0"/>
          </a:p>
        </p:txBody>
      </p:sp>
      <p:sp>
        <p:nvSpPr>
          <p:cNvPr id="4" name="Titel 3">
            <a:extLst>
              <a:ext uri="{FF2B5EF4-FFF2-40B4-BE49-F238E27FC236}">
                <a16:creationId xmlns:a16="http://schemas.microsoft.com/office/drawing/2014/main" id="{3DFC6C85-FFF5-F9DA-3119-D5678932F5EA}"/>
              </a:ext>
            </a:extLst>
          </p:cNvPr>
          <p:cNvSpPr>
            <a:spLocks noGrp="1"/>
          </p:cNvSpPr>
          <p:nvPr>
            <p:ph type="title"/>
          </p:nvPr>
        </p:nvSpPr>
        <p:spPr/>
        <p:txBody>
          <a:bodyPr/>
          <a:lstStyle/>
          <a:p>
            <a:r>
              <a:rPr lang="en-US" dirty="0"/>
              <a:t>5. Naïve Bayesian classifiers</a:t>
            </a:r>
          </a:p>
        </p:txBody>
      </p:sp>
      <p:sp>
        <p:nvSpPr>
          <p:cNvPr id="7" name="Tijdelijke aanduiding voor tekst 1">
            <a:extLst>
              <a:ext uri="{FF2B5EF4-FFF2-40B4-BE49-F238E27FC236}">
                <a16:creationId xmlns:a16="http://schemas.microsoft.com/office/drawing/2014/main" id="{BE406963-60DA-66C8-0AF9-CAF0140B2298}"/>
              </a:ext>
            </a:extLst>
          </p:cNvPr>
          <p:cNvSpPr>
            <a:spLocks noGrp="1"/>
          </p:cNvSpPr>
          <p:nvPr>
            <p:ph type="body" sz="quarter" idx="11"/>
          </p:nvPr>
        </p:nvSpPr>
        <p:spPr>
          <a:xfrm>
            <a:off x="838200" y="1925638"/>
            <a:ext cx="10515600" cy="4248000"/>
          </a:xfrm>
        </p:spPr>
        <p:txBody>
          <a:bodyPr>
            <a:normAutofit/>
          </a:bodyPr>
          <a:lstStyle/>
          <a:p>
            <a:pPr marL="0" indent="0">
              <a:buNone/>
            </a:pPr>
            <a:r>
              <a:rPr lang="en-US" dirty="0"/>
              <a:t>Advantages:</a:t>
            </a:r>
          </a:p>
          <a:p>
            <a:r>
              <a:rPr lang="en-US" dirty="0"/>
              <a:t>Easy to implement</a:t>
            </a:r>
          </a:p>
          <a:p>
            <a:r>
              <a:rPr lang="en-US" dirty="0"/>
              <a:t>Doesn’t require as much training data</a:t>
            </a:r>
          </a:p>
          <a:p>
            <a:r>
              <a:rPr lang="en-US" dirty="0"/>
              <a:t>Handles continuous and discrete data</a:t>
            </a:r>
          </a:p>
          <a:p>
            <a:r>
              <a:rPr lang="en-US" dirty="0"/>
              <a:t>Highly scalable and fast</a:t>
            </a:r>
          </a:p>
          <a:p>
            <a:pPr marL="0" indent="0">
              <a:buNone/>
            </a:pPr>
            <a:endParaRPr lang="en-US" dirty="0"/>
          </a:p>
          <a:p>
            <a:pPr marL="0" indent="0">
              <a:buNone/>
            </a:pPr>
            <a:r>
              <a:rPr lang="en-US" dirty="0"/>
              <a:t>Limitations:</a:t>
            </a:r>
          </a:p>
          <a:p>
            <a:r>
              <a:rPr lang="en-US" dirty="0"/>
              <a:t>Strong (unrealistic) independence assumption</a:t>
            </a:r>
          </a:p>
          <a:p>
            <a:r>
              <a:rPr lang="en-US" dirty="0"/>
              <a:t>Assigns zero probability to unseen cases</a:t>
            </a:r>
          </a:p>
          <a:p>
            <a:r>
              <a:rPr lang="en-US" dirty="0"/>
              <a:t>Sensitive to overfitting</a:t>
            </a:r>
          </a:p>
          <a:p>
            <a:endParaRPr lang="en-US" dirty="0"/>
          </a:p>
        </p:txBody>
      </p:sp>
    </p:spTree>
    <p:extLst>
      <p:ext uri="{BB962C8B-B14F-4D97-AF65-F5344CB8AC3E}">
        <p14:creationId xmlns:p14="http://schemas.microsoft.com/office/powerpoint/2010/main" val="3111683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1DBC-0F05-6946-21CA-BE98382046B7}"/>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C528AB6-A756-85E7-5FD6-2B68D605D62C}"/>
              </a:ext>
            </a:extLst>
          </p:cNvPr>
          <p:cNvSpPr>
            <a:spLocks noGrp="1"/>
          </p:cNvSpPr>
          <p:nvPr>
            <p:ph type="sldNum" sz="quarter" idx="12"/>
          </p:nvPr>
        </p:nvSpPr>
        <p:spPr/>
        <p:txBody>
          <a:bodyPr/>
          <a:lstStyle/>
          <a:p>
            <a:fld id="{FACE7509-F60A-4509-9491-CD4ED7B54EDD}" type="slidenum">
              <a:rPr lang="nl-NL" smtClean="0"/>
              <a:pPr/>
              <a:t>27</a:t>
            </a:fld>
            <a:endParaRPr lang="nl-NL" dirty="0"/>
          </a:p>
        </p:txBody>
      </p:sp>
      <p:sp>
        <p:nvSpPr>
          <p:cNvPr id="4" name="Titel 3">
            <a:extLst>
              <a:ext uri="{FF2B5EF4-FFF2-40B4-BE49-F238E27FC236}">
                <a16:creationId xmlns:a16="http://schemas.microsoft.com/office/drawing/2014/main" id="{F9A097CA-4D04-6B07-A0E6-A22361BD2BB9}"/>
              </a:ext>
            </a:extLst>
          </p:cNvPr>
          <p:cNvSpPr>
            <a:spLocks noGrp="1"/>
          </p:cNvSpPr>
          <p:nvPr>
            <p:ph type="title"/>
          </p:nvPr>
        </p:nvSpPr>
        <p:spPr/>
        <p:txBody>
          <a:bodyPr/>
          <a:lstStyle/>
          <a:p>
            <a:r>
              <a:rPr lang="en-US" dirty="0"/>
              <a:t>Assignment</a:t>
            </a:r>
          </a:p>
        </p:txBody>
      </p:sp>
      <p:sp>
        <p:nvSpPr>
          <p:cNvPr id="7" name="Tijdelijke aanduiding voor tekst 1">
            <a:extLst>
              <a:ext uri="{FF2B5EF4-FFF2-40B4-BE49-F238E27FC236}">
                <a16:creationId xmlns:a16="http://schemas.microsoft.com/office/drawing/2014/main" id="{3483FA2F-0406-455B-1CF3-DDFBC9F60598}"/>
              </a:ext>
            </a:extLst>
          </p:cNvPr>
          <p:cNvSpPr>
            <a:spLocks noGrp="1"/>
          </p:cNvSpPr>
          <p:nvPr>
            <p:ph type="body" sz="quarter" idx="11"/>
          </p:nvPr>
        </p:nvSpPr>
        <p:spPr>
          <a:xfrm>
            <a:off x="838200" y="1925638"/>
            <a:ext cx="10515600" cy="4248000"/>
          </a:xfrm>
        </p:spPr>
        <p:txBody>
          <a:bodyPr>
            <a:normAutofit/>
          </a:bodyPr>
          <a:lstStyle/>
          <a:p>
            <a:pPr marL="0" indent="0">
              <a:buNone/>
            </a:pPr>
            <a:r>
              <a:rPr lang="en-US" dirty="0"/>
              <a:t>Implement the naïve Bayesian Classifier example for spam classification on Brightspace with sci-kit learn.</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416971609"/>
      </p:ext>
    </p:extLst>
  </p:cSld>
  <p:clrMapOvr>
    <a:masterClrMapping/>
  </p:clrMapOvr>
</p:sld>
</file>

<file path=ppt/theme/theme1.xml><?xml version="1.0" encoding="utf-8"?>
<a:theme xmlns:a="http://schemas.openxmlformats.org/drawingml/2006/main" name="Presentatie_Smal">
  <a:themeElements>
    <a:clrScheme name="HAN">
      <a:dk1>
        <a:sysClr val="windowText" lastClr="000000"/>
      </a:dk1>
      <a:lt1>
        <a:sysClr val="window" lastClr="FFFFFF"/>
      </a:lt1>
      <a:dk2>
        <a:srgbClr val="E50056"/>
      </a:dk2>
      <a:lt2>
        <a:srgbClr val="F8F8F8"/>
      </a:lt2>
      <a:accent1>
        <a:srgbClr val="000000"/>
      </a:accent1>
      <a:accent2>
        <a:srgbClr val="454545"/>
      </a:accent2>
      <a:accent3>
        <a:srgbClr val="757575"/>
      </a:accent3>
      <a:accent4>
        <a:srgbClr val="919191"/>
      </a:accent4>
      <a:accent5>
        <a:srgbClr val="E3E3E3"/>
      </a:accent5>
      <a:accent6>
        <a:srgbClr val="F8F8F8"/>
      </a:accent6>
      <a:hlink>
        <a:srgbClr val="000000"/>
      </a:hlink>
      <a:folHlink>
        <a:srgbClr val="000000"/>
      </a:folHlink>
    </a:clrScheme>
    <a:fontScheme name="HAN!">
      <a:majorFont>
        <a:latin typeface="Roboto Condensed SemiBold"/>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N_PowerPoint_breed_wit_v2.1" id="{92CBC7AB-8886-3343-9313-0014277669FC}" vid="{B1563569-891F-4F48-AD92-8F3B6ACDC690}"/>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457A4D2E51B14F88D470F52782FA7D" ma:contentTypeVersion="4" ma:contentTypeDescription="Create a new document." ma:contentTypeScope="" ma:versionID="ce885d763a3f7853ef49b3b9ea0f293f">
  <xsd:schema xmlns:xsd="http://www.w3.org/2001/XMLSchema" xmlns:xs="http://www.w3.org/2001/XMLSchema" xmlns:p="http://schemas.microsoft.com/office/2006/metadata/properties" xmlns:ns2="ee6fde1a-ebe4-44e6-8d92-34070855aeaf" targetNamespace="http://schemas.microsoft.com/office/2006/metadata/properties" ma:root="true" ma:fieldsID="c4b62f03d1641294a13c71ea34b76386" ns2:_="">
    <xsd:import namespace="ee6fde1a-ebe4-44e6-8d92-34070855ae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6fde1a-ebe4-44e6-8d92-34070855ae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3FAB99-B7CD-40C9-92E7-B78F7B5FC6C4}">
  <ds:schemaRefs>
    <ds:schemaRef ds:uri="http://purl.org/dc/terms/"/>
    <ds:schemaRef ds:uri="http://schemas.microsoft.com/office/2006/documentManagement/types"/>
    <ds:schemaRef ds:uri="http://purl.org/dc/dcmitype/"/>
    <ds:schemaRef ds:uri="http://schemas.microsoft.com/office/2006/metadata/properties"/>
    <ds:schemaRef ds:uri="http://purl.org/dc/elements/1.1/"/>
    <ds:schemaRef ds:uri="http://www.w3.org/XML/1998/namespace"/>
    <ds:schemaRef ds:uri="http://schemas.microsoft.com/office/infopath/2007/PartnerControls"/>
    <ds:schemaRef ds:uri="http://schemas.openxmlformats.org/package/2006/metadata/core-properties"/>
    <ds:schemaRef ds:uri="ee6fde1a-ebe4-44e6-8d92-34070855aeaf"/>
  </ds:schemaRefs>
</ds:datastoreItem>
</file>

<file path=customXml/itemProps2.xml><?xml version="1.0" encoding="utf-8"?>
<ds:datastoreItem xmlns:ds="http://schemas.openxmlformats.org/officeDocument/2006/customXml" ds:itemID="{E871D5FA-9632-4EA8-A2CC-02B86B29C0C1}">
  <ds:schemaRefs>
    <ds:schemaRef ds:uri="http://schemas.microsoft.com/sharepoint/v3/contenttype/forms"/>
  </ds:schemaRefs>
</ds:datastoreItem>
</file>

<file path=customXml/itemProps3.xml><?xml version="1.0" encoding="utf-8"?>
<ds:datastoreItem xmlns:ds="http://schemas.openxmlformats.org/officeDocument/2006/customXml" ds:itemID="{31A66CAF-27E5-4E71-A9FF-55375C38E6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6fde1a-ebe4-44e6-8d92-34070855ae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Presentatie_Smal</Template>
  <TotalTime>1374</TotalTime>
  <Words>1574</Words>
  <Application>Microsoft Macintosh PowerPoint</Application>
  <PresentationFormat>Breedbeeld</PresentationFormat>
  <Paragraphs>400</Paragraphs>
  <Slides>27</Slides>
  <Notes>25</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27</vt:i4>
      </vt:variant>
    </vt:vector>
  </HeadingPairs>
  <TitlesOfParts>
    <vt:vector size="32" baseType="lpstr">
      <vt:lpstr>Arial</vt:lpstr>
      <vt:lpstr>Cambria Math</vt:lpstr>
      <vt:lpstr>Roboto</vt:lpstr>
      <vt:lpstr>Roboto Condensed SemiBold</vt:lpstr>
      <vt:lpstr>Presentatie_Smal</vt:lpstr>
      <vt:lpstr>Bayes inference</vt:lpstr>
      <vt:lpstr>Learning goals</vt:lpstr>
      <vt:lpstr>Content</vt:lpstr>
      <vt:lpstr>PowerPoint-presentatie</vt:lpstr>
      <vt:lpstr>1. The Bayesian approach to statistics </vt:lpstr>
      <vt:lpstr>1. The Bayesian approach to statistics </vt:lpstr>
      <vt:lpstr>1. The Bayesian approach to statistics </vt:lpstr>
      <vt:lpstr>1. The Bayesian approach to statistics </vt:lpstr>
      <vt:lpstr>2. Bayes Theorem</vt:lpstr>
      <vt:lpstr>2. Bayes Theorem</vt:lpstr>
      <vt:lpstr>2. Bayes theorem</vt:lpstr>
      <vt:lpstr>2. Bayesian Theorem</vt:lpstr>
      <vt:lpstr>2. Bayes Theorem</vt:lpstr>
      <vt:lpstr>3. Choosing a prior</vt:lpstr>
      <vt:lpstr>3. Choosing a prior</vt:lpstr>
      <vt:lpstr>3. Choosing a prior</vt:lpstr>
      <vt:lpstr>3. Choosing a prior</vt:lpstr>
      <vt:lpstr>4. Frequentist vs. Bayesian approach </vt:lpstr>
      <vt:lpstr>4. Frequentist vs. Bayesian approach</vt:lpstr>
      <vt:lpstr>5. Naïve Bayesian classifiers</vt:lpstr>
      <vt:lpstr>5. Naïve Bayesian classifiers</vt:lpstr>
      <vt:lpstr>5. Naïve Bayesian classifiers</vt:lpstr>
      <vt:lpstr>5. Naïve Bayesian classifiers</vt:lpstr>
      <vt:lpstr>5. Naïve Bayesian classifiers</vt:lpstr>
      <vt:lpstr>5. Naïve Bayesian classifiers</vt:lpstr>
      <vt:lpstr>5. Naïve Bayesian classifiers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 Koenders</dc:creator>
  <cp:lastModifiedBy>Eva Koenders</cp:lastModifiedBy>
  <cp:revision>2</cp:revision>
  <dcterms:created xsi:type="dcterms:W3CDTF">2025-10-13T11:44:26Z</dcterms:created>
  <dcterms:modified xsi:type="dcterms:W3CDTF">2025-10-27T09:31:01Z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0x0101001A457A4D2E51B14F88D470F52782FA7D</vt:lpwstr>
  </property>
</Properties>
</file>